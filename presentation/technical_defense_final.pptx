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notesMaster" Target="notesMasters/notesMaster1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LOGICAL view: responsibilities and dependencies only. No hosts, ports or containers here (that is the physical view). The browser runs a React SPA. All traffic goes to the FastAPI backend, which holds the business logic (auth/RBAC, machines, orders, planning, inventory, alerts, ML gateway, AI chat orchestrator). The backend is the only caller of the two specialist services: the ML microservice (FastAPI, seven models + Wave 2 signals + Dempster-Shafer fusion, reading model files) and the RAG service (FastAPI, hybrid retrieval, reranker, bge-m3 embeddings, reading PostgreSQL/pgvector only). Celery workers consume tasks from RabbitMQ for e-mails and scheduled jobs. Data: PostgreSQL+pgvector, MinIO/S3 for attachments and RAG documents. External: Groq LLM (called by the backend chat) and SMTP (called by Celery).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view 1/2: one Docker host running docker compose, either a developer workstation or the Azure demo VM. Application containers share asset_management_network and reach each other by service name (backend calls ml-service:8000 and rag-service:8003). Host ports in dev: frontend 3000, backend 8000, ml-service 8001 (container port 8000), rag 8003, postgres 5432, rabbitmq 5672/16200, minio 9000/9001, pgadmin 5050. In the demo VM the prod overlay publishes nothing except Caddy on 80/443, which routes / to the frontend, /api to the backend and /grafana to Grafana. Monitoring (Prometheus, Pushgateway, Grafana, Trivy) sits on its own network; SonarQube and Jupyter are separate on-demand stacks. The frontend is a static React/Vite build served by nginx, which also proxies /api to the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PHYSICAL view 2/2: production target on Azure, provisioned with Terraform. Public users reach the app through an ngrok tunnel because the Azure inbound Load Balancer is blocked at subscription level; the ngrok pod dials out and relays to the frontend (nginx), which proxies /api to the backend. AKS (Poland Central, Azure CNI, network policy, workload identity) hosts the eam-staging and eam-prod namespaces: frontend, backend, ml-service, rag-service, celery worker/beat, plus in-cluster RabbitMQ and MinIO. PostgreSQL is a managed Azure Flexible Server with pgvector; secrets come from Key Vault through the Secrets Store CSI driver; images come from ACR. Delivery: GitLab CI gates the code, deploy-aks builds and pushes images then restarts deployments, Terraform and Helm define the infrastructure and the chart.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pr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377440" cy="879815"/>
          </a:xfrm>
          <a:prstGeom prst="rect">
            <a:avLst/>
          </a:prstGeom>
        </p:spPr>
      </p:pic>
      <p:pic>
        <p:nvPicPr>
          <p:cNvPr id="3" name="Picture 2" descr="sagem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37160"/>
            <a:ext cx="1554480" cy="1554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099048" y="0"/>
            <a:ext cx="0" cy="109728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9048" y="6035040"/>
            <a:ext cx="0" cy="82296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657600" y="1325880"/>
            <a:ext cx="4873752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 spc="300">
                <a:solidFill>
                  <a:srgbClr val="000000"/>
                </a:solidFill>
                <a:latin typeface="Arial"/>
              </a:rPr>
              <a:t>2025 - 2026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9966960" cy="2011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1" i="1">
                <a:solidFill>
                  <a:srgbClr val="0A1045"/>
                </a:solidFill>
                <a:latin typeface="Georgia"/>
              </a:rPr>
              <a:t>EAM Platform for Intelligent</a:t>
            </a:r>
          </a:p>
          <a:p>
            <a:pPr algn="ctr"/>
            <a:r>
              <a:rPr sz="4000" b="1" i="1">
                <a:solidFill>
                  <a:srgbClr val="0A1045"/>
                </a:solidFill>
                <a:latin typeface="Georgia"/>
              </a:rPr>
              <a:t>Predictive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9669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D0101A"/>
                </a:solidFill>
                <a:latin typeface="Arial Black"/>
              </a:rPr>
              <a:t>Operational management, seven ML models and a RAG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846320"/>
            <a:ext cx="996696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rial"/>
              </a:rPr>
              <a:t>Host company: </a:t>
            </a:r>
            <a:r>
              <a:rPr sz="1600" b="1" i="0">
                <a:solidFill>
                  <a:srgbClr val="000000"/>
                </a:solidFill>
                <a:latin typeface="Arial"/>
              </a:rPr>
              <a:t>SagemCom Ezzahra</a:t>
            </a:r>
          </a:p>
          <a:p>
            <a:pPr algn="ctr"/>
            <a:r>
              <a:rPr sz="1600" b="0" i="0">
                <a:solidFill>
                  <a:srgbClr val="000000"/>
                </a:solidFill>
                <a:latin typeface="Arial"/>
              </a:rPr>
              <a:t>Realised by: </a:t>
            </a:r>
            <a:r>
              <a:rPr sz="1600" b="1" i="0">
                <a:solidFill>
                  <a:srgbClr val="000000"/>
                </a:solidFill>
                <a:latin typeface="Arial"/>
              </a:rPr>
              <a:t>Hamza Mbarki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188720" y="0"/>
            <a:ext cx="0" cy="68580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377440" y="822960"/>
            <a:ext cx="731520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5400" b="0" i="0">
                <a:solidFill>
                  <a:srgbClr val="000000"/>
                </a:solidFill>
                <a:latin typeface="Arial Black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2468880"/>
            <a:ext cx="914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400" b="0" i="0">
                <a:solidFill>
                  <a:srgbClr val="000000"/>
                </a:solidFill>
                <a:latin typeface="Georgia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2468880"/>
            <a:ext cx="3840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Arial"/>
              </a:rPr>
              <a:t>General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3703320"/>
            <a:ext cx="914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400" b="0" i="0">
                <a:solidFill>
                  <a:srgbClr val="000000"/>
                </a:solidFill>
                <a:latin typeface="Georgia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3703320"/>
            <a:ext cx="3840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Arial"/>
              </a:rPr>
              <a:t>Project Study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4937760"/>
            <a:ext cx="914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400" b="0" i="0">
                <a:solidFill>
                  <a:srgbClr val="000000"/>
                </a:solidFill>
                <a:latin typeface="Georgia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4937760"/>
            <a:ext cx="3840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Arial"/>
              </a:rPr>
              <a:t>Requirements &amp;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468880"/>
            <a:ext cx="914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400" b="0" i="0">
                <a:solidFill>
                  <a:srgbClr val="000000"/>
                </a:solidFill>
                <a:latin typeface="Georgia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468880"/>
            <a:ext cx="3840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Arial"/>
              </a:rPr>
              <a:t>Design &amp;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703320"/>
            <a:ext cx="914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400" b="0" i="0">
                <a:solidFill>
                  <a:srgbClr val="000000"/>
                </a:solidFill>
                <a:latin typeface="Georgia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3703320"/>
            <a:ext cx="3840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Arial"/>
              </a:rPr>
              <a:t>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4937760"/>
            <a:ext cx="91440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400" b="0" i="0">
                <a:solidFill>
                  <a:srgbClr val="000000"/>
                </a:solidFill>
                <a:latin typeface="Georgia"/>
              </a:rP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80" y="4937760"/>
            <a:ext cx="38404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Arial"/>
              </a:rPr>
              <a:t>Conclusion &amp; Perspectives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69080" y="1463040"/>
            <a:ext cx="7680960" cy="402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01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General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01. General Context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Host Company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pic>
        <p:nvPicPr>
          <p:cNvPr id="6" name="Picture 5" descr="sagemc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2194560" cy="2194560"/>
          </a:xfrm>
          <a:prstGeom prst="rect">
            <a:avLst/>
          </a:prstGeom>
        </p:spPr>
      </p:pic>
      <p:sp>
        <p:nvSpPr>
          <p:cNvPr id="7" name="Hexagon 6"/>
          <p:cNvSpPr/>
          <p:nvPr/>
        </p:nvSpPr>
        <p:spPr>
          <a:xfrm>
            <a:off x="3657600" y="1600200"/>
            <a:ext cx="7863840" cy="777240"/>
          </a:xfrm>
          <a:prstGeom prst="hexagon">
            <a:avLst/>
          </a:prstGeom>
          <a:noFill/>
          <a:ln w="2540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600200"/>
            <a:ext cx="67665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Industrial group</a:t>
            </a:r>
            <a:r>
              <a:rPr sz="1500" b="0" i="0">
                <a:solidFill>
                  <a:srgbClr val="000000"/>
                </a:solidFill>
                <a:latin typeface="Arial"/>
              </a:rPr>
              <a:t> designing and manufacturing high-value communication equipment</a:t>
            </a:r>
          </a:p>
        </p:txBody>
      </p:sp>
      <p:sp>
        <p:nvSpPr>
          <p:cNvPr id="9" name="Hexagon 8"/>
          <p:cNvSpPr/>
          <p:nvPr/>
        </p:nvSpPr>
        <p:spPr>
          <a:xfrm>
            <a:off x="3657600" y="2560320"/>
            <a:ext cx="7863840" cy="777240"/>
          </a:xfrm>
          <a:prstGeom prst="hexagon">
            <a:avLst/>
          </a:prstGeom>
          <a:noFill/>
          <a:ln w="2540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2560320"/>
            <a:ext cx="67665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Products: </a:t>
            </a:r>
            <a:r>
              <a:rPr sz="1500" b="0" i="0">
                <a:solidFill>
                  <a:srgbClr val="000000"/>
                </a:solidFill>
                <a:latin typeface="Arial"/>
              </a:rPr>
              <a:t>set-top boxes, internet boxes, smart meters</a:t>
            </a:r>
          </a:p>
        </p:txBody>
      </p:sp>
      <p:sp>
        <p:nvSpPr>
          <p:cNvPr id="11" name="Hexagon 10"/>
          <p:cNvSpPr/>
          <p:nvPr/>
        </p:nvSpPr>
        <p:spPr>
          <a:xfrm>
            <a:off x="3657600" y="3520440"/>
            <a:ext cx="7863840" cy="777240"/>
          </a:xfrm>
          <a:prstGeom prst="hexagon">
            <a:avLst/>
          </a:prstGeom>
          <a:noFill/>
          <a:ln w="2540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520440"/>
            <a:ext cx="676656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Arial"/>
              </a:rPr>
              <a:t>Host department: </a:t>
            </a:r>
            <a:r>
              <a:rPr sz="1500" b="0" i="0">
                <a:solidFill>
                  <a:srgbClr val="000000"/>
                </a:solidFill>
                <a:latin typeface="Arial"/>
              </a:rPr>
              <a:t>Software Engineering &amp; Innovation, in-house digital tools for equipment 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D0101A"/>
                </a:solidFill>
                <a:latin typeface="Arial"/>
              </a:rPr>
              <a:t>Production lines served by the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9834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D0101A"/>
          </a:solidFill>
          <a:ln w="22225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5001768"/>
            <a:ext cx="2761488" cy="8778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SMT assembly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surface-mount lines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703320" y="5440680"/>
            <a:ext cx="640080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389120" y="49834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D0101A"/>
          </a:solidFill>
          <a:ln w="22225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25696" y="5001768"/>
            <a:ext cx="2761488" cy="8778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Functional testing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board &amp; unit tests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69479" y="5440680"/>
            <a:ext cx="640081" cy="0"/>
          </a:xfrm>
          <a:prstGeom prst="line">
            <a:avLst/>
          </a:prstGeom>
          <a:ln w="19050">
            <a:solidFill>
              <a:srgbClr val="00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955279" y="4983480"/>
            <a:ext cx="2834640" cy="914400"/>
          </a:xfrm>
          <a:prstGeom prst="roundRect">
            <a:avLst>
              <a:gd name="adj" fmla="val 12000"/>
            </a:avLst>
          </a:prstGeom>
          <a:solidFill>
            <a:srgbClr val="D0101A"/>
          </a:solidFill>
          <a:ln w="22225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91855" y="5001768"/>
            <a:ext cx="2761488" cy="8778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Automated quality control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inspection stations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98932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989320"/>
            <a:ext cx="25603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Arial"/>
              </a:rPr>
              <a:t>7 months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598932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32120" y="5989320"/>
            <a:ext cx="25603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Arial"/>
              </a:rPr>
              <a:t>7 ML models (P1-P7)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98932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5989320"/>
            <a:ext cx="256032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1">
                <a:solidFill>
                  <a:srgbClr val="000000"/>
                </a:solidFill>
                <a:latin typeface="Arial"/>
              </a:rPr>
              <a:t>4 user roles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01. General Context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Background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 i="0">
                <a:solidFill>
                  <a:srgbClr val="D0101A"/>
                </a:solidFill>
                <a:latin typeface="Arial Black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514600"/>
            <a:ext cx="457200" cy="0"/>
          </a:xfrm>
          <a:prstGeom prst="line">
            <a:avLst/>
          </a:prstGeom>
          <a:ln w="38100">
            <a:solidFill>
              <a:srgbClr val="D01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88720" y="23317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Arial"/>
              </a:rPr>
              <a:t>Reactive: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514600"/>
            <a:ext cx="502920" cy="0"/>
          </a:xfrm>
          <a:prstGeom prst="line">
            <a:avLst/>
          </a:prstGeom>
          <a:ln w="38100">
            <a:solidFill>
              <a:srgbClr val="D01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8346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1">
                <a:solidFill>
                  <a:srgbClr val="1A1A9C"/>
                </a:solidFill>
                <a:latin typeface="Arial"/>
              </a:rPr>
              <a:t>Repair after the failure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3200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Line stoppage, emergency parts ordering, maximum total cost.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4709160"/>
            <a:ext cx="2834640" cy="109728"/>
          </a:xfrm>
          <a:prstGeom prst="roundRect">
            <a:avLst>
              <a:gd name="adj" fmla="val 50000"/>
            </a:avLst>
          </a:prstGeom>
          <a:solidFill>
            <a:srgbClr val="C8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600200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 i="0">
                <a:solidFill>
                  <a:srgbClr val="D0101A"/>
                </a:solidFill>
                <a:latin typeface="Arial Black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2514600"/>
            <a:ext cx="457200" cy="0"/>
          </a:xfrm>
          <a:prstGeom prst="line">
            <a:avLst/>
          </a:prstGeom>
          <a:ln w="38100">
            <a:solidFill>
              <a:srgbClr val="D01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983480" y="23317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Arial"/>
              </a:rPr>
              <a:t>Preventive: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60920" y="2514600"/>
            <a:ext cx="502920" cy="0"/>
          </a:xfrm>
          <a:prstGeom prst="line">
            <a:avLst/>
          </a:prstGeom>
          <a:ln w="38100">
            <a:solidFill>
              <a:srgbClr val="D01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480560" y="28346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1">
                <a:solidFill>
                  <a:srgbClr val="1A1A9C"/>
                </a:solidFill>
                <a:latin typeface="Arial"/>
              </a:rPr>
              <a:t>Repair on a calendar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383280"/>
            <a:ext cx="3200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Fixed intervals regardless of real condition: parts replaced too early, or failures between two visits.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4709160"/>
            <a:ext cx="2834640" cy="109728"/>
          </a:xfrm>
          <a:prstGeom prst="roundRect">
            <a:avLst>
              <a:gd name="adj" fmla="val 50000"/>
            </a:avLst>
          </a:prstGeom>
          <a:solidFill>
            <a:srgbClr val="F39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1600200"/>
            <a:ext cx="338328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000" b="0" i="0">
                <a:solidFill>
                  <a:srgbClr val="D0101A"/>
                </a:solidFill>
                <a:latin typeface="Arial Black"/>
              </a:rPr>
              <a:t>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75320" y="2514600"/>
            <a:ext cx="457200" cy="0"/>
          </a:xfrm>
          <a:prstGeom prst="line">
            <a:avLst/>
          </a:prstGeom>
          <a:ln w="38100">
            <a:solidFill>
              <a:srgbClr val="D01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778240" y="233172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800" b="1" i="0">
                <a:solidFill>
                  <a:srgbClr val="000000"/>
                </a:solidFill>
                <a:latin typeface="Arial"/>
              </a:rPr>
              <a:t>Predictive: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155680" y="2514600"/>
            <a:ext cx="502920" cy="0"/>
          </a:xfrm>
          <a:prstGeom prst="line">
            <a:avLst/>
          </a:prstGeom>
          <a:ln w="38100">
            <a:solidFill>
              <a:srgbClr val="D0101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75320" y="283464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1" i="1">
                <a:solidFill>
                  <a:srgbClr val="1A1A9C"/>
                </a:solidFill>
                <a:latin typeface="Arial"/>
              </a:rPr>
              <a:t>Repair before the failure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383280"/>
            <a:ext cx="320040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Continuous reading of the machine's own signals (temperature, torque, wear) to anticipate 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49640" y="4709160"/>
            <a:ext cx="2834640" cy="109728"/>
          </a:xfrm>
          <a:prstGeom prst="roundRect">
            <a:avLst>
              <a:gd name="adj" fmla="val 50000"/>
            </a:avLst>
          </a:prstGeom>
          <a:solidFill>
            <a:srgbClr val="8CC6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88720" y="5212080"/>
            <a:ext cx="9784080" cy="9601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80160" y="5212080"/>
            <a:ext cx="960120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700" b="0" i="0">
                <a:solidFill>
                  <a:srgbClr val="000000"/>
                </a:solidFill>
                <a:latin typeface="Arial"/>
              </a:rPr>
              <a:t>In most cases a machine's degradation is visible in its sensor data well before the stoppage. </a:t>
            </a:r>
            <a:r>
              <a:rPr sz="1700" b="1" i="0">
                <a:solidFill>
                  <a:srgbClr val="D0101A"/>
                </a:solidFill>
                <a:latin typeface="Arial"/>
              </a:rPr>
              <a:t>That is the premise the whole ML pipeline is built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69080" y="1463040"/>
            <a:ext cx="7680960" cy="402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02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Project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02. Project Study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 i="0">
                <a:solidFill>
                  <a:srgbClr val="C8203A"/>
                </a:solidFill>
                <a:latin typeface="Arial Black"/>
              </a:rPr>
              <a:t>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828800"/>
            <a:ext cx="42062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Arial"/>
              </a:rPr>
              <a:t>Operations and prediction live in separate tools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 i="0">
                <a:solidFill>
                  <a:srgbClr val="C8203A"/>
                </a:solidFill>
                <a:latin typeface="Arial Black"/>
              </a:rPr>
              <a:t>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3200400"/>
            <a:ext cx="42062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Arial"/>
              </a:rPr>
              <a:t>Failures are found after the stoppage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 i="0">
                <a:solidFill>
                  <a:srgbClr val="C8203A"/>
                </a:solidFill>
                <a:latin typeface="Arial Black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1828800"/>
            <a:ext cx="42062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Arial"/>
              </a:rPr>
              <a:t>Predictions technicians cannot 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200400"/>
            <a:ext cx="82296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 i="0">
                <a:solidFill>
                  <a:srgbClr val="C8203A"/>
                </a:solidFill>
                <a:latin typeface="Arial Black"/>
              </a:rPr>
              <a:t>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200400"/>
            <a:ext cx="420624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0" i="0">
                <a:solidFill>
                  <a:srgbClr val="000000"/>
                </a:solidFill>
                <a:latin typeface="Arial"/>
              </a:rPr>
              <a:t>Documentation is disconnected from live machine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332720" cy="1463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0A1045"/>
                </a:solidFill>
                <a:latin typeface="Arial Black"/>
              </a:rPr>
              <a:t>How can one platform cover classic operational management </a:t>
            </a:r>
            <a:r>
              <a:rPr sz="2600" b="0" i="0">
                <a:solidFill>
                  <a:srgbClr val="D0101A"/>
                </a:solidFill>
                <a:latin typeface="Arial Black"/>
              </a:rPr>
              <a:t>and</a:t>
            </a:r>
            <a:r>
              <a:rPr sz="2600" b="0" i="0">
                <a:solidFill>
                  <a:srgbClr val="0A1045"/>
                </a:solidFill>
                <a:latin typeface="Arial Black"/>
              </a:rPr>
              <a:t> predictive maintenance, with predictions </a:t>
            </a:r>
            <a:r>
              <a:rPr sz="2600" b="0" i="0">
                <a:solidFill>
                  <a:srgbClr val="D0101A"/>
                </a:solidFill>
                <a:latin typeface="Arial Black"/>
              </a:rPr>
              <a:t>people trust</a:t>
            </a:r>
            <a:r>
              <a:rPr sz="2600" b="0" i="0">
                <a:solidFill>
                  <a:srgbClr val="0A1045"/>
                </a:solidFill>
                <a:latin typeface="Arial Black"/>
              </a:rPr>
              <a:t> and </a:t>
            </a:r>
            <a:r>
              <a:rPr sz="2600" b="0" i="0">
                <a:solidFill>
                  <a:srgbClr val="D0101A"/>
                </a:solidFill>
                <a:latin typeface="Arial Black"/>
              </a:rPr>
              <a:t>automation they control</a:t>
            </a:r>
            <a:r>
              <a:rPr sz="2600" b="0" i="0">
                <a:solidFill>
                  <a:srgbClr val="0A1045"/>
                </a:solidFill>
                <a:latin typeface="Arial Black"/>
              </a:rPr>
              <a:t>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02. Project Study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Study of the Existant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3566160" cy="4069080"/>
          </a:xfrm>
          <a:prstGeom prst="roundRect">
            <a:avLst>
              <a:gd name="adj" fmla="val 10000"/>
            </a:avLst>
          </a:prstGeom>
          <a:noFill/>
          <a:ln w="3175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2926080" cy="731520"/>
          </a:xfrm>
          <a:prstGeom prst="roundRect">
            <a:avLst>
              <a:gd name="adj" fmla="val 20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ERP / EAM suites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78892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Proven EAM coverage of assets and work orders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84048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C8203A"/>
                </a:solidFill>
                <a:latin typeface="DejaVu Sans"/>
              </a:rPr>
              <a:t>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749039"/>
            <a:ext cx="26974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Predictive ML is a costly add-on, heavy licensing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120640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1">
                <a:solidFill>
                  <a:srgbClr val="0A1045"/>
                </a:solidFill>
                <a:latin typeface="Arial"/>
              </a:rPr>
              <a:t>SAP PM · IBM Maximo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148840"/>
            <a:ext cx="3566160" cy="4069080"/>
          </a:xfrm>
          <a:prstGeom prst="roundRect">
            <a:avLst>
              <a:gd name="adj" fmla="val 10000"/>
            </a:avLst>
          </a:prstGeom>
          <a:noFill/>
          <a:ln w="3175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1783080"/>
            <a:ext cx="2926080" cy="731520"/>
          </a:xfrm>
          <a:prstGeom prst="roundRect">
            <a:avLst>
              <a:gd name="adj" fmla="val 20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8308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Industrial IoT / APM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78892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269748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Sensor analytics and reliability at 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84048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C8203A"/>
                </a:solidFill>
                <a:latin typeface="DejaVu Sans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3749039"/>
            <a:ext cx="26974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No assistant tied to live machine status, integration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5120640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1">
                <a:solidFill>
                  <a:srgbClr val="0A1045"/>
                </a:solidFill>
                <a:latin typeface="Arial"/>
              </a:rPr>
              <a:t>GE Digital Predix · Maximo APM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148840"/>
            <a:ext cx="3566160" cy="4069080"/>
          </a:xfrm>
          <a:prstGeom prst="roundRect">
            <a:avLst>
              <a:gd name="adj" fmla="val 10000"/>
            </a:avLst>
          </a:prstGeom>
          <a:noFill/>
          <a:ln w="3175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0" y="1783080"/>
            <a:ext cx="2926080" cy="731520"/>
          </a:xfrm>
          <a:prstGeom prst="roundRect">
            <a:avLst>
              <a:gd name="adj" fmla="val 20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783080"/>
            <a:ext cx="292608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CMMS &amp; spreadsheets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278892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269748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Cheap and lightweight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19" y="384048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1" i="0">
                <a:solidFill>
                  <a:srgbClr val="C8203A"/>
                </a:solidFill>
                <a:latin typeface="DejaVu Sans"/>
              </a:rPr>
              <a:t>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3749039"/>
            <a:ext cx="269748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No prediction, no explanation, no traceability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19" y="5120640"/>
            <a:ext cx="32004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1">
                <a:solidFill>
                  <a:srgbClr val="0A1045"/>
                </a:solidFill>
                <a:latin typeface="Arial"/>
              </a:rPr>
              <a:t>Generic CMMS · Excel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02. Project Study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Study of the Existant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39684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97680"/>
                <a:gridCol w="1554480"/>
                <a:gridCol w="1554480"/>
                <a:gridCol w="1554480"/>
                <a:gridCol w="1554480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Criteria</a:t>
                      </a:r>
                    </a:p>
                  </a:txBody>
                  <a:tcPr marL="54864" marR="54864" marT="18288" marB="18288" anchor="ctr">
                    <a:solidFill>
                      <a:srgbClr val="0A1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EAM suites</a:t>
                      </a:r>
                    </a:p>
                  </a:txBody>
                  <a:tcPr marL="54864" marR="54864" marT="18288" marB="18288" anchor="ctr">
                    <a:solidFill>
                      <a:srgbClr val="0A1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IoT / APM</a:t>
                      </a:r>
                    </a:p>
                  </a:txBody>
                  <a:tcPr marL="54864" marR="54864" marT="18288" marB="18288" anchor="ctr">
                    <a:solidFill>
                      <a:srgbClr val="0A1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CMMS / Excel</a:t>
                      </a:r>
                    </a:p>
                  </a:txBody>
                  <a:tcPr marL="54864" marR="54864" marT="18288" marB="18288" anchor="ctr">
                    <a:solidFill>
                      <a:srgbClr val="0A1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Our solution</a:t>
                      </a:r>
                    </a:p>
                  </a:txBody>
                  <a:tcPr marL="54864" marR="54864" marT="18288" marB="18288" anchor="ctr">
                    <a:solidFill>
                      <a:srgbClr val="0A104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Arial"/>
                        </a:rPr>
                        <a:t>Full EAM coverage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8CC63F"/>
                          </a:solidFill>
                          <a:latin typeface="DejaVu Sans"/>
                        </a:rPr>
                        <a:t>✓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D9A000"/>
                          </a:solidFill>
                          <a:latin typeface="DejaVu Sans"/>
                        </a:rPr>
                        <a:t>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D9A000"/>
                          </a:solidFill>
                          <a:latin typeface="DejaVu Sans"/>
                        </a:rPr>
                        <a:t>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8CC63F"/>
                          </a:solidFill>
                          <a:latin typeface="DejaVu Sans"/>
                        </a:rPr>
                        <a:t>✓</a:t>
                      </a:r>
                    </a:p>
                  </a:txBody>
                  <a:tcPr marL="54864" marR="54864" marT="18288" marB="18288" anchor="ctr"/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Arial"/>
                        </a:rPr>
                        <a:t>Predictive ML built in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D9A000"/>
                          </a:solidFill>
                          <a:latin typeface="DejaVu Sans"/>
                        </a:rPr>
                        <a:t>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8CC63F"/>
                          </a:solidFill>
                          <a:latin typeface="DejaVu Sans"/>
                        </a:rPr>
                        <a:t>✓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C8203A"/>
                          </a:solidFill>
                          <a:latin typeface="DejaVu Sans"/>
                        </a:rPr>
                        <a:t>✗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8CC63F"/>
                          </a:solidFill>
                          <a:latin typeface="DejaVu Sans"/>
                        </a:rPr>
                        <a:t>✓</a:t>
                      </a:r>
                    </a:p>
                  </a:txBody>
                  <a:tcPr marL="54864" marR="54864" marT="18288" marB="18288" anchor="ctr"/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Arial"/>
                        </a:rPr>
                        <a:t>Predictions explained in plain language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C8203A"/>
                          </a:solidFill>
                          <a:latin typeface="DejaVu Sans"/>
                        </a:rPr>
                        <a:t>✗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D9A000"/>
                          </a:solidFill>
                          <a:latin typeface="DejaVu Sans"/>
                        </a:rPr>
                        <a:t>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C8203A"/>
                          </a:solidFill>
                          <a:latin typeface="DejaVu Sans"/>
                        </a:rPr>
                        <a:t>✗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8CC63F"/>
                          </a:solidFill>
                          <a:latin typeface="DejaVu Sans"/>
                        </a:rPr>
                        <a:t>✓</a:t>
                      </a:r>
                    </a:p>
                  </a:txBody>
                  <a:tcPr marL="54864" marR="54864" marT="18288" marB="18288" anchor="ctr"/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Arial"/>
                        </a:rPr>
                        <a:t>Assistant tied to live machine status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C8203A"/>
                          </a:solidFill>
                          <a:latin typeface="DejaVu Sans"/>
                        </a:rPr>
                        <a:t>✗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C8203A"/>
                          </a:solidFill>
                          <a:latin typeface="DejaVu Sans"/>
                        </a:rPr>
                        <a:t>✗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C8203A"/>
                          </a:solidFill>
                          <a:latin typeface="DejaVu Sans"/>
                        </a:rPr>
                        <a:t>✗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8CC63F"/>
                          </a:solidFill>
                          <a:latin typeface="DejaVu Sans"/>
                        </a:rPr>
                        <a:t>✓</a:t>
                      </a:r>
                    </a:p>
                  </a:txBody>
                  <a:tcPr marL="54864" marR="54864" marT="18288" marB="18288" anchor="ctr"/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Arial"/>
                        </a:rPr>
                        <a:t>No heavy licensing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C8203A"/>
                          </a:solidFill>
                          <a:latin typeface="DejaVu Sans"/>
                        </a:rPr>
                        <a:t>✗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C8203A"/>
                          </a:solidFill>
                          <a:latin typeface="DejaVu Sans"/>
                        </a:rPr>
                        <a:t>✗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8CC63F"/>
                          </a:solidFill>
                          <a:latin typeface="DejaVu Sans"/>
                        </a:rPr>
                        <a:t>✓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8CC63F"/>
                          </a:solidFill>
                          <a:latin typeface="DejaVu Sans"/>
                        </a:rPr>
                        <a:t>✓</a:t>
                      </a:r>
                    </a:p>
                  </a:txBody>
                  <a:tcPr marL="54864" marR="54864" marT="18288" marB="18288" anchor="ctr"/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000000"/>
                          </a:solidFill>
                          <a:latin typeface="Arial"/>
                        </a:rPr>
                        <a:t>Automation guarded by human approval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D9A000"/>
                          </a:solidFill>
                          <a:latin typeface="DejaVu Sans"/>
                        </a:rPr>
                        <a:t>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D9A000"/>
                          </a:solidFill>
                          <a:latin typeface="DejaVu Sans"/>
                        </a:rPr>
                        <a:t>⚠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C8203A"/>
                          </a:solidFill>
                          <a:latin typeface="DejaVu Sans"/>
                        </a:rPr>
                        <a:t>✗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i="0">
                          <a:solidFill>
                            <a:srgbClr val="8CC63F"/>
                          </a:solidFill>
                          <a:latin typeface="DejaVu Sans"/>
                        </a:rPr>
                        <a:t>✓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1">
                <a:solidFill>
                  <a:srgbClr val="7A7A7A"/>
                </a:solidFill>
                <a:latin typeface="Arial"/>
              </a:rPr>
              <a:t>Qualitative assessment from public product positioning; ✓ yes · ⚠ partial or add-on · ✗ no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02. Project Study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Our 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1691640"/>
            <a:ext cx="4754880" cy="1325880"/>
          </a:xfrm>
          <a:prstGeom prst="roundRect">
            <a:avLst>
              <a:gd name="adj" fmla="val 12000"/>
            </a:avLst>
          </a:prstGeom>
          <a:solidFill>
            <a:srgbClr val="D6F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737360"/>
            <a:ext cx="4526280" cy="1234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Full EAM foundation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Users, machines, work orders, intervention orders, scheduling, archiving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246120"/>
            <a:ext cx="4754880" cy="1325880"/>
          </a:xfrm>
          <a:prstGeom prst="roundRect">
            <a:avLst>
              <a:gd name="adj" fmla="val 12000"/>
            </a:avLst>
          </a:prstGeom>
          <a:solidFill>
            <a:srgbClr val="D6F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291839"/>
            <a:ext cx="4526280" cy="1234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7 predictive models (P1-P7)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Failure, failure type, remaining life, anomaly, priority, schedule, parts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8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800600"/>
            <a:ext cx="4754880" cy="1325880"/>
          </a:xfrm>
          <a:prstGeom prst="roundRect">
            <a:avLst>
              <a:gd name="adj" fmla="val 12000"/>
            </a:avLst>
          </a:prstGeom>
          <a:solidFill>
            <a:srgbClr val="D6F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846320"/>
            <a:ext cx="4526280" cy="1234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Evidence fusion (DST)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4 advanced signals combined into one honest, unified health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10312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12280" y="1691640"/>
            <a:ext cx="4754880" cy="1325880"/>
          </a:xfrm>
          <a:prstGeom prst="roundRect">
            <a:avLst>
              <a:gd name="adj" fmla="val 12000"/>
            </a:avLst>
          </a:prstGeom>
          <a:solidFill>
            <a:srgbClr val="D6F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737360"/>
            <a:ext cx="4526280" cy="1234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Systematic explainability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Every prediction ships with a plain-language 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65760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3246120"/>
            <a:ext cx="4754880" cy="1325880"/>
          </a:xfrm>
          <a:prstGeom prst="roundRect">
            <a:avLst>
              <a:gd name="adj" fmla="val 12000"/>
            </a:avLst>
          </a:prstGeom>
          <a:solidFill>
            <a:srgbClr val="D6F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3291839"/>
            <a:ext cx="4526280" cy="1234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Conversational RAG assistant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Documentation + real-time machine status merged into every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5212080"/>
            <a:ext cx="4572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8CC63F"/>
                </a:solidFill>
                <a:latin typeface="DejaVu Sans"/>
              </a:rPr>
              <a:t>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4800600"/>
            <a:ext cx="4754880" cy="1325880"/>
          </a:xfrm>
          <a:prstGeom prst="roundRect">
            <a:avLst>
              <a:gd name="adj" fmla="val 12000"/>
            </a:avLst>
          </a:prstGeom>
          <a:solidFill>
            <a:srgbClr val="D6F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4846320"/>
            <a:ext cx="4526280" cy="12344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700" b="1" i="0">
                <a:solidFill>
                  <a:srgbClr val="000000"/>
                </a:solidFill>
                <a:latin typeface="Arial"/>
              </a:rPr>
              <a:t>Guarded automation</a:t>
            </a:r>
          </a:p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Parts proposals generated, never ordered without human approval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02. Project Study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Working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4480560" cy="105156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709928"/>
            <a:ext cx="4407408" cy="101498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B8CA8"/>
                </a:solidFill>
                <a:latin typeface="Arial"/>
              </a:rPr>
              <a:t>Product Owner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SagemCom supervisor: prioritises business needs and validates each deliverable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4480560" cy="105156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2944368"/>
            <a:ext cx="4407408" cy="101498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B8CA8"/>
                </a:solidFill>
                <a:latin typeface="Arial"/>
              </a:rPr>
              <a:t>Scrum Master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Intern: drives the specify → plan → build → verify 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4480560" cy="105156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4178808"/>
            <a:ext cx="4407408" cy="101498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B8CA8"/>
                </a:solidFill>
                <a:latin typeface="Arial"/>
              </a:rPr>
              <a:t>Development team</a:t>
            </a:r>
          </a:p>
          <a:p>
            <a:pPr algn="ctr"/>
            <a:r>
              <a:rPr sz="1200" b="0" i="0">
                <a:solidFill>
                  <a:srgbClr val="333333"/>
                </a:solidFill>
                <a:latin typeface="Arial"/>
              </a:rPr>
              <a:t>Intern, paired with an AI assistant for implementation and 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1920240"/>
            <a:ext cx="2651760" cy="960120"/>
          </a:xfrm>
          <a:prstGeom prst="roundRect">
            <a:avLst>
              <a:gd name="adj" fmla="val 30000"/>
            </a:avLst>
          </a:prstGeom>
          <a:solidFill>
            <a:srgbClr val="C5C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92024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0101A"/>
                </a:solidFill>
                <a:latin typeface="Arial"/>
              </a:rPr>
              <a:t>1  </a:t>
            </a:r>
            <a:r>
              <a:rPr sz="2000" b="1" i="0">
                <a:solidFill>
                  <a:srgbClr val="000000"/>
                </a:solidFill>
                <a:latin typeface="Arial"/>
              </a:rPr>
              <a:t>Specify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920240"/>
            <a:ext cx="2651760" cy="960120"/>
          </a:xfrm>
          <a:prstGeom prst="roundRect">
            <a:avLst>
              <a:gd name="adj" fmla="val 30000"/>
            </a:avLst>
          </a:prstGeom>
          <a:solidFill>
            <a:srgbClr val="C5C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192024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0101A"/>
                </a:solidFill>
                <a:latin typeface="Arial"/>
              </a:rPr>
              <a:t>2  </a:t>
            </a:r>
            <a:r>
              <a:rPr sz="2000" b="1" i="0">
                <a:solidFill>
                  <a:srgbClr val="000000"/>
                </a:solidFill>
                <a:latin typeface="Arial"/>
              </a:rPr>
              <a:t>Plan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77840" y="3246120"/>
            <a:ext cx="2651760" cy="960120"/>
          </a:xfrm>
          <a:prstGeom prst="roundRect">
            <a:avLst>
              <a:gd name="adj" fmla="val 30000"/>
            </a:avLst>
          </a:prstGeom>
          <a:solidFill>
            <a:srgbClr val="C5C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324612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0101A"/>
                </a:solidFill>
                <a:latin typeface="Arial"/>
              </a:rPr>
              <a:t>3  </a:t>
            </a:r>
            <a:r>
              <a:rPr sz="2000" b="1" i="0">
                <a:solidFill>
                  <a:srgbClr val="000000"/>
                </a:solidFill>
                <a:latin typeface="Arial"/>
              </a:rPr>
              <a:t>Build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246120"/>
            <a:ext cx="2651760" cy="960120"/>
          </a:xfrm>
          <a:prstGeom prst="roundRect">
            <a:avLst>
              <a:gd name="adj" fmla="val 30000"/>
            </a:avLst>
          </a:prstGeom>
          <a:solidFill>
            <a:srgbClr val="C5C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0" y="3246120"/>
            <a:ext cx="2651760" cy="9601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 i="0">
                <a:solidFill>
                  <a:srgbClr val="D0101A"/>
                </a:solidFill>
                <a:latin typeface="Arial"/>
              </a:rPr>
              <a:t>4  </a:t>
            </a:r>
            <a:r>
              <a:rPr sz="2000" b="1" i="0">
                <a:solidFill>
                  <a:srgbClr val="000000"/>
                </a:solidFill>
                <a:latin typeface="Arial"/>
              </a:rPr>
              <a:t>Verify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275320" y="2395728"/>
            <a:ext cx="36576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903720" y="2926080"/>
            <a:ext cx="0" cy="27432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8275320" y="3721608"/>
            <a:ext cx="36576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577840" y="4572000"/>
            <a:ext cx="5760720" cy="1554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Arial"/>
              </a:rPr>
              <a:t>7 monthly sprints, </a:t>
            </a:r>
            <a:r>
              <a:rPr sz="1500" b="0" i="0">
                <a:solidFill>
                  <a:srgbClr val="000000"/>
                </a:solidFill>
                <a:latin typeface="Arial"/>
              </a:rPr>
              <a:t>aligned with the roadmap.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Arial"/>
              </a:rPr>
              <a:t>Every feature has a written specification and an implementation plan </a:t>
            </a:r>
            <a:r>
              <a:rPr sz="1500" b="1" i="0">
                <a:solidFill>
                  <a:srgbClr val="D0101A"/>
                </a:solidFill>
                <a:latin typeface="Arial"/>
              </a:rPr>
              <a:t>before any code is written</a:t>
            </a:r>
            <a:r>
              <a:rPr sz="1500" b="0" i="0">
                <a:solidFill>
                  <a:srgbClr val="000000"/>
                </a:solidFill>
                <a:latin typeface="Arial"/>
              </a:rPr>
              <a:t>: full traceability of technical decisions.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69080" y="1463040"/>
            <a:ext cx="7680960" cy="402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03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Requirements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03. Requirements &amp;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The Four Platform Roles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874519"/>
            <a:ext cx="1188720" cy="1188720"/>
          </a:xfrm>
          <a:prstGeom prst="ellipse">
            <a:avLst/>
          </a:prstGeom>
          <a:solidFill>
            <a:srgbClr val="FDE8E8"/>
          </a:solidFill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74519"/>
            <a:ext cx="11887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0A1045"/>
                </a:solidFill>
                <a:latin typeface="Arial Black"/>
              </a:rPr>
              <a:t>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64592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Administrator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5740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1">
                <a:solidFill>
                  <a:srgbClr val="D0101A"/>
                </a:solidFill>
                <a:latin typeface="Arial"/>
              </a:rPr>
              <a:t>Infrastructure &amp;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20240" y="2514600"/>
            <a:ext cx="4023360" cy="10972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2514600"/>
            <a:ext cx="38404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Manages users, machines and the document base; overall view of the system.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60520"/>
            <a:ext cx="1188720" cy="1188720"/>
          </a:xfrm>
          <a:prstGeom prst="ellipse">
            <a:avLst/>
          </a:prstGeom>
          <a:solidFill>
            <a:srgbClr val="FDE8E8"/>
          </a:solidFill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160520"/>
            <a:ext cx="11887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0A1045"/>
                </a:solidFill>
                <a:latin typeface="Arial Black"/>
              </a:rPr>
              <a:t>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93192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Operations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434340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1">
                <a:solidFill>
                  <a:srgbClr val="D0101A"/>
                </a:solidFill>
                <a:latin typeface="Arial"/>
              </a:rPr>
              <a:t>Oversight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920240" y="4800600"/>
            <a:ext cx="4023360" cy="10972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4800600"/>
            <a:ext cx="38404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Consults machine labels and statuses at a glance.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0" y="1874519"/>
            <a:ext cx="1188720" cy="1188720"/>
          </a:xfrm>
          <a:prstGeom prst="ellipse">
            <a:avLst/>
          </a:prstGeom>
          <a:solidFill>
            <a:srgbClr val="FDE8E8"/>
          </a:solidFill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74519"/>
            <a:ext cx="11887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0A1045"/>
                </a:solidFill>
                <a:latin typeface="Arial Black"/>
              </a:rPr>
              <a:t>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164592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Head Technician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05740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1">
                <a:solidFill>
                  <a:srgbClr val="D0101A"/>
                </a:solidFill>
                <a:latin typeface="Arial"/>
              </a:rPr>
              <a:t>Planning &amp; approval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2514600"/>
            <a:ext cx="4023360" cy="10972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514600"/>
            <a:ext cx="38404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Plans interventions, arbitrates priorities, approves procurement proposals.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4160520"/>
            <a:ext cx="1188720" cy="1188720"/>
          </a:xfrm>
          <a:prstGeom prst="ellipse">
            <a:avLst/>
          </a:prstGeom>
          <a:solidFill>
            <a:srgbClr val="FDE8E8"/>
          </a:solidFill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4160520"/>
            <a:ext cx="118872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0A1045"/>
                </a:solidFill>
                <a:latin typeface="Arial Black"/>
              </a:rPr>
              <a:t>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93192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900" b="1" i="0">
                <a:solidFill>
                  <a:srgbClr val="000000"/>
                </a:solidFill>
                <a:latin typeface="Arial"/>
              </a:rPr>
              <a:t>Technician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434340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1">
                <a:solidFill>
                  <a:srgbClr val="D0101A"/>
                </a:solidFill>
                <a:latin typeface="Arial"/>
              </a:rPr>
              <a:t>Field execution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89520" y="4800600"/>
            <a:ext cx="4023360" cy="10972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4800600"/>
            <a:ext cx="384048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000000"/>
                </a:solidFill>
                <a:latin typeface="Arial"/>
              </a:rPr>
              <a:t>Executes intervention orders, checks health status, queries the AI assistant.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03. Requirements &amp;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pic>
        <p:nvPicPr>
          <p:cNvPr id="6" name="Picture 5" descr="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1463040"/>
            <a:ext cx="365377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03. Requirements &amp;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A1045"/>
                </a:solidFill>
                <a:latin typeface="Arial Black"/>
              </a:rPr>
              <a:t>Functional Requirements: 9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8686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6400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D0101A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64592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Authentication &amp; authorization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43200"/>
            <a:ext cx="3474720" cy="8686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6400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D0101A"/>
                </a:solidFill>
                <a:latin typeface="Arial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74320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Machine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74720" cy="8686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840480"/>
            <a:ext cx="6400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D0101A"/>
                </a:solidFill>
                <a:latin typeface="Arial Blac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84048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Order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645920"/>
            <a:ext cx="3474720" cy="8686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645920"/>
            <a:ext cx="6400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D0101A"/>
                </a:solidFill>
                <a:latin typeface="Arial Black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9" y="164592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Scheduling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743200"/>
            <a:ext cx="3474720" cy="8686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2743200"/>
            <a:ext cx="6400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D0101A"/>
                </a:solidFill>
                <a:latin typeface="Arial Black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274320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ML predictions (P1-P7)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840480"/>
            <a:ext cx="3474720" cy="8686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3840480"/>
            <a:ext cx="6400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D0101A"/>
                </a:solidFill>
                <a:latin typeface="Arial Black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384048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Alerts &amp; notifications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645920"/>
            <a:ext cx="3474720" cy="8686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645920"/>
            <a:ext cx="6400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D0101A"/>
                </a:solidFill>
                <a:latin typeface="Arial Black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164592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Conversational assistant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743200"/>
            <a:ext cx="3474720" cy="8686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743200"/>
            <a:ext cx="6400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D0101A"/>
                </a:solidFill>
                <a:latin typeface="Arial Black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74320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Dashboards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840480"/>
            <a:ext cx="3474720" cy="8686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840480"/>
            <a:ext cx="6400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0" i="0">
                <a:solidFill>
                  <a:srgbClr val="D0101A"/>
                </a:solidFill>
                <a:latin typeface="Arial Black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0" y="3840480"/>
            <a:ext cx="2697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Arial"/>
              </a:rPr>
              <a:t>Archiving &amp; traceability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074920"/>
            <a:ext cx="10881360" cy="10972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5074920"/>
            <a:ext cx="10607040" cy="10972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D0101A"/>
                </a:solidFill>
                <a:latin typeface="Arial"/>
              </a:rPr>
              <a:t>Two rules cut across all nine: </a:t>
            </a:r>
            <a:r>
              <a:rPr sz="1500" b="0" i="0">
                <a:solidFill>
                  <a:srgbClr val="000000"/>
                </a:solidFill>
                <a:latin typeface="Arial"/>
              </a:rPr>
              <a:t>every prediction explains itself in plain language, and the system degrades honestly, reporting missing telemetry instead of inventing a value.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03. Requirements &amp;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Non-Functional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00200"/>
            <a:ext cx="5394960" cy="91440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45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&lt; 2 s common operations; &lt; 5 s full ML inference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394960" cy="91440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79" y="1645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Availability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79" y="20116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EAM features keep working if the ML service is down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743200"/>
            <a:ext cx="5394960" cy="91440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Maintainability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Layered separation; versioned Alembic migrations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743200"/>
            <a:ext cx="5394960" cy="91440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79" y="2788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Portability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79" y="31546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Docker Compose / Helm; configuration in one .env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886200"/>
            <a:ext cx="5394960" cy="91440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31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Usability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Interface adapted to role and device (desktop or tablet)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886200"/>
            <a:ext cx="5394960" cy="91440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79" y="3931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Integrity &amp; confidentiality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42976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Role-scoped data; intervention history immutable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29200"/>
            <a:ext cx="5394960" cy="91440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074920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4406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OWASP Top 10 hardened; scanned on every push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03. Requirements &amp; Analysis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Used Tools &amp;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920240"/>
            <a:ext cx="3657600" cy="17830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9164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 spc="50">
                <a:solidFill>
                  <a:srgbClr val="000000"/>
                </a:solidFill>
                <a:latin typeface="Arial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40280"/>
            <a:ext cx="3383280" cy="1417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React 19 · TypeScript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Vite · Tailwind · shadcn/ui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nginx (static + /api proxy)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920240"/>
            <a:ext cx="3657600" cy="17830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63440" y="169164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6916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 spc="50">
                <a:solidFill>
                  <a:srgbClr val="000000"/>
                </a:solidFill>
                <a:latin typeface="Arial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240280"/>
            <a:ext cx="3383280" cy="1417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FastAPI · SQLAlchemy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Alembic · Celery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JWT role-based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920240"/>
            <a:ext cx="3657600" cy="17830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0" y="169164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 spc="50">
                <a:solidFill>
                  <a:srgbClr val="000000"/>
                </a:solidFill>
                <a:latin typeface="Arial"/>
              </a:rPr>
              <a:t>ML microservice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240280"/>
            <a:ext cx="3383280" cy="1417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FastAPI · XGBoost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scikit-learn · Cox PH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Dempster-Shafer fusion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69080"/>
            <a:ext cx="3657600" cy="17830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84048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40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 spc="50">
                <a:solidFill>
                  <a:srgbClr val="000000"/>
                </a:solidFill>
                <a:latin typeface="Arial"/>
              </a:rPr>
              <a:t>RAG &amp;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389120"/>
            <a:ext cx="3383280" cy="1417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pgvector · BAAI/bge-m3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bge-reranker-v2-m3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Groq LLM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4069080"/>
            <a:ext cx="3657600" cy="17830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663440" y="384048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840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 spc="50">
                <a:solidFill>
                  <a:srgbClr val="000000"/>
                </a:solidFill>
                <a:latin typeface="Arial"/>
              </a:rPr>
              <a:t>Data &amp; messaging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89120"/>
            <a:ext cx="3383280" cy="1417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PostgreSQL 15 + pgvector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MinIO (S3) · RabbitMQ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79" y="4069080"/>
            <a:ext cx="3657600" cy="178308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5B52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12480" y="3840480"/>
            <a:ext cx="2743200" cy="457200"/>
          </a:xfrm>
          <a:prstGeom prst="roundRect">
            <a:avLst>
              <a:gd name="adj" fmla="val 40000"/>
            </a:avLst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8404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 spc="50">
                <a:solidFill>
                  <a:srgbClr val="000000"/>
                </a:solidFill>
                <a:latin typeface="Arial"/>
              </a:rPr>
              <a:t>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4389120"/>
            <a:ext cx="3383280" cy="1417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Docker Compose · Caddy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Terraform · AKS · Helm</a:t>
            </a:r>
          </a:p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Key Vault · ACR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80760"/>
            <a:ext cx="1124712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D0101A"/>
                </a:solidFill>
                <a:latin typeface="Arial"/>
              </a:rPr>
              <a:t>DevSecOps: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GitLab CI · Gitleaks · Semgrep  ·  SonarQube · Trivy · OWASP ZAP  ·  Prometheus · Grafana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69080" y="1463040"/>
            <a:ext cx="7680960" cy="402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04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Design &amp;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04. Design: Logical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0A1045"/>
                </a:solidFill>
                <a:latin typeface="Arial Black"/>
              </a:rPr>
              <a:t>Logical Architecture: Layers &amp;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371600"/>
            <a:ext cx="6583680" cy="384048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2FA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371600"/>
            <a:ext cx="6583680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2FA4E7"/>
                </a:solidFill>
                <a:latin typeface="Arial"/>
              </a:rPr>
              <a:t>Users: Administrator · Operations Manager · Head Technician · Technician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83480" y="1755648"/>
            <a:ext cx="0" cy="256032"/>
          </a:xfrm>
          <a:prstGeom prst="line">
            <a:avLst/>
          </a:prstGeom>
          <a:ln w="22225">
            <a:solidFill>
              <a:srgbClr val="2FA4E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74920" y="1801368"/>
            <a:ext cx="173736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A7A7A"/>
                </a:solidFill>
                <a:latin typeface="Arial"/>
              </a:rPr>
              <a:t>HTTPS · browser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8183879" cy="640080"/>
          </a:xfrm>
          <a:prstGeom prst="roundRect">
            <a:avLst>
              <a:gd name="adj" fmla="val 7000"/>
            </a:avLst>
          </a:prstGeom>
          <a:noFill/>
          <a:ln w="25400">
            <a:solidFill>
              <a:srgbClr val="2FA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020824"/>
            <a:ext cx="36576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00">
                <a:solidFill>
                  <a:srgbClr val="2FA4E7"/>
                </a:solidFill>
                <a:latin typeface="Arial"/>
              </a:rP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12848"/>
            <a:ext cx="7955279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Arial"/>
              </a:rPr>
              <a:t>React 19 + TypeScript single-page app</a:t>
            </a:r>
            <a:r>
              <a:rPr sz="1100" b="0" i="0">
                <a:solidFill>
                  <a:srgbClr val="000000"/>
                </a:solidFill>
                <a:latin typeface="Arial"/>
              </a:rPr>
              <a:t> · role-based spaces (Admin, Head Technician, Technician) · ML Intelligence panel · AI assistant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983480" y="2651760"/>
            <a:ext cx="0" cy="228600"/>
          </a:xfrm>
          <a:prstGeom prst="line">
            <a:avLst/>
          </a:prstGeom>
          <a:ln w="22225">
            <a:solidFill>
              <a:srgbClr val="4FBF5F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074920" y="2679192"/>
            <a:ext cx="201168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A7A7A"/>
                </a:solidFill>
                <a:latin typeface="Arial"/>
              </a:rPr>
              <a:t>REST / JSON + JWT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880360"/>
            <a:ext cx="8183879" cy="1325880"/>
          </a:xfrm>
          <a:prstGeom prst="roundRect">
            <a:avLst>
              <a:gd name="adj" fmla="val 7000"/>
            </a:avLst>
          </a:prstGeom>
          <a:noFill/>
          <a:ln w="25400">
            <a:solidFill>
              <a:srgbClr val="4FBF5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889503"/>
            <a:ext cx="36576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00">
                <a:solidFill>
                  <a:srgbClr val="4FBF5F"/>
                </a:solidFill>
                <a:latin typeface="Arial"/>
              </a:rPr>
              <a:t>APPLICATION: BACKEND API (FastAPI)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3154680"/>
            <a:ext cx="1920240" cy="42062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8136" y="3172968"/>
            <a:ext cx="184708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4FBF5F"/>
                </a:solidFill>
                <a:latin typeface="Arial"/>
              </a:rPr>
              <a:t>Auth &amp; RBAC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3154680"/>
            <a:ext cx="1920240" cy="42062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9816" y="3172968"/>
            <a:ext cx="184708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4FBF5F"/>
                </a:solidFill>
                <a:latin typeface="Arial"/>
              </a:rPr>
              <a:t>Machines &amp; assets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3154680"/>
            <a:ext cx="1920240" cy="42062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11496" y="3172968"/>
            <a:ext cx="184708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4FBF5F"/>
                </a:solidFill>
                <a:latin typeface="Arial"/>
              </a:rPr>
              <a:t>Work &amp; intervention orders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86600" y="3154680"/>
            <a:ext cx="1920240" cy="42062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23176" y="3172968"/>
            <a:ext cx="184708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4FBF5F"/>
                </a:solidFill>
                <a:latin typeface="Arial"/>
              </a:rPr>
              <a:t>Planning &amp; scheduling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51560" y="3639312"/>
            <a:ext cx="1920240" cy="42062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88136" y="3657600"/>
            <a:ext cx="184708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4FBF5F"/>
                </a:solidFill>
                <a:latin typeface="Arial"/>
              </a:rPr>
              <a:t>Inventory &amp; procurement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3639312"/>
            <a:ext cx="1920240" cy="42062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99816" y="3657600"/>
            <a:ext cx="184708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4FBF5F"/>
                </a:solidFill>
                <a:latin typeface="Arial"/>
              </a:rPr>
              <a:t>Alerts &amp; notifications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74920" y="3639312"/>
            <a:ext cx="1920240" cy="42062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11496" y="3657600"/>
            <a:ext cx="184708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4FBF5F"/>
                </a:solidFill>
                <a:latin typeface="Arial"/>
              </a:rPr>
              <a:t>ML gateway (unified health)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86600" y="3639312"/>
            <a:ext cx="1920240" cy="42062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23176" y="3657600"/>
            <a:ext cx="1847088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4FBF5F"/>
                </a:solidFill>
                <a:latin typeface="Arial"/>
              </a:rPr>
              <a:t>AI chat orchestrator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526280"/>
            <a:ext cx="8183879" cy="822960"/>
          </a:xfrm>
          <a:prstGeom prst="roundRect">
            <a:avLst>
              <a:gd name="adj" fmla="val 7000"/>
            </a:avLst>
          </a:prstGeom>
          <a:noFill/>
          <a:ln w="25400">
            <a:solidFill>
              <a:srgbClr val="F39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4535424"/>
            <a:ext cx="36576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00">
                <a:solidFill>
                  <a:srgbClr val="F39C2C"/>
                </a:solidFill>
                <a:latin typeface="Arial"/>
              </a:rPr>
              <a:t>SPECIALIST SERVICES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" y="4773168"/>
            <a:ext cx="2606040" cy="51206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F39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88136" y="4791455"/>
            <a:ext cx="25328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39C2C"/>
                </a:solidFill>
                <a:latin typeface="Arial"/>
              </a:rPr>
              <a:t>ML microservice (FastAPI)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P1-P7 · Wave 2 signals · DST fusion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794760" y="4773168"/>
            <a:ext cx="2606040" cy="51206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F39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31336" y="4791455"/>
            <a:ext cx="253288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39C2C"/>
                </a:solidFill>
                <a:latin typeface="Arial"/>
              </a:rPr>
              <a:t>RAG service (FastAPI)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ingest · hybrid retrieval · rerank · bge-m3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37960" y="4773168"/>
            <a:ext cx="2468880" cy="512064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F39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74536" y="4791455"/>
            <a:ext cx="2395728" cy="4754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F39C2C"/>
                </a:solidFill>
                <a:latin typeface="Arial"/>
              </a:rPr>
              <a:t>Celery worker + beat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consumes tasks · uses PostgreSQL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286000" y="4206240"/>
            <a:ext cx="0" cy="566928"/>
          </a:xfrm>
          <a:prstGeom prst="line">
            <a:avLst/>
          </a:prstGeom>
          <a:ln w="22225">
            <a:solidFill>
              <a:srgbClr val="F39C2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359152" y="4297680"/>
            <a:ext cx="118872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A7A7A"/>
                </a:solidFill>
                <a:latin typeface="Arial"/>
              </a:rPr>
              <a:t>HTTP /predict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74920" y="4206240"/>
            <a:ext cx="0" cy="566928"/>
          </a:xfrm>
          <a:prstGeom prst="line">
            <a:avLst/>
          </a:prstGeom>
          <a:ln w="22225">
            <a:solidFill>
              <a:srgbClr val="F39C2C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148072" y="4297680"/>
            <a:ext cx="132588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A7A7A"/>
                </a:solidFill>
                <a:latin typeface="Arial"/>
              </a:rPr>
              <a:t>HTTP /retrieve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14400" y="5623560"/>
            <a:ext cx="8183879" cy="841248"/>
          </a:xfrm>
          <a:prstGeom prst="roundRect">
            <a:avLst>
              <a:gd name="adj" fmla="val 7000"/>
            </a:avLst>
          </a:prstGeom>
          <a:noFill/>
          <a:ln w="25400">
            <a:solidFill>
              <a:srgbClr val="7C4D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632704"/>
            <a:ext cx="3657600" cy="219456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100">
                <a:solidFill>
                  <a:srgbClr val="7C4DDB"/>
                </a:solidFill>
                <a:latin typeface="Arial"/>
              </a:rPr>
              <a:t>DATA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1560" y="5870448"/>
            <a:ext cx="1691640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88136" y="5888736"/>
            <a:ext cx="1618488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7C4DDB"/>
                </a:solidFill>
                <a:latin typeface="Arial"/>
              </a:rPr>
              <a:t>Model artifacts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.pkl, read-only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880360" y="5870448"/>
            <a:ext cx="2468880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916936" y="5888736"/>
            <a:ext cx="2395728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7C4DDB"/>
                </a:solidFill>
                <a:latin typeface="Arial"/>
              </a:rPr>
              <a:t>PostgreSQL + pgvector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business data · ML logs · chunks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0" y="5870448"/>
            <a:ext cx="1600200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522976" y="5888736"/>
            <a:ext cx="1527048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7C4DDB"/>
                </a:solidFill>
                <a:latin typeface="Arial"/>
              </a:rPr>
              <a:t>Object storage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MinIO / S3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223760" y="5870448"/>
            <a:ext cx="1783080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336" y="5888736"/>
            <a:ext cx="1709928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7C4DDB"/>
                </a:solidFill>
                <a:latin typeface="Arial"/>
              </a:rPr>
              <a:t>Message broker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RabbitMQ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828800" y="5285232"/>
            <a:ext cx="0" cy="585216"/>
          </a:xfrm>
          <a:prstGeom prst="line">
            <a:avLst/>
          </a:prstGeom>
          <a:ln w="22225">
            <a:solidFill>
              <a:srgbClr val="7C4DD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572000" y="5285232"/>
            <a:ext cx="0" cy="585216"/>
          </a:xfrm>
          <a:prstGeom prst="line">
            <a:avLst/>
          </a:prstGeom>
          <a:ln w="22225">
            <a:solidFill>
              <a:srgbClr val="7C4DD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645152" y="5358384"/>
            <a:ext cx="100584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A7A7A"/>
                </a:solidFill>
                <a:latin typeface="Arial"/>
              </a:rPr>
              <a:t>SQL (vectors)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138160" y="5285232"/>
            <a:ext cx="0" cy="585216"/>
          </a:xfrm>
          <a:prstGeom prst="line">
            <a:avLst/>
          </a:prstGeom>
          <a:ln w="22225">
            <a:solidFill>
              <a:srgbClr val="7C4DD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548640" y="3566160"/>
            <a:ext cx="365760" cy="0"/>
          </a:xfrm>
          <a:prstGeom prst="line">
            <a:avLst/>
          </a:prstGeom>
          <a:ln w="22225">
            <a:solidFill>
              <a:srgbClr val="7C4D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548640" y="3566160"/>
            <a:ext cx="0" cy="2468880"/>
          </a:xfrm>
          <a:prstGeom prst="line">
            <a:avLst/>
          </a:prstGeom>
          <a:ln w="22225">
            <a:solidFill>
              <a:srgbClr val="7C4DD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48640" y="6035040"/>
            <a:ext cx="365760" cy="0"/>
          </a:xfrm>
          <a:prstGeom prst="line">
            <a:avLst/>
          </a:prstGeom>
          <a:ln w="22225">
            <a:solidFill>
              <a:srgbClr val="7C4DD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8288" y="4480560"/>
            <a:ext cx="868680" cy="54864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0" i="1">
                <a:solidFill>
                  <a:srgbClr val="7C4DDB"/>
                </a:solidFill>
                <a:latin typeface="Arial"/>
              </a:rPr>
              <a:t>SQL ·</a:t>
            </a:r>
          </a:p>
          <a:p>
            <a:pPr algn="ctr"/>
            <a:r>
              <a:rPr sz="800" b="0" i="1">
                <a:solidFill>
                  <a:srgbClr val="7C4DDB"/>
                </a:solidFill>
                <a:latin typeface="Arial"/>
              </a:rPr>
              <a:t>S3 API ·</a:t>
            </a:r>
          </a:p>
          <a:p>
            <a:pPr algn="ctr"/>
            <a:r>
              <a:rPr sz="800" b="0" i="1">
                <a:solidFill>
                  <a:srgbClr val="7C4DDB"/>
                </a:solidFill>
                <a:latin typeface="Arial"/>
              </a:rPr>
              <a:t>AMQP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55480" y="2743200"/>
            <a:ext cx="2240280" cy="2743200"/>
          </a:xfrm>
          <a:prstGeom prst="roundRect">
            <a:avLst>
              <a:gd name="adj" fmla="val 7000"/>
            </a:avLst>
          </a:prstGeom>
          <a:noFill/>
          <a:ln w="22225">
            <a:solidFill>
              <a:srgbClr val="7C4D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601200" y="2761488"/>
            <a:ext cx="214884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1" i="0" spc="100">
                <a:solidFill>
                  <a:srgbClr val="7C4DDB"/>
                </a:solidFill>
                <a:latin typeface="Arial"/>
              </a:rPr>
              <a:t>EXTERNAL SERVICES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692640" y="3108960"/>
            <a:ext cx="1965960" cy="5486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729215" y="3127248"/>
            <a:ext cx="1892807" cy="51206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7C4DDB"/>
                </a:solidFill>
                <a:latin typeface="Arial"/>
              </a:rPr>
              <a:t>Groq LLM API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chat completions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692640" y="4709160"/>
            <a:ext cx="1965960" cy="5486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29215" y="4727448"/>
            <a:ext cx="1892807" cy="51206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7C4DDB"/>
                </a:solidFill>
                <a:latin typeface="Arial"/>
              </a:rPr>
              <a:t>SMTP server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e-mail notifications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098280" y="3383280"/>
            <a:ext cx="594360" cy="0"/>
          </a:xfrm>
          <a:prstGeom prst="line">
            <a:avLst/>
          </a:prstGeom>
          <a:ln w="22225">
            <a:solidFill>
              <a:srgbClr val="7C4DD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134856" y="3163824"/>
            <a:ext cx="54864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0" i="1">
                <a:solidFill>
                  <a:srgbClr val="7A7A7A"/>
                </a:solidFill>
                <a:latin typeface="Arial"/>
              </a:rPr>
              <a:t>HTTPS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9098280" y="4983480"/>
            <a:ext cx="594360" cy="0"/>
          </a:xfrm>
          <a:prstGeom prst="line">
            <a:avLst/>
          </a:prstGeom>
          <a:ln w="22225">
            <a:solidFill>
              <a:srgbClr val="7C4DD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9134856" y="4754880"/>
            <a:ext cx="54864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0" i="1">
                <a:solidFill>
                  <a:srgbClr val="7A7A7A"/>
                </a:solidFill>
                <a:latin typeface="Arial"/>
              </a:rPr>
              <a:t>SMTP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509760" y="5623560"/>
            <a:ext cx="237744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A7A7A"/>
                </a:solidFill>
                <a:latin typeface="Arial"/>
              </a:rPr>
              <a:t>Backend is the only caller of the ML and RAG services. RAG reads PostgreSQL only; ML reads model files only.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04. Design: Logical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 i="0">
                <a:solidFill>
                  <a:srgbClr val="0A1045"/>
                </a:solidFill>
                <a:latin typeface="Arial Black"/>
              </a:rPr>
              <a:t>Request Flow: Unified Machine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3474720" cy="14173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D0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002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A1045"/>
                </a:solidFill>
                <a:latin typeface="Arial"/>
              </a:rPr>
              <a:t>Frontend 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2316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GET /machines/{id}/unified-health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2496312"/>
            <a:ext cx="27432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343400" y="1783080"/>
            <a:ext cx="3474720" cy="14173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80560" y="1600200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D0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16002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0116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A1045"/>
                </a:solidFill>
                <a:latin typeface="Arial"/>
              </a:rPr>
              <a:t>Backend reads 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42316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Latest real sensor data; none found → telemetry_available: false, stop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63840" y="2496312"/>
            <a:ext cx="27432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83880" y="1783080"/>
            <a:ext cx="3474720" cy="14173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21040" y="1600200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D0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6002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116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A1045"/>
                </a:solidFill>
                <a:latin typeface="Arial"/>
              </a:rPr>
              <a:t>ML microservice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42316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P1-P7 in parallel on the sensor snapshot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611880"/>
            <a:ext cx="3474720" cy="14173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429000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D0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4290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8404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A1045"/>
                </a:solidFill>
                <a:latin typeface="Arial"/>
              </a:rPr>
              <a:t>Wave 2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425196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Run concurrently on the telemetry history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23360" y="4325112"/>
            <a:ext cx="27432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343400" y="3611880"/>
            <a:ext cx="3474720" cy="14173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60" y="3429000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D0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0" y="34290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26280" y="38404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A1045"/>
                </a:solidFill>
                <a:latin typeface="Arial"/>
              </a:rPr>
              <a:t>DST fusion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425196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One unified score and verdict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63840" y="4325112"/>
            <a:ext cx="27432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83880" y="3611880"/>
            <a:ext cx="3474720" cy="14173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21040" y="3429000"/>
            <a:ext cx="502920" cy="457200"/>
          </a:xfrm>
          <a:prstGeom prst="roundRect">
            <a:avLst>
              <a:gd name="adj" fmla="val 50000"/>
            </a:avLst>
          </a:prstGeom>
          <a:solidFill>
            <a:srgbClr val="D01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21040" y="3429000"/>
            <a:ext cx="50292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3840480"/>
            <a:ext cx="310896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 i="0">
                <a:solidFill>
                  <a:srgbClr val="0A1045"/>
                </a:solidFill>
                <a:latin typeface="Arial"/>
              </a:rPr>
              <a:t>Log &amp; render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251960"/>
            <a:ext cx="310896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/>
              </a:rPr>
              <a:t>Stored in ml_prediction_logs; panel updates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486400"/>
            <a:ext cx="11155680" cy="7315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D0101A"/>
                </a:solidFill>
                <a:latin typeface="Arial"/>
              </a:rPr>
              <a:t>Graceful degradation: </a:t>
            </a:r>
            <a:r>
              <a:rPr sz="1400" b="0" i="0">
                <a:solidFill>
                  <a:srgbClr val="000000"/>
                </a:solidFill>
                <a:latin typeface="Arial"/>
              </a:rPr>
              <a:t>no telemetry on record never means a fabricated prediction; the platform falls back to a maintenance-history-only score.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04. Design: Physical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0A1045"/>
                </a:solidFill>
                <a:latin typeface="Arial Black"/>
              </a:rPr>
              <a:t>Physical Architecture: Docker Compose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926080"/>
            <a:ext cx="1325880" cy="73152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2FA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2944368"/>
            <a:ext cx="1252728" cy="6949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2FA4E7"/>
                </a:solidFill>
                <a:latin typeface="Arial"/>
              </a:rPr>
              <a:t>Users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91640" y="3291840"/>
            <a:ext cx="594360" cy="0"/>
          </a:xfrm>
          <a:prstGeom prst="line">
            <a:avLst/>
          </a:prstGeom>
          <a:ln w="22225">
            <a:solidFill>
              <a:srgbClr val="2FA4E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19072" y="3017520"/>
            <a:ext cx="41148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0" i="1">
                <a:solidFill>
                  <a:srgbClr val="7A7A7A"/>
                </a:solidFill>
                <a:latin typeface="Arial"/>
              </a:rPr>
              <a:t>HTTPS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48840" y="1417320"/>
            <a:ext cx="8092440" cy="50292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5B524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1435608"/>
            <a:ext cx="7863840" cy="2560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60">
                <a:solidFill>
                  <a:srgbClr val="5B5243"/>
                </a:solidFill>
                <a:latin typeface="Arial"/>
              </a:rPr>
              <a:t>DOCKER HOST: developer workstation (dev) or Azure VM (demo) · docker compose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743200"/>
            <a:ext cx="1371600" cy="91440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2576" y="2761488"/>
            <a:ext cx="1298448" cy="8778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D0101A"/>
                </a:solidFill>
                <a:latin typeface="Arial"/>
              </a:rPr>
              <a:t>Caddy 2.8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:80 / :443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TLS (Let's Encrypt)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prod overlay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749039"/>
            <a:ext cx="15544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/  → frontend:80</a:t>
            </a:r>
          </a:p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/api/* → backend:8000</a:t>
            </a:r>
          </a:p>
          <a:p>
            <a:pPr algn="l"/>
            <a:r>
              <a:rPr sz="850" b="0" i="0">
                <a:solidFill>
                  <a:srgbClr val="333333"/>
                </a:solidFill>
                <a:latin typeface="Arial"/>
              </a:rPr>
              <a:t>/grafana/* → grafana:3000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3200400"/>
            <a:ext cx="320039" cy="0"/>
          </a:xfrm>
          <a:prstGeom prst="line">
            <a:avLst/>
          </a:prstGeom>
          <a:ln w="22225">
            <a:solidFill>
              <a:srgbClr val="D0101A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977639" y="1783080"/>
            <a:ext cx="6172200" cy="2788920"/>
          </a:xfrm>
          <a:prstGeom prst="roundRect">
            <a:avLst>
              <a:gd name="adj" fmla="val 5000"/>
            </a:avLst>
          </a:prstGeom>
          <a:noFill/>
          <a:ln w="25400">
            <a:solidFill>
              <a:srgbClr val="2FA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1801368"/>
            <a:ext cx="594360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>
                <a:solidFill>
                  <a:srgbClr val="2FA4E7"/>
                </a:solidFill>
                <a:latin typeface="Arial"/>
              </a:rPr>
              <a:t>asset_management_network (bridge): containers resolve each other by name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69080" y="2084831"/>
            <a:ext cx="1444752" cy="7772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05656" y="2103120"/>
            <a:ext cx="1371600" cy="7406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A1045"/>
                </a:solidFill>
                <a:latin typeface="Arial"/>
              </a:rPr>
              <a:t>frontend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nginx, React SPA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:80 (dev → :3000)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05272" y="2084831"/>
            <a:ext cx="1444752" cy="7772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41848" y="2103120"/>
            <a:ext cx="1371600" cy="7406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A1045"/>
                </a:solidFill>
                <a:latin typeface="Arial"/>
              </a:rPr>
              <a:t>backend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FastAPI / uvicorn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:8000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41464" y="2084831"/>
            <a:ext cx="1444752" cy="7772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103120"/>
            <a:ext cx="1371600" cy="7406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A1045"/>
                </a:solidFill>
                <a:latin typeface="Arial"/>
              </a:rPr>
              <a:t>ml-service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FastAPI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:8000 (dev → :8001)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77656" y="2084831"/>
            <a:ext cx="1444752" cy="7772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2103120"/>
            <a:ext cx="1371600" cy="7406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A1045"/>
                </a:solidFill>
                <a:latin typeface="Arial"/>
              </a:rPr>
              <a:t>rag-service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FastAPI + bge-m3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:8003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69080" y="2953512"/>
            <a:ext cx="1444752" cy="7772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05656" y="2971800"/>
            <a:ext cx="1371600" cy="7406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A1045"/>
                </a:solidFill>
                <a:latin typeface="Arial"/>
              </a:rPr>
              <a:t>celery_worker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backend image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Celery worker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05272" y="2953512"/>
            <a:ext cx="1444752" cy="7772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41848" y="2971800"/>
            <a:ext cx="1371600" cy="7406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A1045"/>
                </a:solidFill>
                <a:latin typeface="Arial"/>
              </a:rPr>
              <a:t>celery_beat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backend image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Celery scheduler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41464" y="2953512"/>
            <a:ext cx="1444752" cy="7772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2971800"/>
            <a:ext cx="1371600" cy="7406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A1045"/>
                </a:solidFill>
                <a:latin typeface="Arial"/>
              </a:rPr>
              <a:t>rabbitmq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AMQP :5672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(mgmt :15672)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77656" y="2953512"/>
            <a:ext cx="1444752" cy="7772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14232" y="2971800"/>
            <a:ext cx="1371600" cy="7406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0A1045"/>
                </a:solidFill>
                <a:latin typeface="Arial"/>
              </a:rPr>
              <a:t>minio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S3 API :9000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console :9001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9080" y="3822191"/>
            <a:ext cx="2980944" cy="658368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05656" y="3840479"/>
            <a:ext cx="2907792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7C4DDB"/>
                </a:solidFill>
                <a:latin typeface="Arial"/>
              </a:rPr>
              <a:t>postgres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pgvector/pg15 :5432 · volume postgres_data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41464" y="3822191"/>
            <a:ext cx="1444752" cy="658368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A7A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3840479"/>
            <a:ext cx="13716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7A7A7A"/>
                </a:solidFill>
                <a:latin typeface="Arial"/>
              </a:rPr>
              <a:t>pgadmin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dev only, host :5050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77656" y="3822191"/>
            <a:ext cx="1444752" cy="658368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14232" y="3840479"/>
            <a:ext cx="13716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7C4DDB"/>
                </a:solidFill>
                <a:latin typeface="Arial"/>
              </a:rPr>
              <a:t>models/*.pkl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bind mount, read-only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977639" y="4709160"/>
            <a:ext cx="3017520" cy="914400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F39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069080" y="4727448"/>
            <a:ext cx="283464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F39C2C"/>
                </a:solidFill>
                <a:latin typeface="Arial"/>
              </a:rPr>
              <a:t>monitoring_network (compose -f monitoring)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80" y="4983480"/>
            <a:ext cx="2834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Prometheus :9095 · Pushgateway :9091</a:t>
            </a:r>
          </a:p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Grafana :3001 · Trivy scanner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0" y="4709160"/>
            <a:ext cx="3017520" cy="914400"/>
          </a:xfrm>
          <a:prstGeom prst="roundRect">
            <a:avLst>
              <a:gd name="adj" fmla="val 6000"/>
            </a:avLst>
          </a:prstGeom>
          <a:noFill/>
          <a:ln w="25400">
            <a:solidFill>
              <a:srgbClr val="7C4DD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23760" y="4727448"/>
            <a:ext cx="283464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7C4DDB"/>
                </a:solidFill>
                <a:latin typeface="Arial"/>
              </a:rPr>
              <a:t>on-demand stacks (own compose files)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4983480"/>
            <a:ext cx="283464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SonarQube CE :9090 + Postgres 15</a:t>
            </a:r>
          </a:p>
          <a:p>
            <a:pPr algn="l"/>
            <a:r>
              <a:rPr sz="950" b="0" i="0">
                <a:solidFill>
                  <a:srgbClr val="000000"/>
                </a:solidFill>
                <a:latin typeface="Arial"/>
              </a:rPr>
              <a:t>Jupyter notebooks :8888 (offline ML research)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86000" y="5760720"/>
            <a:ext cx="7863840" cy="59436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8CC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77440" y="5760720"/>
            <a:ext cx="7680960" cy="594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8CC63F"/>
                </a:solidFill>
                <a:latin typeface="Arial"/>
              </a:rPr>
              <a:t>Prod overlay: </a:t>
            </a:r>
            <a:r>
              <a:rPr sz="1000" b="0" i="0">
                <a:solidFill>
                  <a:srgbClr val="000000"/>
                </a:solidFill>
                <a:latin typeface="Arial"/>
              </a:rPr>
              <a:t>every service un-published except Caddy; images pulled from the container registry (pull_policy: always).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561320" y="2011680"/>
            <a:ext cx="1463040" cy="8686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97896" y="2029968"/>
            <a:ext cx="1389888" cy="83210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7C4DDB"/>
                </a:solidFill>
                <a:latin typeface="Arial"/>
              </a:rPr>
              <a:t>Groq LLM API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HTTPS 443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from backend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561320" y="3154680"/>
            <a:ext cx="1463040" cy="8686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597896" y="3172968"/>
            <a:ext cx="1389888" cy="83210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7C4DDB"/>
                </a:solidFill>
                <a:latin typeface="Arial"/>
              </a:rPr>
              <a:t>SMTP (Gmail)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:587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from Celery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561320" y="4297680"/>
            <a:ext cx="1463040" cy="8686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97896" y="4315968"/>
            <a:ext cx="1389888" cy="83210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7C4DDB"/>
                </a:solidFill>
                <a:latin typeface="Arial"/>
              </a:rPr>
              <a:t>Container registry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images for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prod overlay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0241280" y="2450592"/>
            <a:ext cx="320040" cy="0"/>
          </a:xfrm>
          <a:prstGeom prst="line">
            <a:avLst/>
          </a:prstGeom>
          <a:ln w="22225">
            <a:solidFill>
              <a:srgbClr val="7C4DD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0241280" y="3593592"/>
            <a:ext cx="320040" cy="0"/>
          </a:xfrm>
          <a:prstGeom prst="line">
            <a:avLst/>
          </a:prstGeom>
          <a:ln w="22225">
            <a:solidFill>
              <a:srgbClr val="7C4DD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10241280" y="4736592"/>
            <a:ext cx="320040" cy="0"/>
          </a:xfrm>
          <a:prstGeom prst="line">
            <a:avLst/>
          </a:prstGeom>
          <a:ln w="22225">
            <a:solidFill>
              <a:srgbClr val="7C4DDB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04. Design: Physical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0A1045"/>
                </a:solidFill>
                <a:latin typeface="Arial Black"/>
              </a:rPr>
              <a:t>Physical Architecture: Production on Azure AKS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2788920"/>
            <a:ext cx="1234440" cy="73152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2FA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5" y="2807208"/>
            <a:ext cx="1161288" cy="6949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2FA4E7"/>
                </a:solidFill>
                <a:latin typeface="Arial"/>
              </a:rPr>
              <a:t>Users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browser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554480" y="3154680"/>
            <a:ext cx="320039" cy="0"/>
          </a:xfrm>
          <a:prstGeom prst="line">
            <a:avLst/>
          </a:prstGeom>
          <a:ln w="22225">
            <a:solidFill>
              <a:srgbClr val="2FA4E7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74519" y="2606040"/>
            <a:ext cx="1417320" cy="10972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11095" y="2624328"/>
            <a:ext cx="1344168" cy="10607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7C4DDB"/>
                </a:solidFill>
                <a:latin typeface="Arial"/>
              </a:rPr>
              <a:t>ngrok edge</a:t>
            </a:r>
          </a:p>
          <a:p>
            <a:pPr algn="ctr"/>
            <a:r>
              <a:rPr sz="950" b="0" i="0">
                <a:solidFill>
                  <a:srgbClr val="333333"/>
                </a:solidFill>
                <a:latin typeface="Arial"/>
              </a:rPr>
              <a:t>public HTTPS</a:t>
            </a:r>
          </a:p>
          <a:p>
            <a:pPr algn="ctr"/>
            <a:r>
              <a:rPr sz="950" b="0" i="0">
                <a:solidFill>
                  <a:srgbClr val="333333"/>
                </a:solidFill>
                <a:latin typeface="Arial"/>
              </a:rPr>
              <a:t>static domain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371600"/>
            <a:ext cx="8412480" cy="5074920"/>
          </a:xfrm>
          <a:prstGeom prst="roundRect">
            <a:avLst>
              <a:gd name="adj" fmla="val 3000"/>
            </a:avLst>
          </a:prstGeom>
          <a:noFill/>
          <a:ln w="25400">
            <a:solidFill>
              <a:srgbClr val="2FA4E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1389888"/>
            <a:ext cx="822960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900" b="1" i="0" spc="60">
                <a:solidFill>
                  <a:srgbClr val="2FA4E7"/>
                </a:solidFill>
                <a:latin typeface="Arial"/>
              </a:rPr>
              <a:t>MICROSOFT AZURE: resource group eam-prod-rg · Poland Central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0" y="1691640"/>
            <a:ext cx="4800600" cy="3840480"/>
          </a:xfrm>
          <a:prstGeom prst="roundRect">
            <a:avLst>
              <a:gd name="adj" fmla="val 4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30752" y="1709928"/>
            <a:ext cx="466344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0B8CA8"/>
                </a:solidFill>
                <a:latin typeface="Arial"/>
              </a:rPr>
              <a:t>VNet 10.10.0.0/16 · AKS subnet 10.10.1.0/24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67328" y="1965960"/>
            <a:ext cx="4572000" cy="347472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0" y="1984248"/>
            <a:ext cx="443484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4FBF5F"/>
                </a:solidFill>
                <a:latin typeface="Arial"/>
              </a:rPr>
              <a:t>AKS cluster · Azure CNI + network policy · OIDC / workload identity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58768" y="2286000"/>
            <a:ext cx="4389120" cy="2194560"/>
          </a:xfrm>
          <a:prstGeom prst="roundRect">
            <a:avLst>
              <a:gd name="adj" fmla="val 5000"/>
            </a:avLst>
          </a:prstGeom>
          <a:noFill/>
          <a:ln w="1905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31920" y="2304288"/>
            <a:ext cx="4251960" cy="2286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0A1045"/>
                </a:solidFill>
                <a:latin typeface="Arial"/>
              </a:rPr>
              <a:t>namespaces eam-prod and eam-staging (same layout)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50208" y="2606040"/>
            <a:ext cx="1353312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86784" y="2624328"/>
            <a:ext cx="128016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A1045"/>
                </a:solidFill>
                <a:latin typeface="Arial"/>
              </a:rPr>
              <a:t>ngrok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tunnel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2606040"/>
            <a:ext cx="1353312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31536" y="2624328"/>
            <a:ext cx="128016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A1045"/>
                </a:solidFill>
                <a:latin typeface="Arial"/>
              </a:rPr>
              <a:t>frontend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nginx :80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39712" y="2606040"/>
            <a:ext cx="1353312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2624328"/>
            <a:ext cx="128016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A1045"/>
                </a:solidFill>
                <a:latin typeface="Arial"/>
              </a:rPr>
              <a:t>backend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FastAPI :8000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50208" y="3218688"/>
            <a:ext cx="1353312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86784" y="3236976"/>
            <a:ext cx="128016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A1045"/>
                </a:solidFill>
                <a:latin typeface="Arial"/>
              </a:rPr>
              <a:t>ml-service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:8000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94960" y="3218688"/>
            <a:ext cx="1353312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31536" y="3236976"/>
            <a:ext cx="128016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A1045"/>
                </a:solidFill>
                <a:latin typeface="Arial"/>
              </a:rPr>
              <a:t>rag-service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:8003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39712" y="3218688"/>
            <a:ext cx="1353312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76288" y="3236976"/>
            <a:ext cx="128016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A1045"/>
                </a:solidFill>
                <a:latin typeface="Arial"/>
              </a:rPr>
              <a:t>celery-worker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backend image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50208" y="3831336"/>
            <a:ext cx="1353312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86784" y="3849624"/>
            <a:ext cx="128016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A1045"/>
                </a:solidFill>
                <a:latin typeface="Arial"/>
              </a:rPr>
              <a:t>celery-beat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backend image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94960" y="3831336"/>
            <a:ext cx="1353312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31536" y="3849624"/>
            <a:ext cx="128016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A1045"/>
                </a:solidFill>
                <a:latin typeface="Arial"/>
              </a:rPr>
              <a:t>rabbitmq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:5672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39712" y="3831336"/>
            <a:ext cx="1353312" cy="530352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76288" y="3849624"/>
            <a:ext cx="128016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0A1045"/>
                </a:solidFill>
                <a:latin typeface="Arial"/>
              </a:rPr>
              <a:t>minio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:9000 · PVC 5Gi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58768" y="4572000"/>
            <a:ext cx="2148840" cy="73152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95344" y="4590288"/>
            <a:ext cx="2075688" cy="6949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4FBF5F"/>
                </a:solidFill>
                <a:latin typeface="Arial"/>
              </a:rPr>
              <a:t>System node pool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critical add-ons only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99048" y="4572000"/>
            <a:ext cx="2148840" cy="73152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4FB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35624" y="4590288"/>
            <a:ext cx="2075688" cy="6949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4FBF5F"/>
                </a:solidFill>
                <a:latin typeface="Arial"/>
              </a:rPr>
              <a:t>User node pool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autoscale 2-4 · Standard_B2s_v2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823960" y="1737360"/>
            <a:ext cx="3017520" cy="105156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60536" y="1755648"/>
            <a:ext cx="2944368" cy="101498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7C4DDB"/>
                </a:solidFill>
                <a:latin typeface="Arial"/>
              </a:rPr>
              <a:t>PostgreSQL Flexible Server 15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pgvector + pg_trgm · burstable B2s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DBs: asset_management / _prod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823960" y="2971800"/>
            <a:ext cx="3017520" cy="96012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60536" y="2990088"/>
            <a:ext cx="2944368" cy="9235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7C4DDB"/>
                </a:solidFill>
                <a:latin typeface="Arial"/>
              </a:rPr>
              <a:t>Azure Key Vault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JWT · Groq · SMTP · DB password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Secrets Store CSI driver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23960" y="4114800"/>
            <a:ext cx="3017520" cy="8686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60536" y="4133087"/>
            <a:ext cx="2944368" cy="83210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 i="0">
                <a:solidFill>
                  <a:srgbClr val="7C4DDB"/>
                </a:solidFill>
                <a:latin typeface="Arial"/>
              </a:rPr>
              <a:t>Azure Container Registry</a:t>
            </a:r>
          </a:p>
          <a:p>
            <a:pPr algn="ctr"/>
            <a:r>
              <a:rPr sz="900" b="0" i="0">
                <a:solidFill>
                  <a:srgbClr val="333333"/>
                </a:solidFill>
                <a:latin typeface="Arial"/>
              </a:rPr>
              <a:t>images pulled by kubelet identity (AcrPull)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339327" y="2286000"/>
            <a:ext cx="484633" cy="0"/>
          </a:xfrm>
          <a:prstGeom prst="line">
            <a:avLst/>
          </a:prstGeom>
          <a:ln w="22225">
            <a:solidFill>
              <a:srgbClr val="7C4DD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394192" y="2066543"/>
            <a:ext cx="45720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0" i="1">
                <a:solidFill>
                  <a:srgbClr val="7A7A7A"/>
                </a:solidFill>
                <a:latin typeface="Arial"/>
              </a:rPr>
              <a:t>5432</a:t>
            </a:r>
          </a:p>
        </p:txBody>
      </p:sp>
      <p:cxnSp>
        <p:nvCxnSpPr>
          <p:cNvPr id="49" name="Connector 48"/>
          <p:cNvCxnSpPr/>
          <p:nvPr/>
        </p:nvCxnSpPr>
        <p:spPr>
          <a:xfrm flipH="1">
            <a:off x="8339327" y="3456432"/>
            <a:ext cx="484633" cy="0"/>
          </a:xfrm>
          <a:prstGeom prst="line">
            <a:avLst/>
          </a:prstGeom>
          <a:ln w="22225">
            <a:solidFill>
              <a:srgbClr val="7C4DDB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321040" y="3246120"/>
            <a:ext cx="54864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0" i="1">
                <a:solidFill>
                  <a:srgbClr val="7A7A7A"/>
                </a:solidFill>
                <a:latin typeface="Arial"/>
              </a:rPr>
              <a:t>secrets</a:t>
            </a:r>
          </a:p>
        </p:txBody>
      </p:sp>
      <p:cxnSp>
        <p:nvCxnSpPr>
          <p:cNvPr id="51" name="Connector 50"/>
          <p:cNvCxnSpPr/>
          <p:nvPr/>
        </p:nvCxnSpPr>
        <p:spPr>
          <a:xfrm flipH="1">
            <a:off x="8339327" y="4553712"/>
            <a:ext cx="484633" cy="0"/>
          </a:xfrm>
          <a:prstGeom prst="line">
            <a:avLst/>
          </a:prstGeom>
          <a:ln w="22225">
            <a:solidFill>
              <a:srgbClr val="7C4DDB"/>
            </a:solidFill>
            <a:prstDash val="dash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321040" y="4343400"/>
            <a:ext cx="54864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0" i="1">
                <a:solidFill>
                  <a:srgbClr val="7A7A7A"/>
                </a:solidFill>
                <a:latin typeface="Arial"/>
              </a:rPr>
              <a:t>pull</a:t>
            </a:r>
          </a:p>
        </p:txBody>
      </p:sp>
      <p:cxnSp>
        <p:nvCxnSpPr>
          <p:cNvPr id="53" name="Connector 52"/>
          <p:cNvCxnSpPr/>
          <p:nvPr/>
        </p:nvCxnSpPr>
        <p:spPr>
          <a:xfrm flipV="1">
            <a:off x="3291840" y="2880360"/>
            <a:ext cx="658368" cy="274320"/>
          </a:xfrm>
          <a:prstGeom prst="line">
            <a:avLst/>
          </a:prstGeom>
          <a:ln w="22225">
            <a:solidFill>
              <a:srgbClr val="7C4DDB"/>
            </a:solidFill>
            <a:prstDash val="dash"/>
            <a:headEnd type="triangl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3063240" y="2578608"/>
            <a:ext cx="1325880" cy="201168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800" b="0" i="1">
                <a:solidFill>
                  <a:srgbClr val="7A7A7A"/>
                </a:solidFill>
                <a:latin typeface="Arial"/>
              </a:rPr>
              <a:t>tunnel (pod dials out)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20040" y="4297680"/>
            <a:ext cx="2926080" cy="8686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6615" y="4315968"/>
            <a:ext cx="2852928" cy="832103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50" b="1" i="0">
                <a:solidFill>
                  <a:srgbClr val="7C4DDB"/>
                </a:solidFill>
                <a:latin typeface="Arial"/>
              </a:rPr>
              <a:t>Groq LLM API · SMTP</a:t>
            </a:r>
          </a:p>
          <a:p>
            <a:pPr algn="ctr"/>
            <a:r>
              <a:rPr sz="850" b="0" i="0">
                <a:solidFill>
                  <a:srgbClr val="333333"/>
                </a:solidFill>
                <a:latin typeface="Arial"/>
              </a:rPr>
              <a:t>HTTPS / SMTP egress via the AKS outbound IP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3246120" y="4709160"/>
            <a:ext cx="521208" cy="0"/>
          </a:xfrm>
          <a:prstGeom prst="line">
            <a:avLst/>
          </a:prstGeom>
          <a:ln w="22225">
            <a:solidFill>
              <a:srgbClr val="7C4DDB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20040" y="5349240"/>
            <a:ext cx="301752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A7A7A"/>
                </a:solidFill>
                <a:latin typeface="Arial"/>
              </a:rPr>
              <a:t>Azure's inbound public Load Balancer is blocked at subscription level, so the ngrok pod dials out to its edge and relays public traffic to frontend:80 (nginx proxies /api to the backend).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57600" y="5669280"/>
            <a:ext cx="2651760" cy="68580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F39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94176" y="5687568"/>
            <a:ext cx="2578608" cy="6492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39C2C"/>
                </a:solidFill>
                <a:latin typeface="Arial"/>
              </a:rPr>
              <a:t>GitLab CI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secret scan · SCA · SAST · SonarQube · build · Trivy · gate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400800" y="5669280"/>
            <a:ext cx="2651760" cy="68580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F39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37376" y="5687568"/>
            <a:ext cx="2578608" cy="6492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39C2C"/>
                </a:solidFill>
                <a:latin typeface="Arial"/>
              </a:rPr>
              <a:t>deploy-aks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docker build → push to ACR → rollout restart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144000" y="5669280"/>
            <a:ext cx="2651760" cy="68580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F39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80576" y="5687568"/>
            <a:ext cx="2578608" cy="64922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F39C2C"/>
                </a:solidFill>
                <a:latin typeface="Arial"/>
              </a:rPr>
              <a:t>Terraform + Helm</a:t>
            </a:r>
          </a:p>
          <a:p>
            <a:pPr algn="ctr"/>
            <a:r>
              <a:rPr sz="800" b="0" i="0">
                <a:solidFill>
                  <a:srgbClr val="333333"/>
                </a:solidFill>
                <a:latin typeface="Arial"/>
              </a:rPr>
              <a:t>Azure resources (state on HCP Terraform) · chart eam, values per env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04. Implementation: DevSecOps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A1045"/>
                </a:solidFill>
                <a:latin typeface="Arial Black"/>
              </a:rPr>
              <a:t>Security &amp; Quality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691640"/>
            <a:ext cx="1783080" cy="15544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709928"/>
            <a:ext cx="1709928" cy="15179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8CA8"/>
                </a:solidFill>
                <a:latin typeface="Arial"/>
              </a:rPr>
              <a:t>1 · Gitleaks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Secret scanning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of git history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468880"/>
            <a:ext cx="137160" cy="0"/>
          </a:xfrm>
          <a:prstGeom prst="line">
            <a:avLst/>
          </a:prstGeom>
          <a:ln w="19050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31720" y="1691640"/>
            <a:ext cx="1783080" cy="15544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68296" y="1709928"/>
            <a:ext cx="1709928" cy="15179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8CA8"/>
                </a:solidFill>
                <a:latin typeface="Arial"/>
              </a:rPr>
              <a:t>2 · SCA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pip-audit and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pnpm audit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14800" y="2468880"/>
            <a:ext cx="137160" cy="0"/>
          </a:xfrm>
          <a:prstGeom prst="line">
            <a:avLst/>
          </a:prstGeom>
          <a:ln w="19050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60" y="1691640"/>
            <a:ext cx="1783080" cy="15544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88536" y="1709928"/>
            <a:ext cx="1709928" cy="15179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8CA8"/>
                </a:solidFill>
                <a:latin typeface="Arial"/>
              </a:rPr>
              <a:t>3 · SAST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Semgrep rule sets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(auto, explicit, custom)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35040" y="2468880"/>
            <a:ext cx="137160" cy="0"/>
          </a:xfrm>
          <a:prstGeom prst="line">
            <a:avLst/>
          </a:prstGeom>
          <a:ln w="19050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72200" y="1691640"/>
            <a:ext cx="1783080" cy="15544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1709928"/>
            <a:ext cx="1709928" cy="15179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8CA8"/>
                </a:solidFill>
                <a:latin typeface="Arial"/>
              </a:rPr>
              <a:t>4 · SonarQube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Static analysis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and hotspots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55280" y="2468880"/>
            <a:ext cx="137160" cy="0"/>
          </a:xfrm>
          <a:prstGeom prst="line">
            <a:avLst/>
          </a:prstGeom>
          <a:ln w="19050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92440" y="1691640"/>
            <a:ext cx="1783080" cy="15544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29015" y="1709928"/>
            <a:ext cx="1709928" cy="15179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8CA8"/>
                </a:solidFill>
                <a:latin typeface="Arial"/>
              </a:rPr>
              <a:t>5 · Build + Trivy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Docker images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and IaC scan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75519" y="2468880"/>
            <a:ext cx="137161" cy="0"/>
          </a:xfrm>
          <a:prstGeom prst="line">
            <a:avLst/>
          </a:prstGeom>
          <a:ln w="19050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12680" y="1691640"/>
            <a:ext cx="1783080" cy="15544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9255" y="1709928"/>
            <a:ext cx="1709928" cy="15179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8CA8"/>
                </a:solidFill>
                <a:latin typeface="Arial"/>
              </a:rPr>
              <a:t>6 · Quality gate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Final blocking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check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520440"/>
            <a:ext cx="11338560" cy="566928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20440"/>
            <a:ext cx="11064240" cy="5669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D0101A"/>
                </a:solidFill>
                <a:latin typeface="Arial"/>
              </a:rPr>
              <a:t>Blocking: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stages 1-6.  </a:t>
            </a:r>
            <a:r>
              <a:rPr sz="1200" b="1" i="0">
                <a:solidFill>
                  <a:srgbClr val="000000"/>
                </a:solidFill>
                <a:latin typeface="Arial"/>
              </a:rPr>
              <a:t>Non-blocking: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lint.  </a:t>
            </a:r>
            <a:r>
              <a:rPr sz="1200" b="1" i="0">
                <a:solidFill>
                  <a:srgbClr val="000000"/>
                </a:solidFill>
                <a:latin typeface="Arial"/>
              </a:rPr>
              <a:t>OWASP ZAP DAST </a:t>
            </a:r>
            <a:r>
              <a:rPr sz="1200" b="0" i="0">
                <a:solidFill>
                  <a:srgbClr val="000000"/>
                </a:solidFill>
                <a:latin typeface="Arial"/>
              </a:rPr>
              <a:t>logs in as all 4 roles and probes the running stack; results feed Grafana.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2560320" cy="150876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8CC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0" i="0">
                <a:solidFill>
                  <a:srgbClr val="8CC63F"/>
                </a:solidFill>
                <a:latin typeface="Arial Black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new violations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4434840"/>
            <a:ext cx="2560320" cy="150876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8CC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0" y="452628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0" i="0">
                <a:solidFill>
                  <a:srgbClr val="8CC63F"/>
                </a:solidFill>
                <a:latin typeface="Arial Black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34924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hotspots reviewed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92240" y="4434840"/>
            <a:ext cx="2560320" cy="150876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8CC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52628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0" i="0">
                <a:solidFill>
                  <a:srgbClr val="8CC63F"/>
                </a:solidFill>
                <a:latin typeface="Arial Black"/>
              </a:rPr>
              <a:t>2.6%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34924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duplication (was 10.3%)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326880" y="4434840"/>
            <a:ext cx="2560320" cy="1508760"/>
          </a:xfrm>
          <a:prstGeom prst="roundRect">
            <a:avLst>
              <a:gd name="adj" fmla="val 12000"/>
            </a:avLst>
          </a:prstGeom>
          <a:noFill/>
          <a:ln w="28575">
            <a:solidFill>
              <a:srgbClr val="8CC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0" y="452628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0" i="0">
                <a:solidFill>
                  <a:srgbClr val="8CC63F"/>
                </a:solidFill>
                <a:latin typeface="Arial Black"/>
              </a:rPr>
              <a:t>74.8%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349240"/>
            <a:ext cx="25603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0" i="0">
                <a:solidFill>
                  <a:srgbClr val="000000"/>
                </a:solidFill>
                <a:latin typeface="Arial"/>
              </a:rPr>
              <a:t>coverage (target 70%)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035040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1">
                <a:solidFill>
                  <a:srgbClr val="7A7A7A"/>
                </a:solidFill>
                <a:latin typeface="Arial"/>
              </a:rPr>
              <a:t>Quality gate: fully green on the EAMSagemCom project (branch Phase_2)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04. Implementation: DevSecOps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A1045"/>
                </a:solidFill>
                <a:latin typeface="Arial Black"/>
              </a:rPr>
              <a:t>Security Pipeline: Live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24</a:t>
            </a:r>
          </a:p>
        </p:txBody>
      </p:sp>
      <p:pic>
        <p:nvPicPr>
          <p:cNvPr id="6" name="Picture 5" descr="so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828800"/>
            <a:ext cx="3657600" cy="18597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" y="3840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A1045"/>
                </a:solidFill>
                <a:latin typeface="Arial"/>
              </a:rPr>
              <a:t>SonarQube quality gate</a:t>
            </a:r>
          </a:p>
        </p:txBody>
      </p:sp>
      <p:pic>
        <p:nvPicPr>
          <p:cNvPr id="8" name="Picture 7" descr="tri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1960" y="1828800"/>
            <a:ext cx="3657600" cy="18454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51960" y="3840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A1045"/>
                </a:solidFill>
                <a:latin typeface="Arial"/>
              </a:rPr>
              <a:t>Trivy image scan</a:t>
            </a:r>
          </a:p>
        </p:txBody>
      </p:sp>
      <p:pic>
        <p:nvPicPr>
          <p:cNvPr id="10" name="Picture 9" descr="z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828800"/>
            <a:ext cx="3657600" cy="1828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2440" y="3840480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A1045"/>
                </a:solidFill>
                <a:latin typeface="Arial"/>
              </a:rPr>
              <a:t>OWASP ZAP DAST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572000"/>
            <a:ext cx="11338560" cy="12801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0" i="1">
                <a:solidFill>
                  <a:srgbClr val="000000"/>
                </a:solidFill>
                <a:latin typeface="Arial"/>
              </a:rPr>
              <a:t>Live dashboards from the running SonarQube and Grafana instances of this project, not mockups.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04. Implementation: Machine Learning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A1045"/>
                </a:solidFill>
                <a:latin typeface="Arial Black"/>
              </a:rPr>
              <a:t>Machine Learning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1965960" cy="402336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2FA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1755648"/>
            <a:ext cx="1892807" cy="39867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2FA4E7"/>
                </a:solidFill>
                <a:latin typeface="Arial"/>
              </a:rPr>
              <a:t>Sensor telemetry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air temperature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process temperature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rotational speed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torque</a:t>
            </a:r>
          </a:p>
          <a:p>
            <a:pPr algn="ctr"/>
            <a:r>
              <a:rPr sz="1100" b="0" i="0">
                <a:solidFill>
                  <a:srgbClr val="333333"/>
                </a:solidFill>
                <a:latin typeface="Arial"/>
              </a:rPr>
              <a:t>tool wear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3749039"/>
            <a:ext cx="32004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51760" y="3108960"/>
            <a:ext cx="1691640" cy="128016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88336" y="3127248"/>
            <a:ext cx="1618488" cy="124358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A1045"/>
                </a:solidFill>
                <a:latin typeface="Arial"/>
              </a:rPr>
              <a:t>Feature pipeline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heat build-up and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workload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3749039"/>
            <a:ext cx="32004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663440" y="1600200"/>
            <a:ext cx="3246120" cy="2103120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F39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627632"/>
            <a:ext cx="31546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39C2C"/>
                </a:solidFill>
                <a:latin typeface="Arial"/>
              </a:rPr>
              <a:t>7 models in parallel (P1-P7)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920240"/>
            <a:ext cx="3017520" cy="2468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P1 Failure chance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67128"/>
            <a:ext cx="3017520" cy="2468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P2 Failure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414016"/>
            <a:ext cx="3017520" cy="2468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P3 Life left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660904"/>
            <a:ext cx="3017520" cy="2468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P4 Odd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907792"/>
            <a:ext cx="3017520" cy="2468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P5 Urgency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154680"/>
            <a:ext cx="3017520" cy="2468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P6 Best timing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3401568"/>
            <a:ext cx="3017520" cy="24688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P7 Parts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3840480"/>
            <a:ext cx="3246120" cy="1920240"/>
          </a:xfrm>
          <a:prstGeom prst="roundRect">
            <a:avLst>
              <a:gd name="adj" fmla="val 6000"/>
            </a:avLst>
          </a:prstGeom>
          <a:noFill/>
          <a:ln w="2857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3867912"/>
            <a:ext cx="31546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B8CA8"/>
                </a:solidFill>
                <a:latin typeface="Arial"/>
              </a:rPr>
              <a:t>4 Wave 2 signals (history)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4187952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PINN: keeps estimates realistic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4553712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Cox PH: how long it can 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4919472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Mahalanobis: off its own normal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285232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000000"/>
                </a:solidFill>
                <a:latin typeface="Arial"/>
              </a:rPr>
              <a:t>CUSUM + Kalman: slow decline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09560" y="2651760"/>
            <a:ext cx="365760" cy="91440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909560" y="3931920"/>
            <a:ext cx="365760" cy="86868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75320" y="3200400"/>
            <a:ext cx="1691640" cy="10972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6" y="3218688"/>
            <a:ext cx="1618488" cy="10607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D0101A"/>
                </a:solidFill>
                <a:latin typeface="Arial"/>
              </a:rPr>
              <a:t>DST fusion</a:t>
            </a:r>
          </a:p>
          <a:p>
            <a:pPr algn="ctr"/>
            <a:r>
              <a:rPr sz="950" b="0" i="0">
                <a:solidFill>
                  <a:srgbClr val="333333"/>
                </a:solidFill>
                <a:latin typeface="Arial"/>
              </a:rPr>
              <a:t>Dempster-Shafer;</a:t>
            </a:r>
          </a:p>
          <a:p>
            <a:pPr algn="ctr"/>
            <a:r>
              <a:rPr sz="950" b="0" i="0">
                <a:solidFill>
                  <a:srgbClr val="333333"/>
                </a:solidFill>
                <a:latin typeface="Arial"/>
              </a:rPr>
              <a:t>says 'not sure'</a:t>
            </a:r>
          </a:p>
          <a:p>
            <a:pPr algn="ctr"/>
            <a:r>
              <a:rPr sz="950" b="0" i="0">
                <a:solidFill>
                  <a:srgbClr val="333333"/>
                </a:solidFill>
                <a:latin typeface="Arial"/>
              </a:rPr>
              <a:t>on conflict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66960" y="3749039"/>
            <a:ext cx="27432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0241280" y="3017520"/>
            <a:ext cx="1600200" cy="14630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8CC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77855" y="3035808"/>
            <a:ext cx="1527048" cy="14264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8CC63F"/>
                </a:solidFill>
                <a:latin typeface="Arial"/>
              </a:rPr>
              <a:t>Health score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0-100 +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plain-language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verdict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943600"/>
            <a:ext cx="114300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1">
                <a:solidFill>
                  <a:srgbClr val="7A7A7A"/>
                </a:solidFill>
                <a:latin typeface="Arial"/>
              </a:rPr>
              <a:t>A score is shown only when the evidence is confident; every result is logged for audit and retraining.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04. Implementation: Machine Learning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800" b="0" i="0">
                <a:solidFill>
                  <a:srgbClr val="0A1045"/>
                </a:solidFill>
                <a:latin typeface="Arial Black"/>
              </a:rPr>
              <a:t>Models &amp; Why They Were Chosen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6085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6000"/>
                <a:gridCol w="2651760"/>
                <a:gridCol w="310896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Problem</a:t>
                      </a:r>
                    </a:p>
                  </a:txBody>
                  <a:tcPr marL="54864" marR="54864" marT="18288" marB="18288" anchor="ctr">
                    <a:solidFill>
                      <a:srgbClr val="0A1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Model used</a:t>
                      </a:r>
                    </a:p>
                  </a:txBody>
                  <a:tcPr marL="54864" marR="54864" marT="18288" marB="18288" anchor="ctr">
                    <a:solidFill>
                      <a:srgbClr val="0A1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Alternatives considered</a:t>
                      </a:r>
                    </a:p>
                  </a:txBody>
                  <a:tcPr marL="54864" marR="54864" marT="18288" marB="18288" anchor="ctr">
                    <a:solidFill>
                      <a:srgbClr val="0A10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Why this one</a:t>
                      </a:r>
                    </a:p>
                  </a:txBody>
                  <a:tcPr marL="54864" marR="54864" marT="18288" marB="18288" anchor="ctr">
                    <a:solidFill>
                      <a:srgbClr val="0A104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P1 Failure probability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XGBoost + SMOTE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Random Forest, logistic regression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Non-linear, imbalanced sensor data</a:t>
                      </a:r>
                    </a:p>
                  </a:txBody>
                  <a:tcPr marL="54864" marR="54864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P2 Failure type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Multi-output XGBoost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Multi-output Random Forest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Higher F1 on rare failure modes</a:t>
                      </a:r>
                    </a:p>
                  </a:txBody>
                  <a:tcPr marL="54864" marR="54864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P3 Remaining life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XGBoost + quantile heads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Hand-coded linear regression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Calibrated uncertainty range (MAE 14.95)</a:t>
                      </a:r>
                    </a:p>
                  </a:txBody>
                  <a:tcPr marL="54864" marR="54864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P4 Anomaly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4-method ensemble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Isolation Forest or autoencoder alone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Catches shapes a single method misses</a:t>
                      </a:r>
                    </a:p>
                  </a:txBody>
                  <a:tcPr marL="54864" marR="54864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P5 Priority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XGBoost multi-class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Rule-based heuristic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Learns patterns, not fixed thresholds</a:t>
                      </a:r>
                    </a:p>
                  </a:txBody>
                  <a:tcPr marL="54864" marR="54864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P6 Schedule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XGBoost classifier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Prophet, ARIMA, LSTM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Robust on sparse per-machine data</a:t>
                      </a:r>
                    </a:p>
                  </a:txBody>
                  <a:tcPr marL="54864" marR="54864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P7 Parts demand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Survival + Croston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Reorder point, moving average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Built for bursty, intermittent demand</a:t>
                      </a:r>
                    </a:p>
                  </a:txBody>
                  <a:tcPr marL="54864" marR="54864" marT="18288" marB="18288" anchor="ctr"/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000000"/>
                          </a:solidFill>
                          <a:latin typeface="Arial"/>
                        </a:rPr>
                        <a:t>Wave 2 fusion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Dempster-Shafer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Weighted average, majority vote</a:t>
                      </a:r>
                    </a:p>
                  </a:txBody>
                  <a:tcPr marL="54864" marR="54864" marT="18288" marB="18288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Arial"/>
                        </a:rPr>
                        <a:t>Reports uncertainty, no forced consensus</a:t>
                      </a:r>
                    </a:p>
                  </a:txBody>
                  <a:tcPr marL="54864" marR="54864" marT="18288" marB="1828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04. Implementation: RAG Assistant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A1045"/>
                </a:solidFill>
                <a:latin typeface="Arial Black"/>
              </a:rPr>
              <a:t>Conversational RAG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D0101A"/>
                </a:solidFill>
                <a:latin typeface="Arial"/>
              </a:rPr>
              <a:t>Ingestion (admin, once per document)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65960"/>
            <a:ext cx="2468880" cy="10972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984248"/>
            <a:ext cx="2395728" cy="10607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8CA8"/>
                </a:solidFill>
                <a:latin typeface="Arial"/>
              </a:rPr>
              <a:t>Upload</a:t>
            </a:r>
          </a:p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PDF / docs via</a:t>
            </a:r>
          </a:p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backend (ADMIN)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514600"/>
            <a:ext cx="36576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1965960"/>
            <a:ext cx="2468880" cy="10972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8416" y="1984248"/>
            <a:ext cx="2395728" cy="10607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8CA8"/>
                </a:solidFill>
                <a:latin typeface="Arial"/>
              </a:rPr>
              <a:t>MinIO</a:t>
            </a:r>
          </a:p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bucket rag-docs</a:t>
            </a:r>
          </a:p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stored first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720" y="2514600"/>
            <a:ext cx="36576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126480" y="1965960"/>
            <a:ext cx="2468880" cy="10972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3056" y="1984248"/>
            <a:ext cx="2395728" cy="10607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8CA8"/>
                </a:solidFill>
                <a:latin typeface="Arial"/>
              </a:rPr>
              <a:t>Chunk + embed</a:t>
            </a:r>
          </a:p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BAAI/bge-m3</a:t>
            </a:r>
          </a:p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via RAG service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95360" y="2514600"/>
            <a:ext cx="36576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961120" y="1965960"/>
            <a:ext cx="2468880" cy="109728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984248"/>
            <a:ext cx="2395728" cy="106070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 i="0">
                <a:solidFill>
                  <a:srgbClr val="0B8CA8"/>
                </a:solidFill>
                <a:latin typeface="Arial"/>
              </a:rPr>
              <a:t>pgvector</a:t>
            </a:r>
          </a:p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chunks stored in</a:t>
            </a:r>
          </a:p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>
                <a:solidFill>
                  <a:srgbClr val="D0101A"/>
                </a:solidFill>
                <a:latin typeface="Arial"/>
              </a:rPr>
              <a:t>Query (every chat message)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920240" cy="118872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2FA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6" y="3858768"/>
            <a:ext cx="1847088" cy="11521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2FA4E7"/>
                </a:solidFill>
                <a:latin typeface="Arial"/>
              </a:rPr>
              <a:t>Question</a:t>
            </a:r>
          </a:p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+ machine_id</a:t>
            </a:r>
          </a:p>
          <a:p>
            <a:pPr algn="ctr"/>
            <a:r>
              <a:rPr sz="1050" b="0" i="0">
                <a:solidFill>
                  <a:srgbClr val="333333"/>
                </a:solidFill>
                <a:latin typeface="Arial"/>
              </a:rPr>
              <a:t>from the machine page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2377440" y="3794760"/>
            <a:ext cx="365760" cy="64008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377440" y="4434840"/>
            <a:ext cx="365760" cy="64008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43200" y="3291840"/>
            <a:ext cx="2743200" cy="10058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F39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79776" y="3310128"/>
            <a:ext cx="2670048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39C2C"/>
                </a:solidFill>
                <a:latin typeface="Arial"/>
              </a:rPr>
              <a:t>Document retrieval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hybrid (vector + keyword)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+ cross-encoder rerank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572000"/>
            <a:ext cx="2743200" cy="100584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F39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79776" y="4590288"/>
            <a:ext cx="2670048" cy="96926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F39C2C"/>
                </a:solidFill>
                <a:latin typeface="Arial"/>
              </a:rPr>
              <a:t>Live ML snapshot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unified health of the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machine, in parallel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4315968"/>
            <a:ext cx="2560320" cy="2377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00" b="0" i="1">
                <a:solidFill>
                  <a:srgbClr val="7A7A7A"/>
                </a:solidFill>
                <a:latin typeface="Arial"/>
              </a:rPr>
              <a:t>fetched in parallel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0" y="3794760"/>
            <a:ext cx="457200" cy="64008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486400" y="4434840"/>
            <a:ext cx="457200" cy="64008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943600" y="3840480"/>
            <a:ext cx="2286000" cy="118872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7C4D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0176" y="3858768"/>
            <a:ext cx="2212848" cy="11521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7C4DDB"/>
                </a:solidFill>
                <a:latin typeface="Arial"/>
              </a:rPr>
              <a:t>Prompt + Groq LLM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ML block injected just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before the question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229600" y="4434840"/>
            <a:ext cx="365760" cy="0"/>
          </a:xfrm>
          <a:prstGeom prst="line">
            <a:avLst/>
          </a:prstGeom>
          <a:ln w="22225">
            <a:solidFill>
              <a:srgbClr val="0A1045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8595360" y="3840480"/>
            <a:ext cx="3108960" cy="1188720"/>
          </a:xfrm>
          <a:prstGeom prst="roundRect">
            <a:avLst>
              <a:gd name="adj" fmla="val 12000"/>
            </a:avLst>
          </a:prstGeom>
          <a:noFill/>
          <a:ln w="22225">
            <a:solidFill>
              <a:srgbClr val="8CC6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31936" y="3858768"/>
            <a:ext cx="3035808" cy="1152144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8CC63F"/>
                </a:solidFill>
                <a:latin typeface="Arial"/>
              </a:rPr>
              <a:t>Grounded answer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docs + what the machine is</a:t>
            </a:r>
          </a:p>
          <a:p>
            <a:pPr algn="ctr"/>
            <a:r>
              <a:rPr sz="1000" b="0" i="0">
                <a:solidFill>
                  <a:srgbClr val="333333"/>
                </a:solidFill>
                <a:latin typeface="Arial"/>
              </a:rPr>
              <a:t>doing right now · ml_context_used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76072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0" i="1">
                <a:solidFill>
                  <a:srgbClr val="7A7A7A"/>
                </a:solidFill>
                <a:latin typeface="Arial"/>
              </a:rPr>
              <a:t>If the ML service is down the assistant still answers: a rule-based fallback score keeps the context block valid.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04. Design: Data Model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28</a:t>
            </a:r>
          </a:p>
        </p:txBody>
      </p:sp>
      <p:pic>
        <p:nvPicPr>
          <p:cNvPr id="6" name="Picture 5" descr="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463040"/>
            <a:ext cx="370332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69080" y="1463040"/>
            <a:ext cx="7680960" cy="402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05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05. Demo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00" b="0" i="0">
                <a:solidFill>
                  <a:srgbClr val="0A1045"/>
                </a:solidFill>
                <a:latin typeface="Arial Black"/>
              </a:rPr>
              <a:t>Features Delivered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pic>
        <p:nvPicPr>
          <p:cNvPr id="6" name="Picture 5" descr="fea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00200"/>
            <a:ext cx="3657600" cy="17310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50215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A1045"/>
                </a:solidFill>
                <a:latin typeface="Arial"/>
              </a:rPr>
              <a:t>Head Technician dashboard</a:t>
            </a:r>
          </a:p>
        </p:txBody>
      </p:sp>
      <p:pic>
        <p:nvPicPr>
          <p:cNvPr id="8" name="Picture 7" descr="fea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23360"/>
            <a:ext cx="3657600" cy="173593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92531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A1045"/>
                </a:solidFill>
                <a:latin typeface="Arial"/>
              </a:rPr>
              <a:t>Per-machine ML intelligence</a:t>
            </a:r>
          </a:p>
        </p:txBody>
      </p:sp>
      <p:pic>
        <p:nvPicPr>
          <p:cNvPr id="10" name="Picture 9" descr="feat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600200"/>
            <a:ext cx="3657600" cy="1733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350215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A1045"/>
                </a:solidFill>
                <a:latin typeface="Arial"/>
              </a:rPr>
              <a:t>Conversational RAG assistant</a:t>
            </a:r>
          </a:p>
        </p:txBody>
      </p:sp>
      <p:pic>
        <p:nvPicPr>
          <p:cNvPr id="12" name="Picture 11" descr="feat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4023360"/>
            <a:ext cx="3657600" cy="17405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5925312"/>
            <a:ext cx="3657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 i="0">
                <a:solidFill>
                  <a:srgbClr val="0A1045"/>
                </a:solidFill>
                <a:latin typeface="Arial"/>
              </a:rPr>
              <a:t>Secure authentication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05. Demo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A1045"/>
                </a:solidFill>
                <a:latin typeface="Arial Black"/>
              </a:rPr>
              <a:t>Live Walkthrough of the Nine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31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474720" cy="7315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5486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D0101A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91640"/>
            <a:ext cx="2788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Authentication &amp; authorization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3474720" cy="7315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486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D0101A"/>
                </a:solidFill>
                <a:latin typeface="Arial Blac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606040"/>
            <a:ext cx="2788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Machine management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3474720" cy="7315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5486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D0101A"/>
                </a:solidFill>
                <a:latin typeface="Arial Blac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20440"/>
            <a:ext cx="2788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Order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1691640"/>
            <a:ext cx="3474720" cy="7315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1999" y="1691640"/>
            <a:ext cx="5486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D0101A"/>
                </a:solidFill>
                <a:latin typeface="Arial Black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691640"/>
            <a:ext cx="2788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Scheduling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2606040"/>
            <a:ext cx="3474720" cy="7315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2606040"/>
            <a:ext cx="5486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D0101A"/>
                </a:solidFill>
                <a:latin typeface="Arial Black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2606040"/>
            <a:ext cx="2788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ML predictions (P1-P7)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520440"/>
            <a:ext cx="3474720" cy="7315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3520440"/>
            <a:ext cx="5486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D0101A"/>
                </a:solidFill>
                <a:latin typeface="Arial Black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3520440"/>
            <a:ext cx="2788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Alerts &amp; notifications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1691640"/>
            <a:ext cx="3474720" cy="7315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1691640"/>
            <a:ext cx="5486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D0101A"/>
                </a:solidFill>
                <a:latin typeface="Arial Black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1691640"/>
            <a:ext cx="2788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Conversational assistant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2606040"/>
            <a:ext cx="3474720" cy="7315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606040"/>
            <a:ext cx="5486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D0101A"/>
                </a:solidFill>
                <a:latin typeface="Arial Black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2606040"/>
            <a:ext cx="2788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Dashboards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520440"/>
            <a:ext cx="3474720" cy="731520"/>
          </a:xfrm>
          <a:prstGeom prst="roundRect">
            <a:avLst>
              <a:gd name="adj" fmla="val 12000"/>
            </a:avLst>
          </a:prstGeom>
          <a:noFill/>
          <a:ln w="25400">
            <a:solidFill>
              <a:srgbClr val="0A10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520440"/>
            <a:ext cx="54864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0" i="0">
                <a:solidFill>
                  <a:srgbClr val="D0101A"/>
                </a:solidFill>
                <a:latin typeface="Arial Black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3520440"/>
            <a:ext cx="278892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Arial"/>
              </a:rPr>
              <a:t>Archiving &amp; traceability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26080" y="4754880"/>
            <a:ext cx="6309360" cy="1188720"/>
          </a:xfrm>
          <a:prstGeom prst="roundRect">
            <a:avLst>
              <a:gd name="adj" fmla="val 20000"/>
            </a:avLst>
          </a:prstGeom>
          <a:noFill/>
          <a:ln w="38100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4754880"/>
            <a:ext cx="6309360" cy="11887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 i="0">
                <a:solidFill>
                  <a:srgbClr val="D0101A"/>
                </a:solidFill>
                <a:latin typeface="Arial"/>
              </a:rPr>
              <a:t>▶  Narrated demo video</a:t>
            </a:r>
          </a:p>
          <a:p>
            <a:pPr algn="ctr"/>
            <a:r>
              <a:rPr sz="1400" b="0" i="0">
                <a:solidFill>
                  <a:srgbClr val="000000"/>
                </a:solidFill>
                <a:latin typeface="Arial"/>
              </a:rPr>
              <a:t>end-to-end · all four roles · 6:47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069080" y="1463040"/>
            <a:ext cx="7680960" cy="40233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06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Conclusion</a:t>
            </a:r>
          </a:p>
          <a:p>
            <a:pPr algn="l"/>
            <a:r>
              <a:rPr sz="4800" b="0" i="0">
                <a:solidFill>
                  <a:srgbClr val="000000"/>
                </a:solidFill>
                <a:latin typeface="Arial Black"/>
              </a:rPr>
              <a:t>&amp;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06. 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A1045"/>
                </a:solidFill>
                <a:latin typeface="Arial Black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554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000000"/>
                </a:solidFill>
                <a:latin typeface="Arial Black"/>
              </a:rPr>
              <a:t>A solid EAM foundation and an honest predictive AI, secured and deployable on Azure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3246120"/>
            <a:ext cx="9235440" cy="621792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37360" y="3246120"/>
            <a:ext cx="877824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→  </a:t>
            </a:r>
            <a:r>
              <a:rPr sz="1400" b="1" i="0">
                <a:solidFill>
                  <a:srgbClr val="000000"/>
                </a:solidFill>
                <a:latin typeface="Arial"/>
              </a:rPr>
              <a:t>Operational management + 7 ML models + RAG assistant, in one platform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4023359"/>
            <a:ext cx="9235440" cy="621792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4023359"/>
            <a:ext cx="877824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→  </a:t>
            </a:r>
            <a:r>
              <a:rPr sz="1400" b="1" i="0">
                <a:solidFill>
                  <a:srgbClr val="000000"/>
                </a:solidFill>
                <a:latin typeface="Arial"/>
              </a:rPr>
              <a:t>Every feature specified, planned, built, then verified, with full traceability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4800600"/>
            <a:ext cx="9235440" cy="621792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4800600"/>
            <a:ext cx="877824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→  </a:t>
            </a:r>
            <a:r>
              <a:rPr sz="1400" b="1" i="0">
                <a:solidFill>
                  <a:srgbClr val="000000"/>
                </a:solidFill>
                <a:latin typeface="Arial"/>
              </a:rPr>
              <a:t>Honest rigor: label leakage was detected and reported, not hidden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5577840"/>
            <a:ext cx="9235440" cy="621792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0B8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5577840"/>
            <a:ext cx="877824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Arial"/>
              </a:rPr>
              <a:t>→  </a:t>
            </a:r>
            <a:r>
              <a:rPr sz="1400" b="1" i="0">
                <a:solidFill>
                  <a:srgbClr val="000000"/>
                </a:solidFill>
                <a:latin typeface="Arial"/>
              </a:rPr>
              <a:t>Secured by a 6-stage pipeline; staging and prod namespaces running on AKS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1" i="0" spc="200">
                <a:solidFill>
                  <a:srgbClr val="D0101A"/>
                </a:solidFill>
                <a:latin typeface="Arial"/>
              </a:rPr>
              <a:t>06. Perspectives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68580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49808"/>
            <a:ext cx="11274552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0A1045"/>
                </a:solidFill>
                <a:latin typeface="Arial Black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34</a:t>
            </a:r>
          </a:p>
        </p:txBody>
      </p:sp>
      <p:sp>
        <p:nvSpPr>
          <p:cNvPr id="6" name="Oval 5"/>
          <p:cNvSpPr/>
          <p:nvPr/>
        </p:nvSpPr>
        <p:spPr>
          <a:xfrm>
            <a:off x="4023360" y="2103120"/>
            <a:ext cx="4114800" cy="4114800"/>
          </a:xfrm>
          <a:prstGeom prst="ellipse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54880" y="2834640"/>
            <a:ext cx="2651760" cy="26517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2834640"/>
            <a:ext cx="2651760" cy="2651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600" b="0" i="0">
                <a:solidFill>
                  <a:srgbClr val="0A1045"/>
                </a:solidFill>
                <a:latin typeface="Arial Black"/>
              </a:rPr>
              <a:t>What's</a:t>
            </a:r>
          </a:p>
          <a:p>
            <a:pPr algn="ctr"/>
            <a:r>
              <a:rPr sz="2600" b="0" i="0">
                <a:solidFill>
                  <a:srgbClr val="0A1045"/>
                </a:solidFill>
                <a:latin typeface="Arial Black"/>
              </a:rPr>
              <a:t>Next?</a:t>
            </a:r>
          </a:p>
        </p:txBody>
      </p:sp>
      <p:sp>
        <p:nvSpPr>
          <p:cNvPr id="9" name="Hexagon 8"/>
          <p:cNvSpPr/>
          <p:nvPr/>
        </p:nvSpPr>
        <p:spPr>
          <a:xfrm>
            <a:off x="457200" y="1600200"/>
            <a:ext cx="3611880" cy="1143000"/>
          </a:xfrm>
          <a:prstGeom prst="hexagon">
            <a:avLst/>
          </a:prstGeom>
          <a:noFill/>
          <a:ln w="28575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00200"/>
            <a:ext cx="27432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Real ground-truth data to resolve the leaked labels (P1 / P2 / P5)</a:t>
            </a:r>
          </a:p>
        </p:txBody>
      </p:sp>
      <p:sp>
        <p:nvSpPr>
          <p:cNvPr id="11" name="Hexagon 10"/>
          <p:cNvSpPr/>
          <p:nvPr/>
        </p:nvSpPr>
        <p:spPr>
          <a:xfrm>
            <a:off x="8138160" y="1600200"/>
            <a:ext cx="3611880" cy="1143000"/>
          </a:xfrm>
          <a:prstGeom prst="hexagon">
            <a:avLst/>
          </a:prstGeom>
          <a:noFill/>
          <a:ln w="28575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1600200"/>
            <a:ext cx="27432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Public inbound path on AKS (resolve the Load Balancer quota)</a:t>
            </a:r>
          </a:p>
        </p:txBody>
      </p:sp>
      <p:sp>
        <p:nvSpPr>
          <p:cNvPr id="13" name="Hexagon 12"/>
          <p:cNvSpPr/>
          <p:nvPr/>
        </p:nvSpPr>
        <p:spPr>
          <a:xfrm>
            <a:off x="457200" y="5120640"/>
            <a:ext cx="3611880" cy="1143000"/>
          </a:xfrm>
          <a:prstGeom prst="hexagon">
            <a:avLst/>
          </a:prstGeom>
          <a:noFill/>
          <a:ln w="28575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27432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Production hardening: HA database, autoscaling, centralized logs</a:t>
            </a:r>
          </a:p>
        </p:txBody>
      </p:sp>
      <p:sp>
        <p:nvSpPr>
          <p:cNvPr id="15" name="Hexagon 14"/>
          <p:cNvSpPr/>
          <p:nvPr/>
        </p:nvSpPr>
        <p:spPr>
          <a:xfrm>
            <a:off x="8138160" y="5120640"/>
            <a:ext cx="3611880" cy="1143000"/>
          </a:xfrm>
          <a:prstGeom prst="hexagon">
            <a:avLst/>
          </a:prstGeom>
          <a:noFill/>
          <a:ln w="28575">
            <a:solidFill>
              <a:srgbClr val="D010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0" y="5120640"/>
            <a:ext cx="2743200" cy="11430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Managed object storage and secret rotation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spri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"/>
            <a:ext cx="2377440" cy="879815"/>
          </a:xfrm>
          <a:prstGeom prst="rect">
            <a:avLst/>
          </a:prstGeom>
        </p:spPr>
      </p:pic>
      <p:pic>
        <p:nvPicPr>
          <p:cNvPr id="3" name="Picture 2" descr="sagemc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137160"/>
            <a:ext cx="1554480" cy="1554480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099048" y="0"/>
            <a:ext cx="0" cy="109728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6099048" y="6035040"/>
            <a:ext cx="0" cy="82296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97280" y="2286000"/>
            <a:ext cx="9966960" cy="1645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4400" b="0" i="0">
                <a:solidFill>
                  <a:srgbClr val="0A1045"/>
                </a:solidFill>
                <a:latin typeface="Arial Black"/>
              </a:rPr>
              <a:t>Thank You for your</a:t>
            </a:r>
          </a:p>
          <a:p>
            <a:pPr algn="ctr"/>
            <a:r>
              <a:rPr sz="4400" b="0" i="0">
                <a:solidFill>
                  <a:srgbClr val="0A1045"/>
                </a:solidFill>
                <a:latin typeface="Arial Black"/>
              </a:rPr>
              <a:t>Attention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9966960" cy="7315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000" b="0" i="0">
                <a:solidFill>
                  <a:srgbClr val="D0101A"/>
                </a:solidFill>
                <a:latin typeface="Arial Black"/>
              </a:rPr>
              <a:t>Any Questions?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r"/>
            <a:r>
              <a:rPr sz="1200" b="0" i="0">
                <a:solidFill>
                  <a:srgbClr val="000000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