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6" r:id="rId46"/>
    <p:sldId id="275" r:id="rId20"/>
    <p:sldId id="295" r:id="rId45"/>
    <p:sldId id="276" r:id="rId21"/>
    <p:sldId id="294" r:id="rId44"/>
    <p:sldId id="277" r:id="rId22"/>
    <p:sldId id="293" r:id="rId43"/>
    <p:sldId id="278" r:id="rId23"/>
    <p:sldId id="279" r:id="rId24"/>
    <p:sldId id="280" r:id="rId25"/>
    <p:sldId id="292" r:id="rId42"/>
    <p:sldId id="281" r:id="rId26"/>
    <p:sldId id="282" r:id="rId27"/>
    <p:sldId id="291" r:id="rId41"/>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admin uploads through the backend; the file goes to MinIO first and the upload is rolled back if ingestion fails. Step 2: the RAG service chunks the document and embeds each chunk with BAAI/bge-m3; vectors are stored in PostgreSQL with pgvector. Step 3: the chat request carries the machine_id of the page. Step 4: hybrid retrieval (vector plus keyword search, reranked by bge-reranker-v2-m3) runs in parallel with the live ML snapshot of the machine. Step 5: the ML block is injected just before the question and the prompt is sent to the Groq LLM. Step 6: the answer is grounded in both the documentation and the real-time machine state; the response field ml_context_used shows whether live data was included. If the ML service is down, the rule-based fallback score still provides a valid context block.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starts from five sensor readings per machine: air temperature, process temperature, rotational speed, torque and tool wear. The feature pipeline derives extra signals from them, such as the temperature difference between process and air (heat build-up) and mechanical power, torque times speed (workload). Two groups of models then run in parallel. P1 to P7 work on the current snapshot: failure probability (XGBoost), failure type, remaining useful life, anomaly detection (a four-method ensemble), priority, maintenance schedule and parts demand. The Wave 2 signals work on the telemetry history: the PINN keeps remaining-life estimates physically realistic, the Cox proportional-hazards survival model estimates time to failure, the Mahalanobis health index measures how far the machine is from its own healthy baseline, and CUSUM with a Kalman filter detects slow cumulative drift. Dempster-Shafer evidence fusion combines the signals over four states, Healthy, Degrading, Critical and Unknown, switching to Yager's rule when the conflict is high so that disagreement is reported as uncertainty. The output is a 0-100 health score with a plain-language verdict, and every result is logged for audit and retraining.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flows. Ingestion, once per document: an administrator uploads a file through the backend; it is stored first in MinIO (bucket rag-docs), then the RAG service splits it into chunks, embeds each chunk with BAAI/bge-m3 and stores the vectors in PostgreSQL with pgvector. If ingestion fails, the upload is rolled back. Query, on every chat message: the question arrives with the machine_id of the page it was asked from. Two fetches run in parallel: hybrid retrieval (vector search plus keyword search, then a cross-encoder reranker, bge-reranker-v2-m3) and a live ML snapshot of that machine (unified health score, verdict, risk, RUL, anomaly, priority, parts, latest sensors). The ML block is injected into the prompt just before the question and sent to the Groq LLM. The response carries ml_context_used to prove live data was included. If the ML service is down, a rule-based fallback score keeps the context block valid, so the assistant still answers.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graphicFrame>
        <p:nvGraphicFramePr>
          <p:cNvPr id="6" name="Table 5"/>
          <p:cNvGraphicFramePr>
            <a:graphicFrameLocks noGrp="1"/>
          </p:cNvGraphicFramePr>
          <p:nvPr/>
        </p:nvGraphicFramePr>
        <p:xfrm>
          <a:off x="457200" y="1554480"/>
          <a:ext cx="11247120" cy="4754880"/>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65760">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365760">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365760">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365760">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365760">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365760">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365760">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365760">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365760">
                <a:tc>
                  <a:txBody>
                    <a:bodyPr/>
                    <a:lstStyle/>
                    <a:p>
                      <a:r>
                        <a:rPr sz="1200" b="1" i="0">
                          <a:solidFill>
                            <a:srgbClr val="000000"/>
                          </a:solidFill>
                          <a:latin typeface="Arial"/>
                        </a:rPr>
                        <a:t>Wave 2: Realistic life</a:t>
                      </a:r>
                    </a:p>
                  </a:txBody>
                  <a:tcPr marL="54864" marR="54864" marT="18288" marB="18288" anchor="ctr"/>
                </a:tc>
                <a:tc>
                  <a:txBody>
                    <a:bodyPr/>
                    <a:lstStyle/>
                    <a:p>
                      <a:r>
                        <a:rPr sz="1200" b="0" i="0">
                          <a:solidFill>
                            <a:srgbClr val="000000"/>
                          </a:solidFill>
                          <a:latin typeface="Arial"/>
                        </a:rPr>
                        <a:t>PINN (physics-informed network)</a:t>
                      </a:r>
                    </a:p>
                  </a:txBody>
                  <a:tcPr marL="54864" marR="54864" marT="18288" marB="18288" anchor="ctr"/>
                </a:tc>
                <a:tc>
                  <a:txBody>
                    <a:bodyPr/>
                    <a:lstStyle/>
                    <a:p>
                      <a:r>
                        <a:rPr sz="1200" b="0" i="0">
                          <a:solidFill>
                            <a:srgbClr val="000000"/>
                          </a:solidFill>
                          <a:latin typeface="Arial"/>
                        </a:rPr>
                        <a:t>Purely data-driven network</a:t>
                      </a:r>
                    </a:p>
                  </a:txBody>
                  <a:tcPr marL="54864" marR="54864" marT="18288" marB="18288" anchor="ctr"/>
                </a:tc>
                <a:tc>
                  <a:txBody>
                    <a:bodyPr/>
                    <a:lstStyle/>
                    <a:p>
                      <a:r>
                        <a:rPr sz="1200" b="0" i="0">
                          <a:solidFill>
                            <a:srgbClr val="000000"/>
                          </a:solidFill>
                          <a:latin typeface="Arial"/>
                        </a:rPr>
                        <a:t>Physics rules out impossible estimates</a:t>
                      </a:r>
                    </a:p>
                  </a:txBody>
                  <a:tcPr marL="54864" marR="54864" marT="18288" marB="18288" anchor="ctr"/>
                </a:tc>
                <a:extLst>
                  <a:ext uri="{0D108BD9-81ED-4DB2-BD59-A6C34878D82A}">
                    <a16:rowId xmlns:a16="http://schemas.microsoft.com/office/drawing/2014/main" val="10101"/>
                  </a:ext>
                </a:extLst>
              </a:tr>
              <a:tr h="365760">
                <a:tc>
                  <a:txBody>
                    <a:bodyPr/>
                    <a:lstStyle/>
                    <a:p>
                      <a:r>
                        <a:rPr sz="1200" b="1" i="0">
                          <a:solidFill>
                            <a:srgbClr val="000000"/>
                          </a:solidFill>
                          <a:latin typeface="Arial"/>
                        </a:rPr>
                        <a:t>Wave 2: Time to failure</a:t>
                      </a:r>
                    </a:p>
                  </a:txBody>
                  <a:tcPr marL="54864" marR="54864" marT="18288" marB="18288" anchor="ctr"/>
                </a:tc>
                <a:tc>
                  <a:txBody>
                    <a:bodyPr/>
                    <a:lstStyle/>
                    <a:p>
                      <a:r>
                        <a:rPr sz="1200" b="0" i="0">
                          <a:solidFill>
                            <a:srgbClr val="000000"/>
                          </a:solidFill>
                          <a:latin typeface="Arial"/>
                        </a:rPr>
                        <a:t>Cox PH survival model</a:t>
                      </a:r>
                    </a:p>
                  </a:txBody>
                  <a:tcPr marL="54864" marR="54864" marT="18288" marB="18288" anchor="ctr"/>
                </a:tc>
                <a:tc>
                  <a:txBody>
                    <a:bodyPr/>
                    <a:lstStyle/>
                    <a:p>
                      <a:r>
                        <a:rPr sz="1200" b="0" i="0">
                          <a:solidFill>
                            <a:srgbClr val="000000"/>
                          </a:solidFill>
                          <a:latin typeface="Arial"/>
                        </a:rPr>
                        <a:t>Plain regression, Weibull AFT</a:t>
                      </a:r>
                    </a:p>
                  </a:txBody>
                  <a:tcPr marL="54864" marR="54864" marT="18288" marB="18288" anchor="ctr"/>
                </a:tc>
                <a:tc>
                  <a:txBody>
                    <a:bodyPr/>
                    <a:lstStyle/>
                    <a:p>
                      <a:r>
                        <a:rPr sz="1200" b="0" i="0">
                          <a:solidFill>
                            <a:srgbClr val="000000"/>
                          </a:solidFill>
                          <a:latin typeface="Arial"/>
                        </a:rPr>
                        <a:t>Handles running machines · C-index 0.712</a:t>
                      </a:r>
                    </a:p>
                  </a:txBody>
                  <a:tcPr marL="54864" marR="54864" marT="18288" marB="18288" anchor="ctr"/>
                </a:tc>
                <a:extLst>
                  <a:ext uri="{0D108BD9-81ED-4DB2-BD59-A6C34878D82A}">
                    <a16:rowId xmlns:a16="http://schemas.microsoft.com/office/drawing/2014/main" val="10102"/>
                  </a:ext>
                </a:extLst>
              </a:tr>
              <a:tr h="365760">
                <a:tc>
                  <a:txBody>
                    <a:bodyPr/>
                    <a:lstStyle/>
                    <a:p>
                      <a:r>
                        <a:rPr sz="1200" b="1" i="0">
                          <a:solidFill>
                            <a:srgbClr val="000000"/>
                          </a:solidFill>
                          <a:latin typeface="Arial"/>
                        </a:rPr>
                        <a:t>Wave 2: Off its normal</a:t>
                      </a:r>
                    </a:p>
                  </a:txBody>
                  <a:tcPr marL="54864" marR="54864" marT="18288" marB="18288" anchor="ctr"/>
                </a:tc>
                <a:tc>
                  <a:txBody>
                    <a:bodyPr/>
                    <a:lstStyle/>
                    <a:p>
                      <a:r>
                        <a:rPr sz="1200" b="0" i="0">
                          <a:solidFill>
                            <a:srgbClr val="000000"/>
                          </a:solidFill>
                          <a:latin typeface="Arial"/>
                        </a:rPr>
                        <a:t>Mahalanobis health index</a:t>
                      </a:r>
                    </a:p>
                  </a:txBody>
                  <a:tcPr marL="54864" marR="54864" marT="18288" marB="18288" anchor="ctr"/>
                </a:tc>
                <a:tc>
                  <a:txBody>
                    <a:bodyPr/>
                    <a:lstStyle/>
                    <a:p>
                      <a:r>
                        <a:rPr sz="1200" b="0" i="0">
                          <a:solidFill>
                            <a:srgbClr val="000000"/>
                          </a:solidFill>
                          <a:latin typeface="Arial"/>
                        </a:rPr>
                        <a:t>Fixed per-sensor thresholds</a:t>
                      </a:r>
                    </a:p>
                  </a:txBody>
                  <a:tcPr marL="54864" marR="54864" marT="18288" marB="18288" anchor="ctr"/>
                </a:tc>
                <a:tc>
                  <a:txBody>
                    <a:bodyPr/>
                    <a:lstStyle/>
                    <a:p>
                      <a:r>
                        <a:rPr sz="1200" b="0" i="0">
                          <a:solidFill>
                            <a:srgbClr val="000000"/>
                          </a:solidFill>
                          <a:latin typeface="Arial"/>
                        </a:rPr>
                        <a:t>Compares to the machine's own baseline</a:t>
                      </a:r>
                    </a:p>
                  </a:txBody>
                  <a:tcPr marL="54864" marR="54864" marT="18288" marB="18288" anchor="ctr"/>
                </a:tc>
                <a:extLst>
                  <a:ext uri="{0D108BD9-81ED-4DB2-BD59-A6C34878D82A}">
                    <a16:rowId xmlns:a16="http://schemas.microsoft.com/office/drawing/2014/main" val="10103"/>
                  </a:ext>
                </a:extLst>
              </a:tr>
              <a:tr h="365760">
                <a:tc>
                  <a:txBody>
                    <a:bodyPr/>
                    <a:lstStyle/>
                    <a:p>
                      <a:r>
                        <a:rPr sz="1200" b="1" i="0">
                          <a:solidFill>
                            <a:srgbClr val="000000"/>
                          </a:solidFill>
                          <a:latin typeface="Arial"/>
                        </a:rPr>
                        <a:t>Wave 2: Slow decline</a:t>
                      </a:r>
                    </a:p>
                  </a:txBody>
                  <a:tcPr marL="54864" marR="54864" marT="18288" marB="18288" anchor="ctr"/>
                </a:tc>
                <a:tc>
                  <a:txBody>
                    <a:bodyPr/>
                    <a:lstStyle/>
                    <a:p>
                      <a:r>
                        <a:rPr sz="1200" b="0" i="0">
                          <a:solidFill>
                            <a:srgbClr val="000000"/>
                          </a:solidFill>
                          <a:latin typeface="Arial"/>
                        </a:rPr>
                        <a:t>CUSUM + Kalman filter</a:t>
                      </a:r>
                    </a:p>
                  </a:txBody>
                  <a:tcPr marL="54864" marR="54864" marT="18288" marB="18288" anchor="ctr"/>
                </a:tc>
                <a:tc>
                  <a:txBody>
                    <a:bodyPr/>
                    <a:lstStyle/>
                    <a:p>
                      <a:r>
                        <a:rPr sz="1200" b="0" i="0">
                          <a:solidFill>
                            <a:srgbClr val="000000"/>
                          </a:solidFill>
                          <a:latin typeface="Arial"/>
                        </a:rPr>
                        <a:t>Single-snapshot thresholds</a:t>
                      </a:r>
                    </a:p>
                  </a:txBody>
                  <a:tcPr marL="54864" marR="54864" marT="18288" marB="18288" anchor="ctr"/>
                </a:tc>
                <a:tc>
                  <a:txBody>
                    <a:bodyPr/>
                    <a:lstStyle/>
                    <a:p>
                      <a:r>
                        <a:rPr sz="1200" b="0" i="0">
                          <a:solidFill>
                            <a:srgbClr val="000000"/>
                          </a:solidFill>
                          <a:latin typeface="Arial"/>
                        </a:rPr>
                        <a:t>Catches slow drift a snapshot misses</a:t>
                      </a:r>
                    </a:p>
                  </a:txBody>
                  <a:tcPr marL="54864" marR="54864" marT="18288" marB="18288" anchor="ctr"/>
                </a:tc>
                <a:extLst>
                  <a:ext uri="{0D108BD9-81ED-4DB2-BD59-A6C34878D82A}">
                    <a16:rowId xmlns:a16="http://schemas.microsoft.com/office/drawing/2014/main" val="10104"/>
                  </a:ext>
                </a:extLst>
              </a:tr>
              <a:tr h="365760">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Adding a document (admin, once per file)</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an admin adds a</a:t>
            </a:r>
          </a:p>
          <a:p>
            <a:pPr algn="ctr"/>
            <a:r>
              <a:rPr sz="1050" b="0" i="0">
                <a:solidFill>
                  <a:srgbClr val="333333"/>
                </a:solidFill>
                <a:latin typeface="Arial"/>
              </a:rPr>
              <a:t>technical manual</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Safe copy</a:t>
            </a:r>
          </a:p>
          <a:p>
            <a:pPr algn="ctr"/>
            <a:r>
              <a:rPr sz="1050" b="0" i="0">
                <a:solidFill>
                  <a:srgbClr val="333333"/>
                </a:solidFill>
                <a:latin typeface="Arial"/>
              </a:rPr>
              <a:t>the original file is</a:t>
            </a:r>
          </a:p>
          <a:p>
            <a:pPr algn="ctr"/>
            <a:r>
              <a:rPr sz="1050" b="0" i="0">
                <a:solidFill>
                  <a:srgbClr val="333333"/>
                </a:solidFill>
                <a:latin typeface="Arial"/>
              </a:rPr>
              <a:t>saved first (MinIO)</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Cut &amp; index</a:t>
            </a:r>
          </a:p>
          <a:p>
            <a:pPr algn="ctr"/>
            <a:r>
              <a:rPr sz="1050" b="0" i="0">
                <a:solidFill>
                  <a:srgbClr val="333333"/>
                </a:solidFill>
                <a:latin typeface="Arial"/>
              </a:rPr>
              <a:t>split into short passages,</a:t>
            </a:r>
          </a:p>
          <a:p>
            <a:pPr algn="ctr"/>
            <a:r>
              <a:rPr sz="1050" b="0" i="0">
                <a:solidFill>
                  <a:srgbClr val="333333"/>
                </a:solidFill>
                <a:latin typeface="Arial"/>
              </a:rPr>
              <a:t>each given a meaning vector</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Searchable library</a:t>
            </a:r>
          </a:p>
          <a:p>
            <a:pPr algn="ctr"/>
            <a:r>
              <a:rPr sz="1050" b="0" i="0">
                <a:solidFill>
                  <a:srgbClr val="333333"/>
                </a:solidFill>
                <a:latin typeface="Arial"/>
              </a:rPr>
              <a:t>passages saved in</a:t>
            </a:r>
          </a:p>
          <a:p>
            <a:pPr algn="ctr"/>
            <a:r>
              <a:rPr sz="1050" b="0" i="0">
                <a:solidFill>
                  <a:srgbClr val="333333"/>
                </a:solidFill>
                <a:latin typeface="Arial"/>
              </a:rPr>
              <a:t>the database</a:t>
            </a:r>
          </a:p>
        </p:txBody>
      </p:sp>
      <p:sp>
        <p:nvSpPr>
          <p:cNvPr id="18" name="TextBox 17"/>
          <p:cNvSpPr txBox="1"/>
          <p:nvPr/>
        </p:nvSpPr>
        <p:spPr>
          <a:xfrm>
            <a:off x="457200" y="3429000"/>
            <a:ext cx="2240280" cy="365760"/>
          </a:xfrm>
          <a:prstGeom prst="rect">
            <a:avLst/>
          </a:prstGeom>
          <a:noFill/>
        </p:spPr>
        <p:txBody>
          <a:bodyPr wrap="square" lIns="45720" tIns="18288" rIns="45720" bIns="18288" anchor="ctr">
            <a:spAutoFit/>
          </a:bodyPr>
          <a:lstStyle/>
          <a:p>
            <a:pPr algn="l"/>
            <a:r>
              <a:rPr sz="1400" b="1" i="0">
                <a:solidFill>
                  <a:srgbClr val="D0101A"/>
                </a:solidFill>
                <a:latin typeface="Arial"/>
              </a:rPr>
              <a:t>Asking (each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typed on a machine's page,</a:t>
            </a:r>
          </a:p>
          <a:p>
            <a:pPr algn="ctr"/>
            <a:r>
              <a:rPr sz="1050" b="0" i="0">
                <a:solidFill>
                  <a:srgbClr val="333333"/>
                </a:solidFill>
                <a:latin typeface="Arial"/>
              </a:rPr>
              <a:t>so we know which one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Find the right passages</a:t>
            </a:r>
          </a:p>
          <a:p>
            <a:pPr algn="ctr"/>
            <a:r>
              <a:rPr sz="1000" b="0" i="0">
                <a:solidFill>
                  <a:srgbClr val="333333"/>
                </a:solidFill>
                <a:latin typeface="Arial"/>
              </a:rPr>
              <a:t>search by words and by meaning,</a:t>
            </a:r>
          </a:p>
          <a:p>
            <a:pPr algn="ctr"/>
            <a:r>
              <a:rPr sz="1000" b="0" i="0">
                <a:solidFill>
                  <a:srgbClr val="333333"/>
                </a:solidFill>
                <a:latin typeface="Arial"/>
              </a:rPr>
              <a:t>keep the best ones</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Machine's live health</a:t>
            </a:r>
          </a:p>
          <a:p>
            <a:pPr algn="ctr"/>
            <a:r>
              <a:rPr sz="1000" b="0" i="0">
                <a:solidFill>
                  <a:srgbClr val="333333"/>
                </a:solidFill>
                <a:latin typeface="Arial"/>
              </a:rPr>
              <a:t>score, risk, remaining life</a:t>
            </a:r>
          </a:p>
          <a:p>
            <a:pPr algn="ctr"/>
            <a:r>
              <a:rPr sz="1000" b="0" i="0">
                <a:solidFill>
                  <a:srgbClr val="333333"/>
                </a:solidFill>
                <a:latin typeface="Arial"/>
              </a:rPr>
              <a:t>and latest sensor readings</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at the same time</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Write the answer</a:t>
            </a:r>
          </a:p>
          <a:p>
            <a:pPr algn="ctr"/>
            <a:r>
              <a:rPr sz="1000" b="0" i="0">
                <a:solidFill>
                  <a:srgbClr val="333333"/>
                </a:solidFill>
                <a:latin typeface="Arial"/>
              </a:rPr>
              <a:t>the AI model (Groq) gets the</a:t>
            </a:r>
          </a:p>
          <a:p>
            <a:pPr algn="ctr"/>
            <a:r>
              <a:rPr sz="1000" b="0" i="0">
                <a:solidFill>
                  <a:srgbClr val="333333"/>
                </a:solidFill>
                <a:latin typeface="Arial"/>
              </a:rPr>
              <a:t>passages + live machine status</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based on the manuals and on</a:t>
            </a:r>
          </a:p>
          <a:p>
            <a:pPr algn="ctr"/>
            <a:r>
              <a:rPr sz="1000" b="0" i="0">
                <a:solidFill>
                  <a:srgbClr val="333333"/>
                </a:solidFill>
                <a:latin typeface="Arial"/>
              </a:rPr>
              <a:t>what the machine is doing now</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using a simpler rule-based health score.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39</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RAG Assistant: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32</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Upload &amp; keep a copy</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An admin uploads a technical manual. The </a:t>
            </a:r>
            <a:r>
              <a:rPr sz="1400" b="1">
                <a:solidFill>
                  <a:srgbClr val="000000"/>
                </a:solidFill>
                <a:latin typeface="Arial"/>
              </a:rPr>
              <a:t>original file is saved first</a:t>
            </a:r>
            <a:r>
              <a:rPr sz="1400" b="0">
                <a:solidFill>
                  <a:srgbClr val="333333"/>
                </a:solidFill>
                <a:latin typeface="Arial"/>
              </a:rPr>
              <a:t>, so nothing is lost if a later step fails.</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Cut &amp; index</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document is </a:t>
            </a:r>
            <a:r>
              <a:rPr sz="1400" b="1">
                <a:solidFill>
                  <a:srgbClr val="000000"/>
                </a:solidFill>
                <a:latin typeface="Arial"/>
              </a:rPr>
              <a:t>split into short passages</a:t>
            </a:r>
            <a:r>
              <a:rPr sz="1400" b="0">
                <a:solidFill>
                  <a:srgbClr val="333333"/>
                </a:solidFill>
                <a:latin typeface="Arial"/>
              </a:rPr>
              <a:t>. Each one gets a </a:t>
            </a:r>
            <a:r>
              <a:rPr sz="1400" b="1">
                <a:solidFill>
                  <a:srgbClr val="000000"/>
                </a:solidFill>
                <a:latin typeface="Arial"/>
              </a:rPr>
              <a:t>meaning vector</a:t>
            </a:r>
            <a:r>
              <a:rPr sz="1400" b="0">
                <a:solidFill>
                  <a:srgbClr val="333333"/>
                </a:solidFill>
                <a:latin typeface="Arial"/>
              </a:rPr>
              <a:t>, so it can be found by what it means, not only by exact words.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Ask on a machine page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technician types a question </a:t>
            </a:r>
            <a:r>
              <a:rPr sz="1400" b="1">
                <a:solidFill>
                  <a:srgbClr val="000000"/>
                </a:solidFill>
                <a:latin typeface="Arial"/>
              </a:rPr>
              <a:t>on a machine's page</a:t>
            </a:r>
            <a:r>
              <a:rPr sz="1400" b="0">
                <a:solidFill>
                  <a:srgbClr val="333333"/>
                </a:solidFill>
                <a:latin typeface="Arial"/>
              </a:rPr>
              <a:t>, so the assistant knows </a:t>
            </a:r>
            <a:r>
              <a:rPr sz="1400" b="1">
                <a:solidFill>
                  <a:srgbClr val="000000"/>
                </a:solidFill>
                <a:latin typeface="Arial"/>
              </a:rPr>
              <a:t>which machine</a:t>
            </a:r>
            <a:r>
              <a:rPr sz="1400" b="0">
                <a:solidFill>
                  <a:srgbClr val="333333"/>
                </a:solidFill>
                <a:latin typeface="Arial"/>
              </a:rPr>
              <a:t> the question is about.</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Two lookups at once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system </a:t>
            </a:r>
            <a:r>
              <a:rPr sz="1400" b="1">
                <a:solidFill>
                  <a:srgbClr val="000000"/>
                </a:solidFill>
                <a:latin typeface="Arial"/>
              </a:rPr>
              <a:t>finds the best passages</a:t>
            </a:r>
            <a:r>
              <a:rPr sz="1400" b="0">
                <a:solidFill>
                  <a:srgbClr val="333333"/>
                </a:solidFill>
                <a:latin typeface="Arial"/>
              </a:rPr>
              <a:t> (by words and by meaning, then re-ranks them) and, </a:t>
            </a:r>
            <a:r>
              <a:rPr sz="1400" b="1">
                <a:solidFill>
                  <a:srgbClr val="000000"/>
                </a:solidFill>
                <a:latin typeface="Arial"/>
              </a:rPr>
              <a:t>at the same time</a:t>
            </a:r>
            <a:r>
              <a:rPr sz="1400" b="0">
                <a:solidFill>
                  <a:srgbClr val="333333"/>
                </a:solidFill>
                <a:latin typeface="Arial"/>
              </a:rPr>
              <a:t>, reads the machine's </a:t>
            </a:r>
            <a:r>
              <a:rPr sz="1400" b="1">
                <a:solidFill>
                  <a:srgbClr val="000000"/>
                </a:solidFill>
                <a:latin typeface="Arial"/>
              </a:rPr>
              <a:t>live health</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Write the answer</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Passages and live status go to the </a:t>
            </a:r>
            <a:r>
              <a:rPr sz="1400" b="1">
                <a:solidFill>
                  <a:srgbClr val="000000"/>
                </a:solidFill>
                <a:latin typeface="Arial"/>
              </a:rPr>
              <a:t>AI language model</a:t>
            </a:r>
            <a:r>
              <a:rPr sz="1400" b="0">
                <a:solidFill>
                  <a:srgbClr val="333333"/>
                </a:solidFill>
                <a:latin typeface="Arial"/>
              </a:rPr>
              <a:t> (Groq), which writes the answer </a:t>
            </a:r>
            <a:r>
              <a:rPr sz="1400" b="1">
                <a:solidFill>
                  <a:srgbClr val="000000"/>
                </a:solidFill>
                <a:latin typeface="Arial"/>
              </a:rPr>
              <a:t>from that material</a:t>
            </a:r>
            <a:r>
              <a:rPr sz="1400" b="0">
                <a:solidFill>
                  <a:srgbClr val="333333"/>
                </a:solidFill>
                <a:latin typeface="Arial"/>
              </a:rPr>
              <a:t>.</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Grounded answer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reply combines </a:t>
            </a:r>
            <a:r>
              <a:rPr sz="1400" b="1">
                <a:solidFill>
                  <a:srgbClr val="000000"/>
                </a:solidFill>
                <a:latin typeface="Arial"/>
              </a:rPr>
              <a:t>what the manuals say</a:t>
            </a:r>
            <a:r>
              <a:rPr sz="1400" b="0">
                <a:solidFill>
                  <a:srgbClr val="333333"/>
                </a:solidFill>
                <a:latin typeface="Arial"/>
              </a:rPr>
              <a:t> with </a:t>
            </a:r>
            <a:r>
              <a:rPr sz="1400" b="1">
                <a:solidFill>
                  <a:srgbClr val="000000"/>
                </a:solidFill>
                <a:latin typeface="Arial"/>
              </a:rPr>
              <a:t>what the machine is doing now</a:t>
            </a:r>
            <a:r>
              <a:rPr sz="1400" b="0">
                <a:solidFill>
                  <a:srgbClr val="333333"/>
                </a:solidFill>
                <a:latin typeface="Arial"/>
              </a:rPr>
              <a:t>: a procedure and the machine's current state, together.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Always answers:</a:t>
            </a:r>
            <a:r>
              <a:rPr sz="1300" b="0">
                <a:solidFill>
                  <a:srgbClr val="000000"/>
                </a:solidFill>
                <a:latin typeface="Arial"/>
              </a:rPr>
              <a:t> if the ML service is down, a simpler rule-based health score is used instead.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Machine Learning Pipeline: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29</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Sensor telemetry</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machine reports </a:t>
            </a:r>
            <a:r>
              <a:rPr sz="1400" b="1">
                <a:solidFill>
                  <a:srgbClr val="000000"/>
                </a:solidFill>
                <a:latin typeface="Arial"/>
              </a:rPr>
              <a:t>five readings</a:t>
            </a:r>
            <a:r>
              <a:rPr sz="1400" b="0">
                <a:solidFill>
                  <a:srgbClr val="333333"/>
                </a:solidFill>
                <a:latin typeface="Arial"/>
              </a:rPr>
              <a:t>: air temperature, process temperature, rotation speed, torque and tool wear. Everything starts from these numbers.</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Feature pipeline</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raw numbers are turned into </a:t>
            </a:r>
            <a:r>
              <a:rPr sz="1400" b="1">
                <a:solidFill>
                  <a:srgbClr val="000000"/>
                </a:solidFill>
                <a:latin typeface="Arial"/>
              </a:rPr>
              <a:t>useful clues</a:t>
            </a:r>
            <a:r>
              <a:rPr sz="1400" b="0">
                <a:solidFill>
                  <a:srgbClr val="333333"/>
                </a:solidFill>
                <a:latin typeface="Arial"/>
              </a:rPr>
              <a:t>, such as how much </a:t>
            </a:r>
            <a:r>
              <a:rPr sz="1400" b="1">
                <a:solidFill>
                  <a:srgbClr val="000000"/>
                </a:solidFill>
                <a:latin typeface="Arial"/>
              </a:rPr>
              <a:t>heat is building up</a:t>
            </a:r>
            <a:r>
              <a:rPr sz="1400" b="0">
                <a:solidFill>
                  <a:srgbClr val="333333"/>
                </a:solidFill>
                <a:latin typeface="Arial"/>
              </a:rPr>
              <a:t> inside the machine and how </a:t>
            </a:r>
            <a:r>
              <a:rPr sz="1400" b="1">
                <a:solidFill>
                  <a:srgbClr val="000000"/>
                </a:solidFill>
                <a:latin typeface="Arial"/>
              </a:rPr>
              <a:t>hard it is working</a:t>
            </a:r>
            <a:r>
              <a:rPr sz="1400" b="0">
                <a:solidFill>
                  <a:srgbClr val="333333"/>
                </a:solidFill>
                <a:latin typeface="Arial"/>
              </a:rPr>
              <a:t>.</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Seven models (P1-P7)</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Seven models each answer </a:t>
            </a:r>
            <a:r>
              <a:rPr sz="1400" b="1">
                <a:solidFill>
                  <a:srgbClr val="000000"/>
                </a:solidFill>
                <a:latin typeface="Arial"/>
              </a:rPr>
              <a:t>one question about right now</a:t>
            </a:r>
            <a:r>
              <a:rPr sz="1400" b="0">
                <a:solidFill>
                  <a:srgbClr val="333333"/>
                </a:solidFill>
                <a:latin typeface="Arial"/>
              </a:rPr>
              <a:t>: will it fail, how, how long is left, is it acting oddly, how urgent is it, when to repair, which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Four more models look at the </a:t>
            </a:r>
            <a:r>
              <a:rPr sz="1400" b="1">
                <a:solidFill>
                  <a:srgbClr val="000000"/>
                </a:solidFill>
                <a:latin typeface="Arial"/>
              </a:rPr>
              <a:t>machine's history</a:t>
            </a:r>
            <a:r>
              <a:rPr sz="1400" b="0">
                <a:solidFill>
                  <a:srgbClr val="333333"/>
                </a:solidFill>
                <a:latin typeface="Arial"/>
              </a:rPr>
              <a:t>: is the estimate realistic, how long can it keep running, is it far from its usual self, is it slowly getting worse?</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answers are </a:t>
            </a:r>
            <a:r>
              <a:rPr sz="1400" b="1">
                <a:solidFill>
                  <a:srgbClr val="000000"/>
                </a:solidFill>
                <a:latin typeface="Arial"/>
              </a:rPr>
              <a:t>weighed together</a:t>
            </a:r>
            <a:r>
              <a:rPr sz="1400" b="0">
                <a:solidFill>
                  <a:srgbClr val="333333"/>
                </a:solidFill>
                <a:latin typeface="Arial"/>
              </a:rPr>
              <a:t>. When they agree, the result is confident; when they </a:t>
            </a:r>
            <a:r>
              <a:rPr sz="1400" b="1">
                <a:solidFill>
                  <a:srgbClr val="000000"/>
                </a:solidFill>
                <a:latin typeface="Arial"/>
              </a:rPr>
              <a:t>disagree</a:t>
            </a:r>
            <a:r>
              <a:rPr sz="1400" b="0">
                <a:solidFill>
                  <a:srgbClr val="333333"/>
                </a:solidFill>
                <a:latin typeface="Arial"/>
              </a:rPr>
              <a:t>, it says </a:t>
            </a:r>
            <a:r>
              <a:rPr sz="1400" b="1">
                <a:solidFill>
                  <a:srgbClr val="000000"/>
                </a:solidFill>
                <a:latin typeface="Arial"/>
              </a:rPr>
              <a:t>"not sure"</a:t>
            </a:r>
            <a:r>
              <a:rPr sz="1400" b="0">
                <a:solidFill>
                  <a:srgbClr val="333333"/>
                </a:solidFill>
                <a:latin typeface="Arial"/>
              </a:rPr>
              <a:t> instead of picking a side.</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Health score</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user sees </a:t>
            </a:r>
            <a:r>
              <a:rPr sz="1400" b="1">
                <a:solidFill>
                  <a:srgbClr val="000000"/>
                </a:solidFill>
                <a:latin typeface="Arial"/>
              </a:rPr>
              <a:t>one score from 0 to 100</a:t>
            </a:r>
            <a:r>
              <a:rPr sz="1400" b="0">
                <a:solidFill>
                  <a:srgbClr val="333333"/>
                </a:solidFill>
                <a:latin typeface="Arial"/>
              </a:rPr>
              <a:t> with a </a:t>
            </a:r>
            <a:r>
              <a:rPr sz="1400" b="1">
                <a:solidFill>
                  <a:srgbClr val="000000"/>
                </a:solidFill>
                <a:latin typeface="Arial"/>
              </a:rPr>
              <a:t>plain-language verdict</a:t>
            </a:r>
            <a:r>
              <a:rPr sz="1400" b="0">
                <a:solidFill>
                  <a:srgbClr val="333333"/>
                </a:solidFill>
                <a:latin typeface="Arial"/>
              </a:rPr>
              <a:t>: Healthy, Degrading, Critical or Unknown.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Honest by design:</a:t>
            </a:r>
            <a:r>
              <a:rPr sz="1300" b="0">
                <a:solidFill>
                  <a:srgbClr val="000000"/>
                </a:solidFill>
                <a:latin typeface="Arial"/>
              </a:rPr>
              <a:t> a score is shown only when the evidence is confident, and every result is saved to check and retrain the models.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When someone opens a machine's health panel, the browser </a:t>
            </a:r>
            <a:r>
              <a:rPr sz="1400" b="1">
                <a:solidFill>
                  <a:srgbClr val="000000"/>
                </a:solidFill>
                <a:latin typeface="Arial"/>
              </a:rPr>
              <a:t>asks the backend</a:t>
            </a:r>
            <a:r>
              <a:rPr sz="1400" b="0">
                <a:solidFill>
                  <a:srgbClr val="333333"/>
                </a:solidFill>
                <a:latin typeface="Arial"/>
              </a:rPr>
              <a:t> for that machine's health, sending the user's </a:t>
            </a:r>
            <a:r>
              <a:rPr sz="1400" b="1">
                <a:solidFill>
                  <a:srgbClr val="000000"/>
                </a:solidFill>
                <a:latin typeface="Arial"/>
              </a:rPr>
              <a:t>login token</a:t>
            </a:r>
            <a:r>
              <a:rPr sz="1400" b="0">
                <a:solidFill>
                  <a:srgbClr val="333333"/>
                </a:solidFill>
                <a:latin typeface="Arial"/>
              </a:rPr>
              <a:t> with the request.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fetches the machine's </a:t>
            </a:r>
            <a:r>
              <a:rPr sz="1400" b="1">
                <a:solidFill>
                  <a:srgbClr val="000000"/>
                </a:solidFill>
                <a:latin typeface="Arial"/>
              </a:rPr>
              <a:t>latest sensor readings</a:t>
            </a:r>
            <a:r>
              <a:rPr sz="1400" b="0">
                <a:solidFill>
                  <a:srgbClr val="333333"/>
                </a:solidFill>
                <a:latin typeface="Arial"/>
              </a:rPr>
              <a:t> (temperatures, speed, torque, tool wear). If there are none, it </a:t>
            </a:r>
            <a:r>
              <a:rPr sz="1400" b="1">
                <a:solidFill>
                  <a:srgbClr val="000000"/>
                </a:solidFill>
                <a:latin typeface="Arial"/>
              </a:rPr>
              <a:t>stops here</a:t>
            </a:r>
            <a:r>
              <a:rPr sz="1400" b="0">
                <a:solidFill>
                  <a:srgbClr val="333333"/>
                </a:solidFill>
                <a:latin typeface="Arial"/>
              </a:rPr>
              <a:t> and calls no model.</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ML service runs </a:t>
            </a:r>
            <a:r>
              <a:rPr sz="1400" b="1">
                <a:solidFill>
                  <a:srgbClr val="000000"/>
                </a:solidFill>
                <a:latin typeface="Arial"/>
              </a:rPr>
              <a:t>seven models at once</a:t>
            </a:r>
            <a:r>
              <a:rPr sz="1400" b="0">
                <a:solidFill>
                  <a:srgbClr val="333333"/>
                </a:solidFill>
                <a:latin typeface="Arial"/>
              </a:rPr>
              <a:t> on those readings: failure chance, failure type, remaining life, odd behavior, urgency, best timing, parts needed.</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opinions are </a:t>
            </a:r>
            <a:r>
              <a:rPr sz="1400" b="1">
                <a:solidFill>
                  <a:srgbClr val="000000"/>
                </a:solidFill>
                <a:latin typeface="Arial"/>
              </a:rPr>
              <a:t>combined into one health score</a:t>
            </a:r>
            <a:r>
              <a:rPr sz="1400" b="0">
                <a:solidFill>
                  <a:srgbClr val="333333"/>
                </a:solidFill>
                <a:latin typeface="Arial"/>
              </a:rPr>
              <a:t> (0 to 100) and a verdict: Healthy, Degrading, Critical or </a:t>
            </a:r>
            <a:r>
              <a:rPr sz="1400" b="1">
                <a:solidFill>
                  <a:srgbClr val="000000"/>
                </a:solidFill>
                <a:latin typeface="Arial"/>
              </a:rPr>
              <a:t>Unknown</a:t>
            </a:r>
            <a:r>
              <a:rPr sz="1400" b="0">
                <a:solidFill>
                  <a:srgbClr val="333333"/>
                </a:solidFill>
                <a:latin typeface="Arial"/>
              </a:rPr>
              <a:t>. If the models strongly disagree, it says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a:t>
            </a:r>
            <a:r>
              <a:rPr sz="1400" b="1">
                <a:solidFill>
                  <a:srgbClr val="000000"/>
                </a:solidFill>
                <a:latin typeface="Arial"/>
              </a:rPr>
              <a:t>saved</a:t>
            </a:r>
            <a:r>
              <a:rPr sz="1400" b="0">
                <a:solidFill>
                  <a:srgbClr val="333333"/>
                </a:solidFill>
                <a:latin typeface="Arial"/>
              </a:rPr>
              <a:t>, so every prediction can be checked later against what really happened. Then the </a:t>
            </a:r>
            <a:r>
              <a:rPr sz="1400" b="1">
                <a:solidFill>
                  <a:srgbClr val="000000"/>
                </a:solidFill>
                <a:latin typeface="Arial"/>
              </a:rPr>
              <a:t>panel updates</a:t>
            </a:r>
            <a:r>
              <a:rPr sz="1400" b="0">
                <a:solidFill>
                  <a:srgbClr val="333333"/>
                </a:solidFill>
                <a:latin typeface="Arial"/>
              </a:rPr>
              <a:t> on screen.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No data, no guessing:</a:t>
            </a:r>
            <a:r>
              <a:rPr sz="1300" b="0">
                <a:solidFill>
                  <a:srgbClr val="000000"/>
                </a:solidFill>
                <a:latin typeface="Arial"/>
              </a:rPr>
              <a:t> without sensor readings, the score comes from maintenance history only, never from invented values.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Four kinds of users open the app in their </a:t>
            </a:r>
            <a:r>
              <a:rPr sz="1300" b="1">
                <a:solidFill>
                  <a:srgbClr val="000000"/>
                </a:solidFill>
                <a:latin typeface="Arial"/>
              </a:rPr>
              <a:t>web browser</a:t>
            </a:r>
            <a:r>
              <a:rPr sz="1300" b="0">
                <a:solidFill>
                  <a:srgbClr val="333333"/>
                </a:solidFill>
                <a:latin typeface="Arial"/>
              </a:rPr>
              <a:t>. The app loads </a:t>
            </a:r>
            <a:r>
              <a:rPr sz="1300" b="1">
                <a:solidFill>
                  <a:srgbClr val="000000"/>
                </a:solidFill>
                <a:latin typeface="Arial"/>
              </a:rPr>
              <a:t>once</a:t>
            </a:r>
            <a:r>
              <a:rPr sz="1300" b="0">
                <a:solidFill>
                  <a:srgbClr val="333333"/>
                </a:solidFill>
                <a:latin typeface="Arial"/>
              </a:rPr>
              <a:t>, then only fetches data, so screens switch instantly. Each role sees </a:t>
            </a:r>
            <a:r>
              <a:rPr sz="1300" b="1">
                <a:solidFill>
                  <a:srgbClr val="000000"/>
                </a:solidFill>
                <a:latin typeface="Arial"/>
              </a:rPr>
              <a:t>its own space</a:t>
            </a:r>
            <a:r>
              <a:rPr sz="1300" b="0">
                <a:solidFill>
                  <a:srgbClr val="333333"/>
                </a:solidFill>
                <a:latin typeface="Arial"/>
              </a:rPr>
              <a:t>, plus the machine-health panel and the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The </a:t>
            </a:r>
            <a:r>
              <a:rPr sz="1300" b="1">
                <a:solidFill>
                  <a:srgbClr val="000000"/>
                </a:solidFill>
                <a:latin typeface="Arial"/>
              </a:rPr>
              <a:t>backend</a:t>
            </a:r>
            <a:r>
              <a:rPr sz="1300" b="0">
                <a:solidFill>
                  <a:srgbClr val="333333"/>
                </a:solidFill>
                <a:latin typeface="Arial"/>
              </a:rPr>
              <a:t> is the brain of the app: it holds all the business rules. Every request carries a </a:t>
            </a:r>
            <a:r>
              <a:rPr sz="1300" b="1">
                <a:solidFill>
                  <a:srgbClr val="000000"/>
                </a:solidFill>
                <a:latin typeface="Arial"/>
              </a:rPr>
              <a:t>login token</a:t>
            </a:r>
            <a:r>
              <a:rPr sz="1300" b="0">
                <a:solidFill>
                  <a:srgbClr val="333333"/>
                </a:solidFill>
                <a:latin typeface="Arial"/>
              </a:rPr>
              <a:t> that proves who you are, and the backend checks </a:t>
            </a:r>
            <a:r>
              <a:rPr sz="1300" b="1">
                <a:solidFill>
                  <a:srgbClr val="000000"/>
                </a:solidFill>
                <a:latin typeface="Arial"/>
              </a:rPr>
              <a:t>what your role is allowed to do</a:t>
            </a:r>
            <a:r>
              <a:rPr sz="1300" b="0">
                <a:solidFill>
                  <a:srgbClr val="333333"/>
                </a:solidFill>
                <a:latin typeface="Arial"/>
              </a:rPr>
              <a:t>.</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Three helpers, called only by the backend: the </a:t>
            </a:r>
            <a:r>
              <a:rPr sz="1300" b="1">
                <a:solidFill>
                  <a:srgbClr val="000000"/>
                </a:solidFill>
                <a:latin typeface="Arial"/>
              </a:rPr>
              <a:t>ML service</a:t>
            </a:r>
            <a:r>
              <a:rPr sz="1300" b="0">
                <a:solidFill>
                  <a:srgbClr val="333333"/>
                </a:solidFill>
                <a:latin typeface="Arial"/>
              </a:rPr>
              <a:t> predicts machine health, the </a:t>
            </a:r>
            <a:r>
              <a:rPr sz="1300" b="1">
                <a:solidFill>
                  <a:srgbClr val="000000"/>
                </a:solidFill>
                <a:latin typeface="Arial"/>
              </a:rPr>
              <a:t>document search service</a:t>
            </a:r>
            <a:r>
              <a:rPr sz="1300" b="0">
                <a:solidFill>
                  <a:srgbClr val="333333"/>
                </a:solidFill>
                <a:latin typeface="Arial"/>
              </a:rPr>
              <a:t> finds the right passages in technical manuals for the AI assistant, and </a:t>
            </a:r>
            <a:r>
              <a:rPr sz="1300" b="1">
                <a:solidFill>
                  <a:srgbClr val="000000"/>
                </a:solidFill>
                <a:latin typeface="Arial"/>
              </a:rPr>
              <a:t>background workers</a:t>
            </a:r>
            <a:r>
              <a:rPr sz="1300" b="0">
                <a:solidFill>
                  <a:srgbClr val="333333"/>
                </a:solidFill>
                <a:latin typeface="Arial"/>
              </a:rPr>
              <a:t> handle slow or scheduled jobs like e-mails.</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One </a:t>
            </a:r>
            <a:r>
              <a:rPr sz="1300" b="1">
                <a:solidFill>
                  <a:srgbClr val="000000"/>
                </a:solidFill>
                <a:latin typeface="Arial"/>
              </a:rPr>
              <a:t>database</a:t>
            </a:r>
            <a:r>
              <a:rPr sz="1300" b="0">
                <a:solidFill>
                  <a:srgbClr val="333333"/>
                </a:solidFill>
                <a:latin typeface="Arial"/>
              </a:rPr>
              <a:t> holds the business data, the prediction history and the searchable manuals. Files go to a separate </a:t>
            </a:r>
            <a:r>
              <a:rPr sz="1300" b="1">
                <a:solidFill>
                  <a:srgbClr val="000000"/>
                </a:solidFill>
                <a:latin typeface="Arial"/>
              </a:rPr>
              <a:t>file store</a:t>
            </a:r>
            <a:r>
              <a:rPr sz="1300" b="0">
                <a:solidFill>
                  <a:srgbClr val="333333"/>
                </a:solidFill>
                <a:latin typeface="Arial"/>
              </a:rPr>
              <a:t>. A </a:t>
            </a:r>
            <a:r>
              <a:rPr sz="1300" b="1">
                <a:solidFill>
                  <a:srgbClr val="000000"/>
                </a:solidFill>
                <a:latin typeface="Arial"/>
              </a:rPr>
              <a:t>task queue</a:t>
            </a:r>
            <a:r>
              <a:rPr sz="1300" b="0">
                <a:solidFill>
                  <a:srgbClr val="333333"/>
                </a:solidFill>
                <a:latin typeface="Arial"/>
              </a:rPr>
              <a:t> hands jobs to the background workers, and the trained </a:t>
            </a:r>
            <a:r>
              <a:rPr sz="1300" b="1">
                <a:solidFill>
                  <a:srgbClr val="000000"/>
                </a:solidFill>
                <a:latin typeface="Arial"/>
              </a:rPr>
              <a:t>AI models</a:t>
            </a:r>
            <a:r>
              <a:rPr sz="1300" b="0">
                <a:solidFill>
                  <a:srgbClr val="333333"/>
                </a:solidFill>
                <a:latin typeface="Arial"/>
              </a:rPr>
              <a:t> are files the app can read but never change.</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An outside </a:t>
            </a:r>
            <a:r>
              <a:rPr sz="1300" b="1">
                <a:solidFill>
                  <a:srgbClr val="000000"/>
                </a:solidFill>
                <a:latin typeface="Arial"/>
              </a:rPr>
              <a:t>AI language model</a:t>
            </a:r>
            <a:r>
              <a:rPr sz="1300" b="0">
                <a:solidFill>
                  <a:srgbClr val="333333"/>
                </a:solidFill>
                <a:latin typeface="Arial"/>
              </a:rPr>
              <a:t> (Groq) writes the assistant's answers, and an </a:t>
            </a:r>
            <a:r>
              <a:rPr sz="1300" b="1">
                <a:solidFill>
                  <a:srgbClr val="000000"/>
                </a:solidFill>
                <a:latin typeface="Arial"/>
              </a:rPr>
              <a:t>e-mail server</a:t>
            </a:r>
            <a:r>
              <a:rPr sz="1300" b="0">
                <a:solidFill>
                  <a:srgbClr val="333333"/>
                </a:solidFill>
                <a:latin typeface="Arial"/>
              </a:rPr>
              <a:t> sends the notifications.</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talks to the helpers, so there is one door to secure and each part can change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