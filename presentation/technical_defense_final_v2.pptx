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70" r:id="rId15"/>
    <p:sldId id="271" r:id="rId16"/>
    <p:sldId id="272" r:id="rId17"/>
    <p:sldId id="273" r:id="rId18"/>
    <p:sldId id="274" r:id="rId19"/>
    <p:sldId id="296" r:id="rId46"/>
    <p:sldId id="275" r:id="rId20"/>
    <p:sldId id="295" r:id="rId45"/>
    <p:sldId id="276" r:id="rId21"/>
    <p:sldId id="294" r:id="rId44"/>
    <p:sldId id="277" r:id="rId22"/>
    <p:sldId id="293" r:id="rId43"/>
    <p:sldId id="278" r:id="rId23"/>
    <p:sldId id="279" r:id="rId24"/>
    <p:sldId id="280" r:id="rId25"/>
    <p:sldId id="292" r:id="rId42"/>
    <p:sldId id="281" r:id="rId26"/>
    <p:sldId id="282" r:id="rId27"/>
    <p:sldId id="291" r:id="rId41"/>
    <p:sldId id="269" r:id="rId28"/>
    <p:sldId id="283" r:id="rId29"/>
    <p:sldId id="284" r:id="rId30"/>
    <p:sldId id="286" r:id="rId31"/>
    <p:sldId id="287" r:id="rId32"/>
    <p:sldId id="288" r:id="rId33"/>
    <p:sldId id="289" r:id="rId34"/>
    <p:sldId id="290" r:id="rId3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4457" autoAdjust="0"/>
  </p:normalViewPr>
  <p:slideViewPr>
    <p:cSldViewPr snapToGrid="0" snapToObjects="1">
      <p:cViewPr>
        <p:scale>
          <a:sx n="66" d="100"/>
          <a:sy n="66" d="100"/>
        </p:scale>
        <p:origin x="1301" y="53"/>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F247349-38CF-48D2-B3A5-AA4B93282242}" type="datetimeFigureOut">
              <a:rPr lang="fr-FR" smtClean="0"/>
              <a:t>05/10/2026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CEE124F-D792-4701-82D6-095C3410E197}" type="slidenum">
              <a:rPr lang="fr-FR" smtClean="0"/>
              <a:t>‹N°›</a:t>
            </a:fld>
            <a:endParaRPr lang="fr-FR"/>
          </a:p>
        </p:txBody>
      </p:sp>
    </p:spTree>
    <p:extLst>
      <p:ext uri="{BB962C8B-B14F-4D97-AF65-F5344CB8AC3E}">
        <p14:creationId xmlns:p14="http://schemas.microsoft.com/office/powerpoint/2010/main" val="31540879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LOGICAL view: responsibilities and dependencies only. No hosts, ports or containers here (that is the physical view). The browser runs a React SPA. All traffic goes to the </a:t>
            </a:r>
            <a:r>
              <a:rPr dirty="0" err="1"/>
              <a:t>FastAPI</a:t>
            </a:r>
            <a:r>
              <a:rPr dirty="0"/>
              <a:t> backend, which holds the business logic (auth/RBAC, machines, orders, planning, inventory, alerts, ML gateway, AI chat orchestrator). The backend is the only caller of the two specialist services: the ML microservice (</a:t>
            </a:r>
            <a:r>
              <a:rPr dirty="0" err="1"/>
              <a:t>FastAPI</a:t>
            </a:r>
            <a:r>
              <a:rPr dirty="0"/>
              <a:t>, seven models + Wave 2 signals + Dempster-Shafer fusion, reading model files) and the RAG service (</a:t>
            </a:r>
            <a:r>
              <a:rPr dirty="0" err="1"/>
              <a:t>FastAPI</a:t>
            </a:r>
            <a:r>
              <a:rPr dirty="0"/>
              <a:t>, hybrid retrieval, </a:t>
            </a:r>
            <a:r>
              <a:rPr dirty="0" err="1"/>
              <a:t>reranker</a:t>
            </a:r>
            <a:r>
              <a:rPr dirty="0"/>
              <a:t>, bge-m3 embeddings, reading PostgreSQL/</a:t>
            </a:r>
            <a:r>
              <a:rPr dirty="0" err="1"/>
              <a:t>pgvector</a:t>
            </a:r>
            <a:r>
              <a:rPr dirty="0"/>
              <a:t> only). Celery workers consume tasks from RabbitMQ for e-mails and scheduled jobs. Data: </a:t>
            </a:r>
            <a:r>
              <a:rPr dirty="0" err="1"/>
              <a:t>PostgreSQL+pgvector</a:t>
            </a:r>
            <a:r>
              <a:rPr dirty="0"/>
              <a:t>, </a:t>
            </a:r>
            <a:r>
              <a:rPr dirty="0" err="1"/>
              <a:t>MinIO</a:t>
            </a:r>
            <a:r>
              <a:rPr dirty="0"/>
              <a:t>/S3 for attachments and RAG documents. External: </a:t>
            </a:r>
            <a:r>
              <a:rPr dirty="0" err="1"/>
              <a:t>Groq</a:t>
            </a:r>
            <a:r>
              <a:rPr dirty="0"/>
              <a:t> LLM (called by the backend chat) and SMTP (called by Celery).</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PHYSICAL view 1/2: one Docker host running docker compose, either a developer workstation or the Azure demo VM. Application containers share asset_management_network and reach each other by service name (backend calls ml-service:8000 and rag-service:8003). Host ports in dev: frontend 3000, backend 8000, ml-service 8001 (container port 8000), rag 8003, postgres 5432, rabbitmq 5672/16200, minio 9000/9001, pgadmin 5050. In the demo VM the prod overlay publishes nothing except Caddy on 80/443, which routes / to the frontend, /api to the backend and /grafana to Grafana. Monitoring (Prometheus, Pushgateway, Grafana, Trivy) sits on its own network; SonarQube and Jupyter are separate on-demand stacks. The frontend is a static React/Vite build served by nginx, which also proxies /api to the backend.</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PHYSICAL view 2/2: production target on Azure, provisioned with Terraform. Public users reach the app through an ngrok tunnel because the Azure inbound Load Balancer is blocked at subscription level; the ngrok pod dials out and relays to the frontend (nginx), which proxies /api to the backend. AKS (Poland Central, Azure CNI, network policy, workload identity) hosts the eam-staging and eam-prod namespaces: frontend, backend, ml-service, rag-service, celery worker/beat, plus in-cluster RabbitMQ and MinIO. PostgreSQL is a managed Azure Flexible Server with pgvector; secrets come from Key Vault through the Secrets Store CSI driver; images come from ACR. Delivery: GitLab CI gates the code, deploy-aks builds and pushes images then restarts deployments, Terraform and Helm define the infrastructure and the chart.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the admin uploads through the backend; the file goes to MinIO first and the upload is rolled back if ingestion fails. Step 2: the RAG service chunks the document and embeds each chunk with BAAI/bge-m3; vectors are stored in PostgreSQL with pgvector. Step 3: the chat request carries the machine_id of the page. Step 4: hybrid retrieval (vector plus keyword search, reranked by bge-reranker-v2-m3) runs in parallel with the live ML snapshot of the machine. Step 5: the ML block is injected just before the question and the prompt is sent to the Groq LLM. Step 6: the answer is grounded in both the documentation and the real-time machine state; the response field ml_context_used shows whether live data was included. If the ML service is down, the rule-based fallback score still provides a valid context block.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pipeline starts from five sensor readings per machine: air temperature, process temperature, rotational speed, torque and tool wear. The feature pipeline derives extra signals from them, such as the temperature difference between process and air (heat build-up) and mechanical power, torque times speed (workload). Two groups of models then run in parallel. P1 to P7 work on the current snapshot: failure probability (XGBoost), failure type, remaining useful life, anomaly detection (a four-method ensemble), priority, maintenance schedule and parts demand. The Wave 2 signals work on the telemetry history: the PINN keeps remaining-life estimates physically realistic, the Cox proportional-hazards survival model estimates time to failure, the Mahalanobis health index measures how far the machine is from its own healthy baseline, and CUSUM with a Kalman filter detects slow cumulative drift. Dempster-Shafer evidence fusion combines the signals over four states, Healthy, Degrading, Critical and Unknown, switching to Yager's rule when the conflict is high so that disagreement is reported as uncertainty. The output is a 0-100 health score with a plain-language verdict, and every result is logged for audit and retraining.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application, now on Azure Kubernetes Service. Kubernetes runs the containers in pods across several VMs, restarts failed pods and scales with load. The system node pool runs Kubernetes' own components; the user pool runs our app and autoscales between two and four VMs. Two namespaces, eam-staging and eam-prod, have the same layout so new versions are tested before real users see them. The cluster sits in a private VNet, network policies restrict pod-to-pod traffic, and workload identity lets pods authenticate to Azure without stored credentials. PostgreSQL is a managed Flexible Server, images come from Azure Container Registry, and all secrets live in Key Vault, injected at runtime by the Secrets Store CSI driver. Because the inbound public load balancer is blocked at subscription level, an ngrok pod dials out and relays public traffic to the frontend. Delivery: GitLab CI gates every push, deploy-aks builds, pushes and restarts, and Terraform plus Helm define the infrastructure as code.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runs on one machine: a developer workstation or the Azure demo VM. Each component is a Docker container, and Docker Compose starts them all from one file. Caddy is the reverse proxy and single entry point: it terminates HTTPS with Let's Encrypt certificates and routes / to the frontend, /api to the backend and /grafana to Grafana. Application containers share a private bridge network and call each other by service name. Ports are exposed on the host only in development; PostgreSQL keeps its data on a volume and the model files are mounted read-only. Monitoring (Prometheus, Pushgateway, Grafana, Trivy) runs on its own network, while SonarQube and Jupyter are started only when needed. In the demo, the prod overlay un-publishes everything except Caddy on 80/443 and pulls ready-built images from the registry, so the attack surface is one encrypted entry point.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happens when a user opens a machine's ML Intelligence panel. The frontend sends GET /machines/{id}/unified-health to the backend. The backend first loads the machine's latest real sensor readings. If there are none, it sets telemetry_available to false and does not call the models: it never substitutes placeholder values, because fabricated inputs would give every machine the same meaningless prediction. With telemetry, two things run concurrently: the ML microservice runs the seven P1-P7 models on the current sensor snapshot, and the Wave 2 signals analyse the telemetry history: CUSUM and a Kalman filter detect a slow decline over time, the Cox survival model estimates how long the machine can keep running, the Mahalanobis index measures how far it has drifted from its own normal behaviour, and the physics-informed network (PINN) keeps the estimates physically realistic. Dempster-Shafer fusion then combines all these signals into a single 0-100 health score and a verdict: Healthy, Degrading, Critical or Unknown. When the models strongly disagree, Yager's rule moves that conflict to Unknown instead of forcing a confident answer. Finally the result is logged in ml_prediction_logs, so predictions can be audited and compared with real interventions, and the panel updates. Without telemetry the platform still answers, using a score computed from the maintenance history only.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diagram top to bottom. Users reach a React single-page app over HTTPS; it is loaded once and then only exchanges data. The app calls the FastAPI backend with REST and JSON, each request carrying a JWT that identifies the user and role, and RBAC decides what that role may do. The backend holds the business logic and is the only caller of the specialist services: the ML microservice (P1-P7, Wave 2 signals, Dempster-Shafer fusion) and the RAG service, which embeds documents with bge-m3, retrieves passages with hybrid search and reranks them before the LLM answers. Celery runs background and scheduled jobs that the backend queues in RabbitMQ. PostgreSQL with pgvector stores business data, ML logs and document vectors; MinIO stores files; models are read-only .pkl files. Groq generates chat answers and SMTP sends e-mails. Key message: one entry point, least privilege, independent services.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flows. Ingestion, once per document: an administrator uploads a file through the backend; it is stored first in MinIO (bucket rag-docs), then the RAG service splits it into chunks, embeds each chunk with BAAI/bge-m3 and stores the vectors in PostgreSQL with pgvector. If ingestion fails, the upload is rolled back. Query, on every chat message: the question arrives with the machine_id of the page it was asked from. Two fetches run in parallel: hybrid retrieval (vector search plus keyword search, then a cross-encoder reranker, bge-reranker-v2-m3) and a live ML snapshot of that machine (unified health score, verdict, risk, RUL, anomaly, priority, parts, latest sensors). The ML block is injected into the prompt just before the question and sent to the Groq LLM. The response carries ml_context_used to prove live data was included. If the ML service is down, a rule-based fallback score keeps the context block valid, so the assistant still answers.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take-aways. First, scope: a full EAM foundation (machines, work and intervention orders, planning, inventory) plus seven ML models (P1-P7) and the RAG assistant, in one platform. Second, method: every feature was specified, planned, implemented and then verified, with traceability from requirement to test. Third, honesty: label leakage was detected in P1, P2 and P5 (their labels are deterministic functions of an input feature), so their metrics are flagged as leaked and reported instead of being presented as real performance; only P3 has trustworthy holdout figures. Fourth, delivery: the code goes through a six-stage security and quality pipeline (secret scan, dependency audit, SAST, SonarQube, image scan, quality gate) and runs on AKS in the eam-staging and eam-prod namespaces.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next steps. Top left: collect real ground-truth data, technician-confirmed failure records, to retrain P1, P2 and P5 and resolve their leaked labels. Top right: a public inbound path on AKS, which means resolving the subscription-level Load Balancer quota so the ngrok tunnel is no longer needed. Bottom left: production hardening, with a high-availability database, autoscaling and centralized logging. Bottom right: move file storage from in-cluster MinIO to a managed object store, and add automatic secret rotation in Key Vault.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esprit.jpg"/>
          <p:cNvPicPr>
            <a:picLocks noChangeAspect="1"/>
          </p:cNvPicPr>
          <p:nvPr/>
        </p:nvPicPr>
        <p:blipFill>
          <a:blip r:embed="rId2"/>
          <a:stretch>
            <a:fillRect/>
          </a:stretch>
        </p:blipFill>
        <p:spPr>
          <a:xfrm>
            <a:off x="502920" y="274320"/>
            <a:ext cx="2377440" cy="879815"/>
          </a:xfrm>
          <a:prstGeom prst="rect">
            <a:avLst/>
          </a:prstGeom>
        </p:spPr>
      </p:pic>
      <p:pic>
        <p:nvPicPr>
          <p:cNvPr id="3" name="Picture 2" descr="sagemcom.png"/>
          <p:cNvPicPr>
            <a:picLocks noChangeAspect="1"/>
          </p:cNvPicPr>
          <p:nvPr/>
        </p:nvPicPr>
        <p:blipFill>
          <a:blip r:embed="rId3"/>
          <a:stretch>
            <a:fillRect/>
          </a:stretch>
        </p:blipFill>
        <p:spPr>
          <a:xfrm>
            <a:off x="10058400" y="137160"/>
            <a:ext cx="1554480" cy="1554480"/>
          </a:xfrm>
          <a:prstGeom prst="rect">
            <a:avLst/>
          </a:prstGeom>
        </p:spPr>
      </p:pic>
      <p:cxnSp>
        <p:nvCxnSpPr>
          <p:cNvPr id="4" name="Connector 3"/>
          <p:cNvCxnSpPr/>
          <p:nvPr/>
        </p:nvCxnSpPr>
        <p:spPr>
          <a:xfrm>
            <a:off x="6099048" y="0"/>
            <a:ext cx="0" cy="109728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099048" y="6035040"/>
            <a:ext cx="0" cy="82296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657600" y="1325880"/>
            <a:ext cx="4873752" cy="365760"/>
          </a:xfrm>
          <a:prstGeom prst="rect">
            <a:avLst/>
          </a:prstGeom>
          <a:noFill/>
        </p:spPr>
        <p:txBody>
          <a:bodyPr wrap="square" lIns="45720" tIns="18288" rIns="45720" bIns="18288" anchor="ctr">
            <a:spAutoFit/>
          </a:bodyPr>
          <a:lstStyle/>
          <a:p>
            <a:pPr algn="ctr"/>
            <a:r>
              <a:rPr sz="1400" b="1" i="0" spc="300">
                <a:solidFill>
                  <a:srgbClr val="000000"/>
                </a:solidFill>
                <a:latin typeface="Arial"/>
              </a:rPr>
              <a:t>2025 - 2026</a:t>
            </a:r>
          </a:p>
        </p:txBody>
      </p:sp>
      <p:sp>
        <p:nvSpPr>
          <p:cNvPr id="7" name="TextBox 6"/>
          <p:cNvSpPr txBox="1"/>
          <p:nvPr/>
        </p:nvSpPr>
        <p:spPr>
          <a:xfrm>
            <a:off x="1097280" y="1828800"/>
            <a:ext cx="9966960" cy="2011680"/>
          </a:xfrm>
          <a:prstGeom prst="rect">
            <a:avLst/>
          </a:prstGeom>
          <a:noFill/>
        </p:spPr>
        <p:txBody>
          <a:bodyPr wrap="square" lIns="45720" tIns="18288" rIns="45720" bIns="18288" anchor="ctr">
            <a:spAutoFit/>
          </a:bodyPr>
          <a:lstStyle/>
          <a:p>
            <a:pPr algn="ctr"/>
            <a:r>
              <a:rPr sz="4000" b="1" i="1">
                <a:solidFill>
                  <a:srgbClr val="0A1045"/>
                </a:solidFill>
                <a:latin typeface="Georgia"/>
              </a:rPr>
              <a:t>EAM Platform for Intelligent</a:t>
            </a:r>
          </a:p>
          <a:p>
            <a:pPr algn="ctr"/>
            <a:r>
              <a:rPr sz="4000" b="1" i="1">
                <a:solidFill>
                  <a:srgbClr val="0A1045"/>
                </a:solidFill>
                <a:latin typeface="Georgia"/>
              </a:rPr>
              <a:t>Predictive Maintenance</a:t>
            </a:r>
          </a:p>
        </p:txBody>
      </p:sp>
      <p:sp>
        <p:nvSpPr>
          <p:cNvPr id="8" name="TextBox 7"/>
          <p:cNvSpPr txBox="1"/>
          <p:nvPr/>
        </p:nvSpPr>
        <p:spPr>
          <a:xfrm>
            <a:off x="1097280" y="3840480"/>
            <a:ext cx="9966960" cy="731520"/>
          </a:xfrm>
          <a:prstGeom prst="rect">
            <a:avLst/>
          </a:prstGeom>
          <a:noFill/>
        </p:spPr>
        <p:txBody>
          <a:bodyPr wrap="square" lIns="45720" tIns="18288" rIns="45720" bIns="18288" anchor="ctr">
            <a:spAutoFit/>
          </a:bodyPr>
          <a:lstStyle/>
          <a:p>
            <a:pPr algn="ctr"/>
            <a:r>
              <a:rPr sz="2400" b="0" i="0">
                <a:solidFill>
                  <a:srgbClr val="D0101A"/>
                </a:solidFill>
                <a:latin typeface="Arial Black"/>
              </a:rPr>
              <a:t>Operational management, seven ML models and a RAG assistant</a:t>
            </a:r>
          </a:p>
        </p:txBody>
      </p:sp>
      <p:sp>
        <p:nvSpPr>
          <p:cNvPr id="9" name="TextBox 8"/>
          <p:cNvSpPr txBox="1"/>
          <p:nvPr/>
        </p:nvSpPr>
        <p:spPr>
          <a:xfrm>
            <a:off x="1097280" y="4846320"/>
            <a:ext cx="9966960" cy="1188720"/>
          </a:xfrm>
          <a:prstGeom prst="rect">
            <a:avLst/>
          </a:prstGeom>
          <a:noFill/>
        </p:spPr>
        <p:txBody>
          <a:bodyPr wrap="square" lIns="45720" tIns="18288" rIns="45720" bIns="18288" anchor="ctr">
            <a:spAutoFit/>
          </a:bodyPr>
          <a:lstStyle/>
          <a:p>
            <a:pPr algn="ctr"/>
            <a:r>
              <a:rPr sz="1600" b="0" i="0">
                <a:solidFill>
                  <a:srgbClr val="000000"/>
                </a:solidFill>
                <a:latin typeface="Arial"/>
              </a:rPr>
              <a:t>Host company: </a:t>
            </a:r>
            <a:r>
              <a:rPr sz="1600" b="1" i="0">
                <a:solidFill>
                  <a:srgbClr val="000000"/>
                </a:solidFill>
                <a:latin typeface="Arial"/>
              </a:rPr>
              <a:t>SagemCom Ezzahra</a:t>
            </a:r>
          </a:p>
          <a:p>
            <a:pPr algn="ctr"/>
            <a:r>
              <a:rPr sz="1600" b="0" i="0">
                <a:solidFill>
                  <a:srgbClr val="000000"/>
                </a:solidFill>
                <a:latin typeface="Arial"/>
              </a:rPr>
              <a:t>Realised by: </a:t>
            </a:r>
            <a:r>
              <a:rPr sz="1600" b="1" i="0">
                <a:solidFill>
                  <a:srgbClr val="000000"/>
                </a:solidFill>
                <a:latin typeface="Arial"/>
              </a:rPr>
              <a:t>Hamza Mbarki</a:t>
            </a:r>
          </a:p>
        </p:txBody>
      </p:sp>
      <p:sp>
        <p:nvSpPr>
          <p:cNvPr id="10" name="TextBox 9"/>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Connector 1"/>
          <p:cNvCxnSpPr/>
          <p:nvPr/>
        </p:nvCxnSpPr>
        <p:spPr>
          <a:xfrm>
            <a:off x="1188720" y="0"/>
            <a:ext cx="0" cy="685800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2377440" y="822960"/>
            <a:ext cx="7315200" cy="1097280"/>
          </a:xfrm>
          <a:prstGeom prst="rect">
            <a:avLst/>
          </a:prstGeom>
          <a:noFill/>
        </p:spPr>
        <p:txBody>
          <a:bodyPr wrap="square" lIns="45720" tIns="18288" rIns="45720" bIns="18288" anchor="ctr">
            <a:spAutoFit/>
          </a:bodyPr>
          <a:lstStyle/>
          <a:p>
            <a:pPr algn="l"/>
            <a:r>
              <a:rPr sz="5400" b="0" i="0">
                <a:solidFill>
                  <a:srgbClr val="000000"/>
                </a:solidFill>
                <a:latin typeface="Arial Black"/>
              </a:rPr>
              <a:t>Summary</a:t>
            </a:r>
          </a:p>
        </p:txBody>
      </p:sp>
      <p:sp>
        <p:nvSpPr>
          <p:cNvPr id="4" name="TextBox 3"/>
          <p:cNvSpPr txBox="1"/>
          <p:nvPr/>
        </p:nvSpPr>
        <p:spPr>
          <a:xfrm>
            <a:off x="2194560" y="2468880"/>
            <a:ext cx="914400" cy="731520"/>
          </a:xfrm>
          <a:prstGeom prst="rect">
            <a:avLst/>
          </a:prstGeom>
          <a:noFill/>
        </p:spPr>
        <p:txBody>
          <a:bodyPr wrap="square" lIns="45720" tIns="18288" rIns="45720" bIns="18288" anchor="ctr">
            <a:spAutoFit/>
          </a:bodyPr>
          <a:lstStyle/>
          <a:p>
            <a:pPr algn="l"/>
            <a:r>
              <a:rPr sz="3400" b="0" i="0">
                <a:solidFill>
                  <a:srgbClr val="000000"/>
                </a:solidFill>
                <a:latin typeface="Georgia"/>
              </a:rPr>
              <a:t>01</a:t>
            </a:r>
          </a:p>
        </p:txBody>
      </p:sp>
      <p:sp>
        <p:nvSpPr>
          <p:cNvPr id="5" name="TextBox 4"/>
          <p:cNvSpPr txBox="1"/>
          <p:nvPr/>
        </p:nvSpPr>
        <p:spPr>
          <a:xfrm>
            <a:off x="3154680" y="2468880"/>
            <a:ext cx="3840480" cy="731520"/>
          </a:xfrm>
          <a:prstGeom prst="rect">
            <a:avLst/>
          </a:prstGeom>
          <a:noFill/>
        </p:spPr>
        <p:txBody>
          <a:bodyPr wrap="square" lIns="45720" tIns="18288" rIns="45720" bIns="18288" anchor="ctr">
            <a:spAutoFit/>
          </a:bodyPr>
          <a:lstStyle/>
          <a:p>
            <a:pPr algn="l"/>
            <a:r>
              <a:rPr sz="1900" b="0" i="0">
                <a:solidFill>
                  <a:srgbClr val="000000"/>
                </a:solidFill>
                <a:latin typeface="Arial"/>
              </a:rPr>
              <a:t>General Context</a:t>
            </a:r>
          </a:p>
        </p:txBody>
      </p:sp>
      <p:sp>
        <p:nvSpPr>
          <p:cNvPr id="6" name="TextBox 5"/>
          <p:cNvSpPr txBox="1"/>
          <p:nvPr/>
        </p:nvSpPr>
        <p:spPr>
          <a:xfrm>
            <a:off x="2194560" y="3703320"/>
            <a:ext cx="914400" cy="731520"/>
          </a:xfrm>
          <a:prstGeom prst="rect">
            <a:avLst/>
          </a:prstGeom>
          <a:noFill/>
        </p:spPr>
        <p:txBody>
          <a:bodyPr wrap="square" lIns="45720" tIns="18288" rIns="45720" bIns="18288" anchor="ctr">
            <a:spAutoFit/>
          </a:bodyPr>
          <a:lstStyle/>
          <a:p>
            <a:pPr algn="l"/>
            <a:r>
              <a:rPr sz="3400" b="0" i="0">
                <a:solidFill>
                  <a:srgbClr val="000000"/>
                </a:solidFill>
                <a:latin typeface="Georgia"/>
              </a:rPr>
              <a:t>02</a:t>
            </a:r>
          </a:p>
        </p:txBody>
      </p:sp>
      <p:sp>
        <p:nvSpPr>
          <p:cNvPr id="7" name="TextBox 6"/>
          <p:cNvSpPr txBox="1"/>
          <p:nvPr/>
        </p:nvSpPr>
        <p:spPr>
          <a:xfrm>
            <a:off x="3154680" y="3703320"/>
            <a:ext cx="3840480" cy="731520"/>
          </a:xfrm>
          <a:prstGeom prst="rect">
            <a:avLst/>
          </a:prstGeom>
          <a:noFill/>
        </p:spPr>
        <p:txBody>
          <a:bodyPr wrap="square" lIns="45720" tIns="18288" rIns="45720" bIns="18288" anchor="ctr">
            <a:spAutoFit/>
          </a:bodyPr>
          <a:lstStyle/>
          <a:p>
            <a:pPr algn="l"/>
            <a:r>
              <a:rPr sz="1900" b="0" i="0">
                <a:solidFill>
                  <a:srgbClr val="000000"/>
                </a:solidFill>
                <a:latin typeface="Arial"/>
              </a:rPr>
              <a:t>Project Study</a:t>
            </a:r>
          </a:p>
        </p:txBody>
      </p:sp>
      <p:sp>
        <p:nvSpPr>
          <p:cNvPr id="8" name="TextBox 7"/>
          <p:cNvSpPr txBox="1"/>
          <p:nvPr/>
        </p:nvSpPr>
        <p:spPr>
          <a:xfrm>
            <a:off x="2194560" y="4937760"/>
            <a:ext cx="914400" cy="731520"/>
          </a:xfrm>
          <a:prstGeom prst="rect">
            <a:avLst/>
          </a:prstGeom>
          <a:noFill/>
        </p:spPr>
        <p:txBody>
          <a:bodyPr wrap="square" lIns="45720" tIns="18288" rIns="45720" bIns="18288" anchor="ctr">
            <a:spAutoFit/>
          </a:bodyPr>
          <a:lstStyle/>
          <a:p>
            <a:pPr algn="l"/>
            <a:r>
              <a:rPr sz="3400" b="0" i="0">
                <a:solidFill>
                  <a:srgbClr val="000000"/>
                </a:solidFill>
                <a:latin typeface="Georgia"/>
              </a:rPr>
              <a:t>03</a:t>
            </a:r>
          </a:p>
        </p:txBody>
      </p:sp>
      <p:sp>
        <p:nvSpPr>
          <p:cNvPr id="9" name="TextBox 8"/>
          <p:cNvSpPr txBox="1"/>
          <p:nvPr/>
        </p:nvSpPr>
        <p:spPr>
          <a:xfrm>
            <a:off x="3154680" y="4937760"/>
            <a:ext cx="3840480" cy="731520"/>
          </a:xfrm>
          <a:prstGeom prst="rect">
            <a:avLst/>
          </a:prstGeom>
          <a:noFill/>
        </p:spPr>
        <p:txBody>
          <a:bodyPr wrap="square" lIns="45720" tIns="18288" rIns="45720" bIns="18288" anchor="ctr">
            <a:spAutoFit/>
          </a:bodyPr>
          <a:lstStyle/>
          <a:p>
            <a:pPr algn="l"/>
            <a:r>
              <a:rPr sz="1900" b="0" i="0">
                <a:solidFill>
                  <a:srgbClr val="000000"/>
                </a:solidFill>
                <a:latin typeface="Arial"/>
              </a:rPr>
              <a:t>Requirements &amp; Analysis</a:t>
            </a:r>
          </a:p>
        </p:txBody>
      </p:sp>
      <p:sp>
        <p:nvSpPr>
          <p:cNvPr id="10" name="TextBox 9"/>
          <p:cNvSpPr txBox="1"/>
          <p:nvPr/>
        </p:nvSpPr>
        <p:spPr>
          <a:xfrm>
            <a:off x="7223760" y="2468880"/>
            <a:ext cx="914400" cy="731520"/>
          </a:xfrm>
          <a:prstGeom prst="rect">
            <a:avLst/>
          </a:prstGeom>
          <a:noFill/>
        </p:spPr>
        <p:txBody>
          <a:bodyPr wrap="square" lIns="45720" tIns="18288" rIns="45720" bIns="18288" anchor="ctr">
            <a:spAutoFit/>
          </a:bodyPr>
          <a:lstStyle/>
          <a:p>
            <a:pPr algn="l"/>
            <a:r>
              <a:rPr sz="3400" b="0" i="0">
                <a:solidFill>
                  <a:srgbClr val="000000"/>
                </a:solidFill>
                <a:latin typeface="Georgia"/>
              </a:rPr>
              <a:t>04</a:t>
            </a:r>
          </a:p>
        </p:txBody>
      </p:sp>
      <p:sp>
        <p:nvSpPr>
          <p:cNvPr id="11" name="TextBox 10"/>
          <p:cNvSpPr txBox="1"/>
          <p:nvPr/>
        </p:nvSpPr>
        <p:spPr>
          <a:xfrm>
            <a:off x="8183880" y="2468880"/>
            <a:ext cx="3840480" cy="731520"/>
          </a:xfrm>
          <a:prstGeom prst="rect">
            <a:avLst/>
          </a:prstGeom>
          <a:noFill/>
        </p:spPr>
        <p:txBody>
          <a:bodyPr wrap="square" lIns="45720" tIns="18288" rIns="45720" bIns="18288" anchor="ctr">
            <a:spAutoFit/>
          </a:bodyPr>
          <a:lstStyle/>
          <a:p>
            <a:pPr algn="l"/>
            <a:r>
              <a:rPr sz="1900" b="0" i="0">
                <a:solidFill>
                  <a:srgbClr val="000000"/>
                </a:solidFill>
                <a:latin typeface="Arial"/>
              </a:rPr>
              <a:t>Design &amp; Implementation</a:t>
            </a:r>
          </a:p>
        </p:txBody>
      </p:sp>
      <p:sp>
        <p:nvSpPr>
          <p:cNvPr id="12" name="TextBox 11"/>
          <p:cNvSpPr txBox="1"/>
          <p:nvPr/>
        </p:nvSpPr>
        <p:spPr>
          <a:xfrm>
            <a:off x="7223760" y="3703320"/>
            <a:ext cx="914400" cy="731520"/>
          </a:xfrm>
          <a:prstGeom prst="rect">
            <a:avLst/>
          </a:prstGeom>
          <a:noFill/>
        </p:spPr>
        <p:txBody>
          <a:bodyPr wrap="square" lIns="45720" tIns="18288" rIns="45720" bIns="18288" anchor="ctr">
            <a:spAutoFit/>
          </a:bodyPr>
          <a:lstStyle/>
          <a:p>
            <a:pPr algn="l"/>
            <a:r>
              <a:rPr sz="3400" b="0" i="0">
                <a:solidFill>
                  <a:srgbClr val="000000"/>
                </a:solidFill>
                <a:latin typeface="Georgia"/>
              </a:rPr>
              <a:t>05</a:t>
            </a:r>
          </a:p>
        </p:txBody>
      </p:sp>
      <p:sp>
        <p:nvSpPr>
          <p:cNvPr id="13" name="TextBox 12"/>
          <p:cNvSpPr txBox="1"/>
          <p:nvPr/>
        </p:nvSpPr>
        <p:spPr>
          <a:xfrm>
            <a:off x="8183880" y="3703320"/>
            <a:ext cx="3840480" cy="731520"/>
          </a:xfrm>
          <a:prstGeom prst="rect">
            <a:avLst/>
          </a:prstGeom>
          <a:noFill/>
        </p:spPr>
        <p:txBody>
          <a:bodyPr wrap="square" lIns="45720" tIns="18288" rIns="45720" bIns="18288" anchor="ctr">
            <a:spAutoFit/>
          </a:bodyPr>
          <a:lstStyle/>
          <a:p>
            <a:pPr algn="l"/>
            <a:r>
              <a:rPr sz="1900" b="0" i="0">
                <a:solidFill>
                  <a:srgbClr val="000000"/>
                </a:solidFill>
                <a:latin typeface="Arial"/>
              </a:rPr>
              <a:t>Demo</a:t>
            </a:r>
          </a:p>
        </p:txBody>
      </p:sp>
      <p:sp>
        <p:nvSpPr>
          <p:cNvPr id="14" name="TextBox 13"/>
          <p:cNvSpPr txBox="1"/>
          <p:nvPr/>
        </p:nvSpPr>
        <p:spPr>
          <a:xfrm>
            <a:off x="7223760" y="4937760"/>
            <a:ext cx="914400" cy="731520"/>
          </a:xfrm>
          <a:prstGeom prst="rect">
            <a:avLst/>
          </a:prstGeom>
          <a:noFill/>
        </p:spPr>
        <p:txBody>
          <a:bodyPr wrap="square" lIns="45720" tIns="18288" rIns="45720" bIns="18288" anchor="ctr">
            <a:spAutoFit/>
          </a:bodyPr>
          <a:lstStyle/>
          <a:p>
            <a:pPr algn="l"/>
            <a:r>
              <a:rPr sz="3400" b="0" i="0">
                <a:solidFill>
                  <a:srgbClr val="000000"/>
                </a:solidFill>
                <a:latin typeface="Georgia"/>
              </a:rPr>
              <a:t>06</a:t>
            </a:r>
          </a:p>
        </p:txBody>
      </p:sp>
      <p:sp>
        <p:nvSpPr>
          <p:cNvPr id="15" name="TextBox 14"/>
          <p:cNvSpPr txBox="1"/>
          <p:nvPr/>
        </p:nvSpPr>
        <p:spPr>
          <a:xfrm>
            <a:off x="8183880" y="4937760"/>
            <a:ext cx="3840480" cy="731520"/>
          </a:xfrm>
          <a:prstGeom prst="rect">
            <a:avLst/>
          </a:prstGeom>
          <a:noFill/>
        </p:spPr>
        <p:txBody>
          <a:bodyPr wrap="square" lIns="45720" tIns="18288" rIns="45720" bIns="18288" anchor="ctr">
            <a:spAutoFit/>
          </a:bodyPr>
          <a:lstStyle/>
          <a:p>
            <a:pPr algn="l"/>
            <a:r>
              <a:rPr sz="1900" b="0" i="0">
                <a:solidFill>
                  <a:srgbClr val="000000"/>
                </a:solidFill>
                <a:latin typeface="Arial"/>
              </a:rPr>
              <a:t>Conclusion &amp; Perspectives</a:t>
            </a:r>
          </a:p>
        </p:txBody>
      </p:sp>
      <p:sp>
        <p:nvSpPr>
          <p:cNvPr id="16" name="TextBox 15"/>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Connector 1"/>
          <p:cNvCxnSpPr/>
          <p:nvPr/>
        </p:nvCxnSpPr>
        <p:spPr>
          <a:xfrm>
            <a:off x="3657600" y="0"/>
            <a:ext cx="0" cy="685800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069080" y="1463040"/>
            <a:ext cx="7680960" cy="4023360"/>
          </a:xfrm>
          <a:prstGeom prst="rect">
            <a:avLst/>
          </a:prstGeom>
          <a:noFill/>
        </p:spPr>
        <p:txBody>
          <a:bodyPr wrap="square" lIns="45720" tIns="18288" rIns="45720" bIns="18288" anchor="ctr">
            <a:spAutoFit/>
          </a:bodyPr>
          <a:lstStyle/>
          <a:p>
            <a:pPr algn="l"/>
            <a:r>
              <a:rPr sz="4800" b="0" i="0">
                <a:solidFill>
                  <a:srgbClr val="000000"/>
                </a:solidFill>
                <a:latin typeface="Arial Black"/>
              </a:rPr>
              <a:t>01</a:t>
            </a:r>
          </a:p>
          <a:p>
            <a:pPr algn="l"/>
            <a:r>
              <a:rPr sz="4800" b="0" i="0">
                <a:solidFill>
                  <a:srgbClr val="000000"/>
                </a:solidFill>
                <a:latin typeface="Arial Black"/>
              </a:rPr>
              <a:t>General</a:t>
            </a:r>
          </a:p>
          <a:p>
            <a:pPr algn="l"/>
            <a:r>
              <a:rPr sz="4800" b="0" i="0">
                <a:solidFill>
                  <a:srgbClr val="000000"/>
                </a:solidFill>
                <a:latin typeface="Arial Black"/>
              </a:rPr>
              <a:t>Context</a:t>
            </a:r>
          </a:p>
        </p:txBody>
      </p:sp>
      <p:sp>
        <p:nvSpPr>
          <p:cNvPr id="4" name="TextBox 3"/>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01. General Context</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Host Company</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4</a:t>
            </a:r>
          </a:p>
        </p:txBody>
      </p:sp>
      <p:pic>
        <p:nvPicPr>
          <p:cNvPr id="6" name="Picture 5" descr="sagemcom.png"/>
          <p:cNvPicPr>
            <a:picLocks noChangeAspect="1"/>
          </p:cNvPicPr>
          <p:nvPr/>
        </p:nvPicPr>
        <p:blipFill>
          <a:blip r:embed="rId2"/>
          <a:stretch>
            <a:fillRect/>
          </a:stretch>
        </p:blipFill>
        <p:spPr>
          <a:xfrm>
            <a:off x="640080" y="1783080"/>
            <a:ext cx="2194560" cy="2194560"/>
          </a:xfrm>
          <a:prstGeom prst="rect">
            <a:avLst/>
          </a:prstGeom>
        </p:spPr>
      </p:pic>
      <p:sp>
        <p:nvSpPr>
          <p:cNvPr id="7" name="Hexagon 6"/>
          <p:cNvSpPr/>
          <p:nvPr/>
        </p:nvSpPr>
        <p:spPr>
          <a:xfrm>
            <a:off x="3657600" y="1600200"/>
            <a:ext cx="7863840" cy="777240"/>
          </a:xfrm>
          <a:prstGeom prst="hexagon">
            <a:avLst/>
          </a:prstGeom>
          <a:noFill/>
          <a:ln w="2540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206240" y="1600200"/>
            <a:ext cx="6766560" cy="777240"/>
          </a:xfrm>
          <a:prstGeom prst="rect">
            <a:avLst/>
          </a:prstGeom>
          <a:noFill/>
        </p:spPr>
        <p:txBody>
          <a:bodyPr wrap="square" lIns="45720" tIns="18288" rIns="45720" bIns="18288" anchor="ctr">
            <a:spAutoFit/>
          </a:bodyPr>
          <a:lstStyle/>
          <a:p>
            <a:pPr algn="ctr"/>
            <a:r>
              <a:rPr sz="1500" b="1" i="0">
                <a:solidFill>
                  <a:srgbClr val="000000"/>
                </a:solidFill>
                <a:latin typeface="Arial"/>
              </a:rPr>
              <a:t>Industrial group</a:t>
            </a:r>
            <a:r>
              <a:rPr sz="1500" b="0" i="0">
                <a:solidFill>
                  <a:srgbClr val="000000"/>
                </a:solidFill>
                <a:latin typeface="Arial"/>
              </a:rPr>
              <a:t> designing and manufacturing high-value communication equipment</a:t>
            </a:r>
          </a:p>
        </p:txBody>
      </p:sp>
      <p:sp>
        <p:nvSpPr>
          <p:cNvPr id="9" name="Hexagon 8"/>
          <p:cNvSpPr/>
          <p:nvPr/>
        </p:nvSpPr>
        <p:spPr>
          <a:xfrm>
            <a:off x="3657600" y="2560320"/>
            <a:ext cx="7863840" cy="777240"/>
          </a:xfrm>
          <a:prstGeom prst="hexagon">
            <a:avLst/>
          </a:prstGeom>
          <a:noFill/>
          <a:ln w="2540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206240" y="2560320"/>
            <a:ext cx="6766560" cy="777240"/>
          </a:xfrm>
          <a:prstGeom prst="rect">
            <a:avLst/>
          </a:prstGeom>
          <a:noFill/>
        </p:spPr>
        <p:txBody>
          <a:bodyPr wrap="square" lIns="45720" tIns="18288" rIns="45720" bIns="18288" anchor="ctr">
            <a:spAutoFit/>
          </a:bodyPr>
          <a:lstStyle/>
          <a:p>
            <a:pPr algn="ctr"/>
            <a:r>
              <a:rPr sz="1500" b="1" i="0">
                <a:solidFill>
                  <a:srgbClr val="000000"/>
                </a:solidFill>
                <a:latin typeface="Arial"/>
              </a:rPr>
              <a:t>Products: </a:t>
            </a:r>
            <a:r>
              <a:rPr sz="1500" b="0" i="0">
                <a:solidFill>
                  <a:srgbClr val="000000"/>
                </a:solidFill>
                <a:latin typeface="Arial"/>
              </a:rPr>
              <a:t>set-top boxes, internet boxes, smart meters</a:t>
            </a:r>
          </a:p>
        </p:txBody>
      </p:sp>
      <p:sp>
        <p:nvSpPr>
          <p:cNvPr id="11" name="Hexagon 10"/>
          <p:cNvSpPr/>
          <p:nvPr/>
        </p:nvSpPr>
        <p:spPr>
          <a:xfrm>
            <a:off x="3657600" y="3520440"/>
            <a:ext cx="7863840" cy="777240"/>
          </a:xfrm>
          <a:prstGeom prst="hexagon">
            <a:avLst/>
          </a:prstGeom>
          <a:noFill/>
          <a:ln w="2540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206240" y="3520440"/>
            <a:ext cx="6766560" cy="777240"/>
          </a:xfrm>
          <a:prstGeom prst="rect">
            <a:avLst/>
          </a:prstGeom>
          <a:noFill/>
        </p:spPr>
        <p:txBody>
          <a:bodyPr wrap="square" lIns="45720" tIns="18288" rIns="45720" bIns="18288" anchor="ctr">
            <a:spAutoFit/>
          </a:bodyPr>
          <a:lstStyle/>
          <a:p>
            <a:pPr algn="ctr"/>
            <a:r>
              <a:rPr sz="1500" b="1" i="0" dirty="0">
                <a:solidFill>
                  <a:srgbClr val="000000"/>
                </a:solidFill>
                <a:latin typeface="Arial"/>
              </a:rPr>
              <a:t>Host department: </a:t>
            </a:r>
            <a:r>
              <a:rPr sz="1500" b="0" i="0" dirty="0">
                <a:solidFill>
                  <a:srgbClr val="000000"/>
                </a:solidFill>
                <a:latin typeface="Arial"/>
              </a:rPr>
              <a:t>Software Engineering &amp; Innovation, in-house digital tools for equipment maintenance</a:t>
            </a:r>
          </a:p>
        </p:txBody>
      </p:sp>
      <p:sp>
        <p:nvSpPr>
          <p:cNvPr id="13" name="TextBox 12"/>
          <p:cNvSpPr txBox="1"/>
          <p:nvPr/>
        </p:nvSpPr>
        <p:spPr>
          <a:xfrm>
            <a:off x="640080" y="4572000"/>
            <a:ext cx="7315200" cy="365760"/>
          </a:xfrm>
          <a:prstGeom prst="rect">
            <a:avLst/>
          </a:prstGeom>
          <a:noFill/>
        </p:spPr>
        <p:txBody>
          <a:bodyPr wrap="square" lIns="45720" tIns="18288" rIns="45720" bIns="18288" anchor="ctr">
            <a:spAutoFit/>
          </a:bodyPr>
          <a:lstStyle/>
          <a:p>
            <a:pPr algn="l"/>
            <a:r>
              <a:rPr sz="1400" b="1" i="0">
                <a:solidFill>
                  <a:srgbClr val="D0101A"/>
                </a:solidFill>
                <a:latin typeface="Arial"/>
              </a:rPr>
              <a:t>Production lines served by the platform</a:t>
            </a:r>
          </a:p>
        </p:txBody>
      </p:sp>
      <p:sp>
        <p:nvSpPr>
          <p:cNvPr id="14" name="Rounded Rectangle 13"/>
          <p:cNvSpPr/>
          <p:nvPr/>
        </p:nvSpPr>
        <p:spPr>
          <a:xfrm>
            <a:off x="822960" y="4983480"/>
            <a:ext cx="2834640" cy="914400"/>
          </a:xfrm>
          <a:prstGeom prst="roundRect">
            <a:avLst>
              <a:gd name="adj" fmla="val 12000"/>
            </a:avLst>
          </a:prstGeom>
          <a:solidFill>
            <a:srgbClr val="D0101A"/>
          </a:solidFill>
          <a:ln w="2222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59536" y="5001768"/>
            <a:ext cx="2761488" cy="877824"/>
          </a:xfrm>
          <a:prstGeom prst="rect">
            <a:avLst/>
          </a:prstGeom>
          <a:noFill/>
        </p:spPr>
        <p:txBody>
          <a:bodyPr wrap="square" lIns="45720" tIns="18288" rIns="45720" bIns="18288" anchor="ctr">
            <a:spAutoFit/>
          </a:bodyPr>
          <a:lstStyle/>
          <a:p>
            <a:pPr algn="ctr"/>
            <a:r>
              <a:rPr sz="1500" b="1" i="0" dirty="0">
                <a:solidFill>
                  <a:srgbClr val="FFFFFF"/>
                </a:solidFill>
                <a:latin typeface="Arial"/>
              </a:rPr>
              <a:t>SMT assembly</a:t>
            </a:r>
          </a:p>
          <a:p>
            <a:pPr algn="ctr"/>
            <a:r>
              <a:rPr sz="1100" b="0" i="0" dirty="0">
                <a:solidFill>
                  <a:srgbClr val="FFFFFF"/>
                </a:solidFill>
                <a:latin typeface="Arial"/>
              </a:rPr>
              <a:t>surface-mount lines</a:t>
            </a:r>
          </a:p>
        </p:txBody>
      </p:sp>
      <p:cxnSp>
        <p:nvCxnSpPr>
          <p:cNvPr id="16" name="Connector 15"/>
          <p:cNvCxnSpPr/>
          <p:nvPr/>
        </p:nvCxnSpPr>
        <p:spPr>
          <a:xfrm>
            <a:off x="3703320" y="5440680"/>
            <a:ext cx="640080" cy="0"/>
          </a:xfrm>
          <a:prstGeom prst="line">
            <a:avLst/>
          </a:prstGeom>
          <a:ln w="19050">
            <a:solidFill>
              <a:srgbClr val="000000"/>
            </a:solidFill>
            <a:tailEnd type="triangle"/>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389120" y="4983480"/>
            <a:ext cx="2834640" cy="914400"/>
          </a:xfrm>
          <a:prstGeom prst="roundRect">
            <a:avLst>
              <a:gd name="adj" fmla="val 12000"/>
            </a:avLst>
          </a:prstGeom>
          <a:solidFill>
            <a:srgbClr val="D0101A"/>
          </a:solidFill>
          <a:ln w="2222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425696" y="5001768"/>
            <a:ext cx="2761488" cy="877824"/>
          </a:xfrm>
          <a:prstGeom prst="rect">
            <a:avLst/>
          </a:prstGeom>
          <a:noFill/>
        </p:spPr>
        <p:txBody>
          <a:bodyPr wrap="square" lIns="45720" tIns="18288" rIns="45720" bIns="18288" anchor="ctr">
            <a:spAutoFit/>
          </a:bodyPr>
          <a:lstStyle/>
          <a:p>
            <a:pPr algn="ctr"/>
            <a:r>
              <a:rPr sz="1500" b="1" i="0">
                <a:solidFill>
                  <a:srgbClr val="FFFFFF"/>
                </a:solidFill>
                <a:latin typeface="Arial"/>
              </a:rPr>
              <a:t>Functional testing</a:t>
            </a:r>
          </a:p>
          <a:p>
            <a:pPr algn="ctr"/>
            <a:r>
              <a:rPr sz="1100" b="0" i="0">
                <a:solidFill>
                  <a:srgbClr val="FFFFFF"/>
                </a:solidFill>
                <a:latin typeface="Arial"/>
              </a:rPr>
              <a:t>board &amp; unit tests</a:t>
            </a:r>
          </a:p>
        </p:txBody>
      </p:sp>
      <p:cxnSp>
        <p:nvCxnSpPr>
          <p:cNvPr id="19" name="Connector 18"/>
          <p:cNvCxnSpPr/>
          <p:nvPr/>
        </p:nvCxnSpPr>
        <p:spPr>
          <a:xfrm>
            <a:off x="7269479" y="5440680"/>
            <a:ext cx="640081" cy="0"/>
          </a:xfrm>
          <a:prstGeom prst="line">
            <a:avLst/>
          </a:prstGeom>
          <a:ln w="19050">
            <a:solidFill>
              <a:srgbClr val="000000"/>
            </a:solidFill>
            <a:tailEnd type="triangle"/>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955279" y="4983480"/>
            <a:ext cx="2834640" cy="914400"/>
          </a:xfrm>
          <a:prstGeom prst="roundRect">
            <a:avLst>
              <a:gd name="adj" fmla="val 12000"/>
            </a:avLst>
          </a:prstGeom>
          <a:solidFill>
            <a:srgbClr val="D0101A"/>
          </a:solidFill>
          <a:ln w="2222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991855" y="5001768"/>
            <a:ext cx="2761488" cy="877824"/>
          </a:xfrm>
          <a:prstGeom prst="rect">
            <a:avLst/>
          </a:prstGeom>
          <a:noFill/>
        </p:spPr>
        <p:txBody>
          <a:bodyPr wrap="square" lIns="45720" tIns="18288" rIns="45720" bIns="18288" anchor="ctr">
            <a:spAutoFit/>
          </a:bodyPr>
          <a:lstStyle/>
          <a:p>
            <a:pPr algn="ctr"/>
            <a:r>
              <a:rPr sz="1500" b="1" i="0">
                <a:solidFill>
                  <a:srgbClr val="FFFFFF"/>
                </a:solidFill>
                <a:latin typeface="Arial"/>
              </a:rPr>
              <a:t>Automated quality control</a:t>
            </a:r>
          </a:p>
          <a:p>
            <a:pPr algn="ctr"/>
            <a:r>
              <a:rPr sz="1100" b="0" i="0">
                <a:solidFill>
                  <a:srgbClr val="FFFFFF"/>
                </a:solidFill>
                <a:latin typeface="Arial"/>
              </a:rPr>
              <a:t>inspection stations</a:t>
            </a:r>
          </a:p>
        </p:txBody>
      </p:sp>
      <p:sp>
        <p:nvSpPr>
          <p:cNvPr id="22" name="TextBox 21"/>
          <p:cNvSpPr txBox="1"/>
          <p:nvPr/>
        </p:nvSpPr>
        <p:spPr>
          <a:xfrm>
            <a:off x="2011680" y="5989320"/>
            <a:ext cx="457200" cy="411480"/>
          </a:xfrm>
          <a:prstGeom prst="rect">
            <a:avLst/>
          </a:prstGeom>
          <a:noFill/>
        </p:spPr>
        <p:txBody>
          <a:bodyPr wrap="square" lIns="45720" tIns="18288" rIns="45720" bIns="18288" anchor="ctr">
            <a:spAutoFit/>
          </a:bodyPr>
          <a:lstStyle/>
          <a:p>
            <a:pPr algn="ctr"/>
            <a:r>
              <a:rPr sz="1800" b="1" i="0">
                <a:solidFill>
                  <a:srgbClr val="8CC63F"/>
                </a:solidFill>
                <a:latin typeface="DejaVu Sans"/>
              </a:rPr>
              <a:t>✓</a:t>
            </a:r>
          </a:p>
        </p:txBody>
      </p:sp>
      <p:sp>
        <p:nvSpPr>
          <p:cNvPr id="23" name="TextBox 22"/>
          <p:cNvSpPr txBox="1"/>
          <p:nvPr/>
        </p:nvSpPr>
        <p:spPr>
          <a:xfrm>
            <a:off x="2423160" y="6076566"/>
            <a:ext cx="2560320" cy="236988"/>
          </a:xfrm>
          <a:prstGeom prst="rect">
            <a:avLst/>
          </a:prstGeom>
          <a:noFill/>
        </p:spPr>
        <p:txBody>
          <a:bodyPr wrap="square" lIns="45720" tIns="18288" rIns="45720" bIns="18288" anchor="ctr">
            <a:spAutoFit/>
          </a:bodyPr>
          <a:lstStyle/>
          <a:p>
            <a:pPr algn="l"/>
            <a:r>
              <a:rPr lang="fr-FR" sz="1300" b="0" i="1" dirty="0">
                <a:solidFill>
                  <a:srgbClr val="000000"/>
                </a:solidFill>
                <a:latin typeface="Arial"/>
              </a:rPr>
              <a:t>6-</a:t>
            </a:r>
            <a:r>
              <a:rPr sz="1300" b="0" i="1" dirty="0">
                <a:solidFill>
                  <a:srgbClr val="000000"/>
                </a:solidFill>
                <a:latin typeface="Arial"/>
              </a:rPr>
              <a:t>7 months</a:t>
            </a:r>
          </a:p>
        </p:txBody>
      </p:sp>
      <p:sp>
        <p:nvSpPr>
          <p:cNvPr id="24" name="TextBox 23"/>
          <p:cNvSpPr txBox="1"/>
          <p:nvPr/>
        </p:nvSpPr>
        <p:spPr>
          <a:xfrm>
            <a:off x="5120640" y="5989320"/>
            <a:ext cx="457200" cy="411480"/>
          </a:xfrm>
          <a:prstGeom prst="rect">
            <a:avLst/>
          </a:prstGeom>
          <a:noFill/>
        </p:spPr>
        <p:txBody>
          <a:bodyPr wrap="square" lIns="45720" tIns="18288" rIns="45720" bIns="18288" anchor="ctr">
            <a:spAutoFit/>
          </a:bodyPr>
          <a:lstStyle/>
          <a:p>
            <a:pPr algn="ctr"/>
            <a:r>
              <a:rPr sz="1800" b="1" i="0">
                <a:solidFill>
                  <a:srgbClr val="8CC63F"/>
                </a:solidFill>
                <a:latin typeface="DejaVu Sans"/>
              </a:rPr>
              <a:t>✓</a:t>
            </a:r>
          </a:p>
        </p:txBody>
      </p:sp>
      <p:sp>
        <p:nvSpPr>
          <p:cNvPr id="25" name="TextBox 24"/>
          <p:cNvSpPr txBox="1"/>
          <p:nvPr/>
        </p:nvSpPr>
        <p:spPr>
          <a:xfrm>
            <a:off x="5532120" y="5989320"/>
            <a:ext cx="2560320" cy="411480"/>
          </a:xfrm>
          <a:prstGeom prst="rect">
            <a:avLst/>
          </a:prstGeom>
          <a:noFill/>
        </p:spPr>
        <p:txBody>
          <a:bodyPr wrap="square" lIns="45720" tIns="18288" rIns="45720" bIns="18288" anchor="ctr">
            <a:spAutoFit/>
          </a:bodyPr>
          <a:lstStyle/>
          <a:p>
            <a:pPr algn="l"/>
            <a:r>
              <a:rPr sz="1300" b="0" i="1">
                <a:solidFill>
                  <a:srgbClr val="000000"/>
                </a:solidFill>
                <a:latin typeface="Arial"/>
              </a:rPr>
              <a:t>7 ML models (P1-P7)</a:t>
            </a:r>
          </a:p>
        </p:txBody>
      </p:sp>
      <p:sp>
        <p:nvSpPr>
          <p:cNvPr id="26" name="TextBox 25"/>
          <p:cNvSpPr txBox="1"/>
          <p:nvPr/>
        </p:nvSpPr>
        <p:spPr>
          <a:xfrm>
            <a:off x="8229600" y="5989320"/>
            <a:ext cx="457200" cy="411480"/>
          </a:xfrm>
          <a:prstGeom prst="rect">
            <a:avLst/>
          </a:prstGeom>
          <a:noFill/>
        </p:spPr>
        <p:txBody>
          <a:bodyPr wrap="square" lIns="45720" tIns="18288" rIns="45720" bIns="18288" anchor="ctr">
            <a:spAutoFit/>
          </a:bodyPr>
          <a:lstStyle/>
          <a:p>
            <a:pPr algn="ctr"/>
            <a:r>
              <a:rPr sz="1800" b="1" i="0">
                <a:solidFill>
                  <a:srgbClr val="8CC63F"/>
                </a:solidFill>
                <a:latin typeface="DejaVu Sans"/>
              </a:rPr>
              <a:t>✓</a:t>
            </a:r>
          </a:p>
        </p:txBody>
      </p:sp>
      <p:sp>
        <p:nvSpPr>
          <p:cNvPr id="27" name="TextBox 26"/>
          <p:cNvSpPr txBox="1"/>
          <p:nvPr/>
        </p:nvSpPr>
        <p:spPr>
          <a:xfrm>
            <a:off x="8641080" y="5989320"/>
            <a:ext cx="2560320" cy="411480"/>
          </a:xfrm>
          <a:prstGeom prst="rect">
            <a:avLst/>
          </a:prstGeom>
          <a:noFill/>
        </p:spPr>
        <p:txBody>
          <a:bodyPr wrap="square" lIns="45720" tIns="18288" rIns="45720" bIns="18288" anchor="ctr">
            <a:spAutoFit/>
          </a:bodyPr>
          <a:lstStyle/>
          <a:p>
            <a:pPr algn="l"/>
            <a:r>
              <a:rPr sz="1300" b="0" i="1">
                <a:solidFill>
                  <a:srgbClr val="000000"/>
                </a:solidFill>
                <a:latin typeface="Arial"/>
              </a:rPr>
              <a:t>4 user roles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01. General Context</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Background &amp; Motivation</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5</a:t>
            </a:r>
          </a:p>
        </p:txBody>
      </p:sp>
      <p:sp>
        <p:nvSpPr>
          <p:cNvPr id="6" name="TextBox 5"/>
          <p:cNvSpPr txBox="1"/>
          <p:nvPr/>
        </p:nvSpPr>
        <p:spPr>
          <a:xfrm>
            <a:off x="685800" y="1600200"/>
            <a:ext cx="3383280" cy="822960"/>
          </a:xfrm>
          <a:prstGeom prst="rect">
            <a:avLst/>
          </a:prstGeom>
          <a:noFill/>
        </p:spPr>
        <p:txBody>
          <a:bodyPr wrap="square" lIns="45720" tIns="18288" rIns="45720" bIns="18288" anchor="ctr">
            <a:spAutoFit/>
          </a:bodyPr>
          <a:lstStyle/>
          <a:p>
            <a:pPr algn="ctr"/>
            <a:r>
              <a:rPr sz="4000" b="0" i="0">
                <a:solidFill>
                  <a:srgbClr val="D0101A"/>
                </a:solidFill>
                <a:latin typeface="Arial Black"/>
              </a:rPr>
              <a:t>1</a:t>
            </a:r>
          </a:p>
        </p:txBody>
      </p:sp>
      <p:cxnSp>
        <p:nvCxnSpPr>
          <p:cNvPr id="7" name="Connector 6"/>
          <p:cNvCxnSpPr/>
          <p:nvPr/>
        </p:nvCxnSpPr>
        <p:spPr>
          <a:xfrm>
            <a:off x="685800" y="2514600"/>
            <a:ext cx="457200" cy="0"/>
          </a:xfrm>
          <a:prstGeom prst="line">
            <a:avLst/>
          </a:prstGeom>
          <a:ln w="38100">
            <a:solidFill>
              <a:srgbClr val="D0101A"/>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188720" y="2331720"/>
            <a:ext cx="2377440" cy="365760"/>
          </a:xfrm>
          <a:prstGeom prst="rect">
            <a:avLst/>
          </a:prstGeom>
          <a:noFill/>
        </p:spPr>
        <p:txBody>
          <a:bodyPr wrap="square" lIns="45720" tIns="18288" rIns="45720" bIns="18288" anchor="ctr">
            <a:spAutoFit/>
          </a:bodyPr>
          <a:lstStyle/>
          <a:p>
            <a:pPr algn="ctr"/>
            <a:r>
              <a:rPr sz="1800" b="1" i="0">
                <a:solidFill>
                  <a:srgbClr val="000000"/>
                </a:solidFill>
                <a:latin typeface="Arial"/>
              </a:rPr>
              <a:t>Reactive:</a:t>
            </a:r>
          </a:p>
        </p:txBody>
      </p:sp>
      <p:cxnSp>
        <p:nvCxnSpPr>
          <p:cNvPr id="9" name="Connector 8"/>
          <p:cNvCxnSpPr/>
          <p:nvPr/>
        </p:nvCxnSpPr>
        <p:spPr>
          <a:xfrm>
            <a:off x="3566160" y="2514600"/>
            <a:ext cx="502920" cy="0"/>
          </a:xfrm>
          <a:prstGeom prst="line">
            <a:avLst/>
          </a:prstGeom>
          <a:ln w="38100">
            <a:solidFill>
              <a:srgbClr val="D0101A"/>
            </a:solidFill>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834640"/>
            <a:ext cx="3383280" cy="457200"/>
          </a:xfrm>
          <a:prstGeom prst="rect">
            <a:avLst/>
          </a:prstGeom>
          <a:noFill/>
        </p:spPr>
        <p:txBody>
          <a:bodyPr wrap="square" lIns="45720" tIns="18288" rIns="45720" bIns="18288" anchor="ctr">
            <a:spAutoFit/>
          </a:bodyPr>
          <a:lstStyle/>
          <a:p>
            <a:pPr algn="ctr"/>
            <a:r>
              <a:rPr sz="1700" b="1" i="1">
                <a:solidFill>
                  <a:srgbClr val="1A1A9C"/>
                </a:solidFill>
                <a:latin typeface="Arial"/>
              </a:rPr>
              <a:t>Repair after the failure</a:t>
            </a:r>
          </a:p>
        </p:txBody>
      </p:sp>
      <p:sp>
        <p:nvSpPr>
          <p:cNvPr id="11" name="TextBox 10"/>
          <p:cNvSpPr txBox="1"/>
          <p:nvPr/>
        </p:nvSpPr>
        <p:spPr>
          <a:xfrm>
            <a:off x="777240" y="3383280"/>
            <a:ext cx="3200400" cy="1188720"/>
          </a:xfrm>
          <a:prstGeom prst="rect">
            <a:avLst/>
          </a:prstGeom>
          <a:noFill/>
        </p:spPr>
        <p:txBody>
          <a:bodyPr wrap="square" lIns="45720" tIns="18288" rIns="45720" bIns="18288" anchor="t">
            <a:spAutoFit/>
          </a:bodyPr>
          <a:lstStyle/>
          <a:p>
            <a:pPr algn="ctr"/>
            <a:r>
              <a:rPr sz="1400" b="0" i="0" dirty="0">
                <a:solidFill>
                  <a:srgbClr val="000000"/>
                </a:solidFill>
                <a:latin typeface="Arial"/>
              </a:rPr>
              <a:t>Line stoppage, emergency parts ordering, maximum total cost.</a:t>
            </a:r>
          </a:p>
        </p:txBody>
      </p:sp>
      <p:sp>
        <p:nvSpPr>
          <p:cNvPr id="12" name="Rounded Rectangle 11"/>
          <p:cNvSpPr/>
          <p:nvPr/>
        </p:nvSpPr>
        <p:spPr>
          <a:xfrm>
            <a:off x="960120" y="4709160"/>
            <a:ext cx="2834640" cy="109728"/>
          </a:xfrm>
          <a:prstGeom prst="roundRect">
            <a:avLst>
              <a:gd name="adj" fmla="val 50000"/>
            </a:avLst>
          </a:prstGeom>
          <a:solidFill>
            <a:srgbClr val="C82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480560" y="1600200"/>
            <a:ext cx="3383280" cy="822960"/>
          </a:xfrm>
          <a:prstGeom prst="rect">
            <a:avLst/>
          </a:prstGeom>
          <a:noFill/>
        </p:spPr>
        <p:txBody>
          <a:bodyPr wrap="square" lIns="45720" tIns="18288" rIns="45720" bIns="18288" anchor="ctr">
            <a:spAutoFit/>
          </a:bodyPr>
          <a:lstStyle/>
          <a:p>
            <a:pPr algn="ctr"/>
            <a:r>
              <a:rPr sz="4000" b="0" i="0">
                <a:solidFill>
                  <a:srgbClr val="D0101A"/>
                </a:solidFill>
                <a:latin typeface="Arial Black"/>
              </a:rPr>
              <a:t>2</a:t>
            </a:r>
          </a:p>
        </p:txBody>
      </p:sp>
      <p:cxnSp>
        <p:nvCxnSpPr>
          <p:cNvPr id="14" name="Connector 13"/>
          <p:cNvCxnSpPr/>
          <p:nvPr/>
        </p:nvCxnSpPr>
        <p:spPr>
          <a:xfrm>
            <a:off x="4480560" y="2514600"/>
            <a:ext cx="457200" cy="0"/>
          </a:xfrm>
          <a:prstGeom prst="line">
            <a:avLst/>
          </a:prstGeom>
          <a:ln w="38100">
            <a:solidFill>
              <a:srgbClr val="D0101A"/>
            </a:solidFill>
          </a:ln>
          <a:effectLst/>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983480" y="2331720"/>
            <a:ext cx="2377440" cy="365760"/>
          </a:xfrm>
          <a:prstGeom prst="rect">
            <a:avLst/>
          </a:prstGeom>
          <a:noFill/>
        </p:spPr>
        <p:txBody>
          <a:bodyPr wrap="square" lIns="45720" tIns="18288" rIns="45720" bIns="18288" anchor="ctr">
            <a:spAutoFit/>
          </a:bodyPr>
          <a:lstStyle/>
          <a:p>
            <a:pPr algn="ctr"/>
            <a:r>
              <a:rPr sz="1800" b="1" i="0">
                <a:solidFill>
                  <a:srgbClr val="000000"/>
                </a:solidFill>
                <a:latin typeface="Arial"/>
              </a:rPr>
              <a:t>Preventive:</a:t>
            </a:r>
          </a:p>
        </p:txBody>
      </p:sp>
      <p:cxnSp>
        <p:nvCxnSpPr>
          <p:cNvPr id="16" name="Connector 15"/>
          <p:cNvCxnSpPr/>
          <p:nvPr/>
        </p:nvCxnSpPr>
        <p:spPr>
          <a:xfrm>
            <a:off x="7360920" y="2514600"/>
            <a:ext cx="502920" cy="0"/>
          </a:xfrm>
          <a:prstGeom prst="line">
            <a:avLst/>
          </a:prstGeom>
          <a:ln w="38100">
            <a:solidFill>
              <a:srgbClr val="D0101A"/>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480560" y="2834640"/>
            <a:ext cx="3383280" cy="457200"/>
          </a:xfrm>
          <a:prstGeom prst="rect">
            <a:avLst/>
          </a:prstGeom>
          <a:noFill/>
        </p:spPr>
        <p:txBody>
          <a:bodyPr wrap="square" lIns="45720" tIns="18288" rIns="45720" bIns="18288" anchor="ctr">
            <a:spAutoFit/>
          </a:bodyPr>
          <a:lstStyle/>
          <a:p>
            <a:pPr algn="ctr"/>
            <a:r>
              <a:rPr sz="1700" b="1" i="1">
                <a:solidFill>
                  <a:srgbClr val="1A1A9C"/>
                </a:solidFill>
                <a:latin typeface="Arial"/>
              </a:rPr>
              <a:t>Repair on a calendar</a:t>
            </a:r>
          </a:p>
        </p:txBody>
      </p:sp>
      <p:sp>
        <p:nvSpPr>
          <p:cNvPr id="18" name="TextBox 17"/>
          <p:cNvSpPr txBox="1"/>
          <p:nvPr/>
        </p:nvSpPr>
        <p:spPr>
          <a:xfrm>
            <a:off x="4572000" y="3383280"/>
            <a:ext cx="3200400" cy="1188720"/>
          </a:xfrm>
          <a:prstGeom prst="rect">
            <a:avLst/>
          </a:prstGeom>
          <a:noFill/>
        </p:spPr>
        <p:txBody>
          <a:bodyPr wrap="square" lIns="45720" tIns="18288" rIns="45720" bIns="18288" anchor="t">
            <a:spAutoFit/>
          </a:bodyPr>
          <a:lstStyle/>
          <a:p>
            <a:pPr algn="ctr"/>
            <a:r>
              <a:rPr sz="1400" b="0" i="0" dirty="0">
                <a:solidFill>
                  <a:srgbClr val="000000"/>
                </a:solidFill>
                <a:latin typeface="Arial"/>
              </a:rPr>
              <a:t>Fixed intervals regardless of real condition: parts replaced too early, or failures between two visits.</a:t>
            </a:r>
          </a:p>
        </p:txBody>
      </p:sp>
      <p:sp>
        <p:nvSpPr>
          <p:cNvPr id="19" name="Rounded Rectangle 18"/>
          <p:cNvSpPr/>
          <p:nvPr/>
        </p:nvSpPr>
        <p:spPr>
          <a:xfrm>
            <a:off x="4754880" y="4709160"/>
            <a:ext cx="2834640" cy="109728"/>
          </a:xfrm>
          <a:prstGeom prst="roundRect">
            <a:avLst>
              <a:gd name="adj" fmla="val 50000"/>
            </a:avLst>
          </a:prstGeom>
          <a:solidFill>
            <a:srgbClr val="F39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75320" y="1600200"/>
            <a:ext cx="3383280" cy="822960"/>
          </a:xfrm>
          <a:prstGeom prst="rect">
            <a:avLst/>
          </a:prstGeom>
          <a:noFill/>
        </p:spPr>
        <p:txBody>
          <a:bodyPr wrap="square" lIns="45720" tIns="18288" rIns="45720" bIns="18288" anchor="ctr">
            <a:spAutoFit/>
          </a:bodyPr>
          <a:lstStyle/>
          <a:p>
            <a:pPr algn="ctr"/>
            <a:r>
              <a:rPr sz="4000" b="0" i="0">
                <a:solidFill>
                  <a:srgbClr val="D0101A"/>
                </a:solidFill>
                <a:latin typeface="Arial Black"/>
              </a:rPr>
              <a:t>3</a:t>
            </a:r>
          </a:p>
        </p:txBody>
      </p:sp>
      <p:cxnSp>
        <p:nvCxnSpPr>
          <p:cNvPr id="21" name="Connector 20"/>
          <p:cNvCxnSpPr/>
          <p:nvPr/>
        </p:nvCxnSpPr>
        <p:spPr>
          <a:xfrm>
            <a:off x="8275320" y="2514600"/>
            <a:ext cx="457200" cy="0"/>
          </a:xfrm>
          <a:prstGeom prst="line">
            <a:avLst/>
          </a:prstGeom>
          <a:ln w="38100">
            <a:solidFill>
              <a:srgbClr val="D0101A"/>
            </a:solidFill>
          </a:ln>
          <a:effectLst/>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8778240" y="2331720"/>
            <a:ext cx="2377440" cy="365760"/>
          </a:xfrm>
          <a:prstGeom prst="rect">
            <a:avLst/>
          </a:prstGeom>
          <a:noFill/>
        </p:spPr>
        <p:txBody>
          <a:bodyPr wrap="square" lIns="45720" tIns="18288" rIns="45720" bIns="18288" anchor="ctr">
            <a:spAutoFit/>
          </a:bodyPr>
          <a:lstStyle/>
          <a:p>
            <a:pPr algn="ctr"/>
            <a:r>
              <a:rPr sz="1800" b="1" i="0">
                <a:solidFill>
                  <a:srgbClr val="000000"/>
                </a:solidFill>
                <a:latin typeface="Arial"/>
              </a:rPr>
              <a:t>Predictive:</a:t>
            </a:r>
          </a:p>
        </p:txBody>
      </p:sp>
      <p:cxnSp>
        <p:nvCxnSpPr>
          <p:cNvPr id="23" name="Connector 22"/>
          <p:cNvCxnSpPr/>
          <p:nvPr/>
        </p:nvCxnSpPr>
        <p:spPr>
          <a:xfrm>
            <a:off x="11155680" y="2514600"/>
            <a:ext cx="502920" cy="0"/>
          </a:xfrm>
          <a:prstGeom prst="line">
            <a:avLst/>
          </a:prstGeom>
          <a:ln w="38100">
            <a:solidFill>
              <a:srgbClr val="D0101A"/>
            </a:solidFill>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275320" y="2834640"/>
            <a:ext cx="3383280" cy="457200"/>
          </a:xfrm>
          <a:prstGeom prst="rect">
            <a:avLst/>
          </a:prstGeom>
          <a:noFill/>
        </p:spPr>
        <p:txBody>
          <a:bodyPr wrap="square" lIns="45720" tIns="18288" rIns="45720" bIns="18288" anchor="ctr">
            <a:spAutoFit/>
          </a:bodyPr>
          <a:lstStyle/>
          <a:p>
            <a:pPr algn="ctr"/>
            <a:r>
              <a:rPr sz="1700" b="1" i="1">
                <a:solidFill>
                  <a:srgbClr val="1A1A9C"/>
                </a:solidFill>
                <a:latin typeface="Arial"/>
              </a:rPr>
              <a:t>Repair before the failure</a:t>
            </a:r>
          </a:p>
        </p:txBody>
      </p:sp>
      <p:sp>
        <p:nvSpPr>
          <p:cNvPr id="25" name="TextBox 24"/>
          <p:cNvSpPr txBox="1"/>
          <p:nvPr/>
        </p:nvSpPr>
        <p:spPr>
          <a:xfrm>
            <a:off x="8366760" y="3383280"/>
            <a:ext cx="3200400" cy="1188720"/>
          </a:xfrm>
          <a:prstGeom prst="rect">
            <a:avLst/>
          </a:prstGeom>
          <a:noFill/>
        </p:spPr>
        <p:txBody>
          <a:bodyPr wrap="square" lIns="45720" tIns="18288" rIns="45720" bIns="18288" anchor="t">
            <a:spAutoFit/>
          </a:bodyPr>
          <a:lstStyle/>
          <a:p>
            <a:pPr algn="ctr"/>
            <a:r>
              <a:rPr sz="1400" b="0" i="0">
                <a:solidFill>
                  <a:srgbClr val="000000"/>
                </a:solidFill>
                <a:latin typeface="Arial"/>
              </a:rPr>
              <a:t>Continuous reading of the machine's own signals (temperature, torque, wear) to anticipate it.</a:t>
            </a:r>
          </a:p>
        </p:txBody>
      </p:sp>
      <p:sp>
        <p:nvSpPr>
          <p:cNvPr id="26" name="Rounded Rectangle 25"/>
          <p:cNvSpPr/>
          <p:nvPr/>
        </p:nvSpPr>
        <p:spPr>
          <a:xfrm>
            <a:off x="8549640" y="4709160"/>
            <a:ext cx="2834640" cy="109728"/>
          </a:xfrm>
          <a:prstGeom prst="roundRect">
            <a:avLst>
              <a:gd name="adj" fmla="val 50000"/>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1188720" y="5212080"/>
            <a:ext cx="9784080" cy="960120"/>
          </a:xfrm>
          <a:prstGeom prst="roundRect">
            <a:avLst>
              <a:gd name="adj" fmla="val 12000"/>
            </a:avLst>
          </a:prstGeom>
          <a:noFill/>
          <a:ln w="2540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1280160" y="5212080"/>
            <a:ext cx="9601200" cy="960120"/>
          </a:xfrm>
          <a:prstGeom prst="rect">
            <a:avLst/>
          </a:prstGeom>
          <a:noFill/>
        </p:spPr>
        <p:txBody>
          <a:bodyPr wrap="square" lIns="45720" tIns="18288" rIns="45720" bIns="18288" anchor="ctr">
            <a:spAutoFit/>
          </a:bodyPr>
          <a:lstStyle/>
          <a:p>
            <a:pPr algn="ctr"/>
            <a:r>
              <a:rPr sz="1700" b="0" i="0">
                <a:solidFill>
                  <a:srgbClr val="000000"/>
                </a:solidFill>
                <a:latin typeface="Arial"/>
              </a:rPr>
              <a:t>In most cases a machine's degradation is visible in its sensor data well before the stoppage. </a:t>
            </a:r>
            <a:r>
              <a:rPr sz="1700" b="1" i="0">
                <a:solidFill>
                  <a:srgbClr val="D0101A"/>
                </a:solidFill>
                <a:latin typeface="Arial"/>
              </a:rPr>
              <a:t>That is the premise the whole ML pipeline is built on.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Connector 1"/>
          <p:cNvCxnSpPr/>
          <p:nvPr/>
        </p:nvCxnSpPr>
        <p:spPr>
          <a:xfrm>
            <a:off x="3657600" y="0"/>
            <a:ext cx="0" cy="685800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069080" y="1463040"/>
            <a:ext cx="7680960" cy="4023360"/>
          </a:xfrm>
          <a:prstGeom prst="rect">
            <a:avLst/>
          </a:prstGeom>
          <a:noFill/>
        </p:spPr>
        <p:txBody>
          <a:bodyPr wrap="square" lIns="45720" tIns="18288" rIns="45720" bIns="18288" anchor="ctr">
            <a:spAutoFit/>
          </a:bodyPr>
          <a:lstStyle/>
          <a:p>
            <a:pPr algn="l"/>
            <a:r>
              <a:rPr sz="4800" b="0" i="0">
                <a:solidFill>
                  <a:srgbClr val="000000"/>
                </a:solidFill>
                <a:latin typeface="Arial Black"/>
              </a:rPr>
              <a:t>02</a:t>
            </a:r>
          </a:p>
          <a:p>
            <a:pPr algn="l"/>
            <a:r>
              <a:rPr sz="4800" b="0" i="0">
                <a:solidFill>
                  <a:srgbClr val="000000"/>
                </a:solidFill>
                <a:latin typeface="Arial Black"/>
              </a:rPr>
              <a:t>Project</a:t>
            </a:r>
          </a:p>
          <a:p>
            <a:pPr algn="l"/>
            <a:r>
              <a:rPr sz="4800" b="0" i="0">
                <a:solidFill>
                  <a:srgbClr val="000000"/>
                </a:solidFill>
                <a:latin typeface="Arial Black"/>
              </a:rPr>
              <a:t>Study</a:t>
            </a:r>
          </a:p>
        </p:txBody>
      </p:sp>
      <p:sp>
        <p:nvSpPr>
          <p:cNvPr id="4" name="TextBox 3"/>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02. Project Study</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Problem Statement</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7</a:t>
            </a:r>
          </a:p>
        </p:txBody>
      </p:sp>
      <p:sp>
        <p:nvSpPr>
          <p:cNvPr id="6" name="TextBox 5"/>
          <p:cNvSpPr txBox="1"/>
          <p:nvPr/>
        </p:nvSpPr>
        <p:spPr>
          <a:xfrm>
            <a:off x="1097280" y="1828800"/>
            <a:ext cx="822960" cy="822960"/>
          </a:xfrm>
          <a:prstGeom prst="rect">
            <a:avLst/>
          </a:prstGeom>
          <a:noFill/>
        </p:spPr>
        <p:txBody>
          <a:bodyPr wrap="square" lIns="45720" tIns="18288" rIns="45720" bIns="18288" anchor="ctr">
            <a:spAutoFit/>
          </a:bodyPr>
          <a:lstStyle/>
          <a:p>
            <a:pPr algn="ctr"/>
            <a:r>
              <a:rPr sz="4400" b="0" i="0">
                <a:solidFill>
                  <a:srgbClr val="C8203A"/>
                </a:solidFill>
                <a:latin typeface="Arial Black"/>
              </a:rPr>
              <a:t>X</a:t>
            </a:r>
          </a:p>
        </p:txBody>
      </p:sp>
      <p:sp>
        <p:nvSpPr>
          <p:cNvPr id="7" name="TextBox 6"/>
          <p:cNvSpPr txBox="1"/>
          <p:nvPr/>
        </p:nvSpPr>
        <p:spPr>
          <a:xfrm>
            <a:off x="1965960" y="1828800"/>
            <a:ext cx="4206240" cy="822960"/>
          </a:xfrm>
          <a:prstGeom prst="rect">
            <a:avLst/>
          </a:prstGeom>
          <a:noFill/>
        </p:spPr>
        <p:txBody>
          <a:bodyPr wrap="square" lIns="45720" tIns="18288" rIns="45720" bIns="18288" anchor="ctr">
            <a:spAutoFit/>
          </a:bodyPr>
          <a:lstStyle/>
          <a:p>
            <a:pPr algn="l"/>
            <a:r>
              <a:rPr sz="1900" b="0" i="0">
                <a:solidFill>
                  <a:srgbClr val="000000"/>
                </a:solidFill>
                <a:latin typeface="Arial"/>
              </a:rPr>
              <a:t>Operations and prediction live in separate tools</a:t>
            </a:r>
          </a:p>
        </p:txBody>
      </p:sp>
      <p:sp>
        <p:nvSpPr>
          <p:cNvPr id="8" name="TextBox 7"/>
          <p:cNvSpPr txBox="1"/>
          <p:nvPr/>
        </p:nvSpPr>
        <p:spPr>
          <a:xfrm>
            <a:off x="1097280" y="3200400"/>
            <a:ext cx="822960" cy="822960"/>
          </a:xfrm>
          <a:prstGeom prst="rect">
            <a:avLst/>
          </a:prstGeom>
          <a:noFill/>
        </p:spPr>
        <p:txBody>
          <a:bodyPr wrap="square" lIns="45720" tIns="18288" rIns="45720" bIns="18288" anchor="ctr">
            <a:spAutoFit/>
          </a:bodyPr>
          <a:lstStyle/>
          <a:p>
            <a:pPr algn="ctr"/>
            <a:r>
              <a:rPr sz="4400" b="0" i="0">
                <a:solidFill>
                  <a:srgbClr val="C8203A"/>
                </a:solidFill>
                <a:latin typeface="Arial Black"/>
              </a:rPr>
              <a:t>X</a:t>
            </a:r>
          </a:p>
        </p:txBody>
      </p:sp>
      <p:sp>
        <p:nvSpPr>
          <p:cNvPr id="9" name="TextBox 8"/>
          <p:cNvSpPr txBox="1"/>
          <p:nvPr/>
        </p:nvSpPr>
        <p:spPr>
          <a:xfrm>
            <a:off x="1965960" y="3200400"/>
            <a:ext cx="4206240" cy="822960"/>
          </a:xfrm>
          <a:prstGeom prst="rect">
            <a:avLst/>
          </a:prstGeom>
          <a:noFill/>
        </p:spPr>
        <p:txBody>
          <a:bodyPr wrap="square" lIns="45720" tIns="18288" rIns="45720" bIns="18288" anchor="ctr">
            <a:spAutoFit/>
          </a:bodyPr>
          <a:lstStyle/>
          <a:p>
            <a:pPr algn="l"/>
            <a:r>
              <a:rPr sz="1900" b="0" i="0">
                <a:solidFill>
                  <a:srgbClr val="000000"/>
                </a:solidFill>
                <a:latin typeface="Arial"/>
              </a:rPr>
              <a:t>Failures are found after the stoppage</a:t>
            </a:r>
          </a:p>
        </p:txBody>
      </p:sp>
      <p:sp>
        <p:nvSpPr>
          <p:cNvPr id="10" name="TextBox 9"/>
          <p:cNvSpPr txBox="1"/>
          <p:nvPr/>
        </p:nvSpPr>
        <p:spPr>
          <a:xfrm>
            <a:off x="6492240" y="1828800"/>
            <a:ext cx="822960" cy="822960"/>
          </a:xfrm>
          <a:prstGeom prst="rect">
            <a:avLst/>
          </a:prstGeom>
          <a:noFill/>
        </p:spPr>
        <p:txBody>
          <a:bodyPr wrap="square" lIns="45720" tIns="18288" rIns="45720" bIns="18288" anchor="ctr">
            <a:spAutoFit/>
          </a:bodyPr>
          <a:lstStyle/>
          <a:p>
            <a:pPr algn="ctr"/>
            <a:r>
              <a:rPr sz="4400" b="0" i="0">
                <a:solidFill>
                  <a:srgbClr val="C8203A"/>
                </a:solidFill>
                <a:latin typeface="Arial Black"/>
              </a:rPr>
              <a:t>X</a:t>
            </a:r>
          </a:p>
        </p:txBody>
      </p:sp>
      <p:sp>
        <p:nvSpPr>
          <p:cNvPr id="11" name="TextBox 10"/>
          <p:cNvSpPr txBox="1"/>
          <p:nvPr/>
        </p:nvSpPr>
        <p:spPr>
          <a:xfrm>
            <a:off x="7360920" y="1828800"/>
            <a:ext cx="4206240" cy="822960"/>
          </a:xfrm>
          <a:prstGeom prst="rect">
            <a:avLst/>
          </a:prstGeom>
          <a:noFill/>
        </p:spPr>
        <p:txBody>
          <a:bodyPr wrap="square" lIns="45720" tIns="18288" rIns="45720" bIns="18288" anchor="ctr">
            <a:spAutoFit/>
          </a:bodyPr>
          <a:lstStyle/>
          <a:p>
            <a:pPr algn="l"/>
            <a:r>
              <a:rPr sz="1900" b="0" i="0">
                <a:solidFill>
                  <a:srgbClr val="000000"/>
                </a:solidFill>
                <a:latin typeface="Arial"/>
              </a:rPr>
              <a:t>Predictions technicians cannot understand</a:t>
            </a:r>
          </a:p>
        </p:txBody>
      </p:sp>
      <p:sp>
        <p:nvSpPr>
          <p:cNvPr id="12" name="TextBox 11"/>
          <p:cNvSpPr txBox="1"/>
          <p:nvPr/>
        </p:nvSpPr>
        <p:spPr>
          <a:xfrm>
            <a:off x="6492240" y="3200400"/>
            <a:ext cx="822960" cy="822960"/>
          </a:xfrm>
          <a:prstGeom prst="rect">
            <a:avLst/>
          </a:prstGeom>
          <a:noFill/>
        </p:spPr>
        <p:txBody>
          <a:bodyPr wrap="square" lIns="45720" tIns="18288" rIns="45720" bIns="18288" anchor="ctr">
            <a:spAutoFit/>
          </a:bodyPr>
          <a:lstStyle/>
          <a:p>
            <a:pPr algn="ctr"/>
            <a:r>
              <a:rPr sz="4400" b="0" i="0">
                <a:solidFill>
                  <a:srgbClr val="C8203A"/>
                </a:solidFill>
                <a:latin typeface="Arial Black"/>
              </a:rPr>
              <a:t>X</a:t>
            </a:r>
          </a:p>
        </p:txBody>
      </p:sp>
      <p:sp>
        <p:nvSpPr>
          <p:cNvPr id="13" name="TextBox 12"/>
          <p:cNvSpPr txBox="1"/>
          <p:nvPr/>
        </p:nvSpPr>
        <p:spPr>
          <a:xfrm>
            <a:off x="7360920" y="3200400"/>
            <a:ext cx="4206240" cy="822960"/>
          </a:xfrm>
          <a:prstGeom prst="rect">
            <a:avLst/>
          </a:prstGeom>
          <a:noFill/>
        </p:spPr>
        <p:txBody>
          <a:bodyPr wrap="square" lIns="45720" tIns="18288" rIns="45720" bIns="18288" anchor="ctr">
            <a:spAutoFit/>
          </a:bodyPr>
          <a:lstStyle/>
          <a:p>
            <a:pPr algn="l"/>
            <a:r>
              <a:rPr sz="1900" b="0" i="0">
                <a:solidFill>
                  <a:srgbClr val="000000"/>
                </a:solidFill>
                <a:latin typeface="Arial"/>
              </a:rPr>
              <a:t>Documentation is disconnected from live machine status</a:t>
            </a:r>
          </a:p>
        </p:txBody>
      </p:sp>
      <p:sp>
        <p:nvSpPr>
          <p:cNvPr id="14" name="TextBox 13"/>
          <p:cNvSpPr txBox="1"/>
          <p:nvPr/>
        </p:nvSpPr>
        <p:spPr>
          <a:xfrm>
            <a:off x="914400" y="4754880"/>
            <a:ext cx="10332720" cy="1463040"/>
          </a:xfrm>
          <a:prstGeom prst="rect">
            <a:avLst/>
          </a:prstGeom>
          <a:noFill/>
        </p:spPr>
        <p:txBody>
          <a:bodyPr wrap="square" lIns="45720" tIns="18288" rIns="45720" bIns="18288" anchor="ctr">
            <a:spAutoFit/>
          </a:bodyPr>
          <a:lstStyle/>
          <a:p>
            <a:pPr algn="ctr"/>
            <a:r>
              <a:rPr sz="2600" b="0" i="0">
                <a:solidFill>
                  <a:srgbClr val="0A1045"/>
                </a:solidFill>
                <a:latin typeface="Arial Black"/>
              </a:rPr>
              <a:t>How can one platform cover classic operational management </a:t>
            </a:r>
            <a:r>
              <a:rPr sz="2600" b="0" i="0">
                <a:solidFill>
                  <a:srgbClr val="D0101A"/>
                </a:solidFill>
                <a:latin typeface="Arial Black"/>
              </a:rPr>
              <a:t>and</a:t>
            </a:r>
            <a:r>
              <a:rPr sz="2600" b="0" i="0">
                <a:solidFill>
                  <a:srgbClr val="0A1045"/>
                </a:solidFill>
                <a:latin typeface="Arial Black"/>
              </a:rPr>
              <a:t> predictive maintenance, with predictions </a:t>
            </a:r>
            <a:r>
              <a:rPr sz="2600" b="0" i="0">
                <a:solidFill>
                  <a:srgbClr val="D0101A"/>
                </a:solidFill>
                <a:latin typeface="Arial Black"/>
              </a:rPr>
              <a:t>people trust</a:t>
            </a:r>
            <a:r>
              <a:rPr sz="2600" b="0" i="0">
                <a:solidFill>
                  <a:srgbClr val="0A1045"/>
                </a:solidFill>
                <a:latin typeface="Arial Black"/>
              </a:rPr>
              <a:t> and </a:t>
            </a:r>
            <a:r>
              <a:rPr sz="2600" b="0" i="0">
                <a:solidFill>
                  <a:srgbClr val="D0101A"/>
                </a:solidFill>
                <a:latin typeface="Arial Black"/>
              </a:rPr>
              <a:t>automation they control</a:t>
            </a:r>
            <a:r>
              <a:rPr sz="2600" b="0" i="0">
                <a:solidFill>
                  <a:srgbClr val="0A1045"/>
                </a:solidFill>
                <a:latin typeface="Arial Black"/>
              </a:rPr>
              <a: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02. Project Study</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Study of the Existant</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8</a:t>
            </a:r>
          </a:p>
        </p:txBody>
      </p:sp>
      <p:sp>
        <p:nvSpPr>
          <p:cNvPr id="6" name="Rounded Rectangle 5"/>
          <p:cNvSpPr/>
          <p:nvPr/>
        </p:nvSpPr>
        <p:spPr>
          <a:xfrm>
            <a:off x="411480" y="2148840"/>
            <a:ext cx="3566160" cy="4069080"/>
          </a:xfrm>
          <a:prstGeom prst="roundRect">
            <a:avLst>
              <a:gd name="adj" fmla="val 10000"/>
            </a:avLst>
          </a:prstGeom>
          <a:noFill/>
          <a:ln w="3175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731520" y="1783080"/>
            <a:ext cx="2926080" cy="731520"/>
          </a:xfrm>
          <a:prstGeom prst="roundRect">
            <a:avLst>
              <a:gd name="adj" fmla="val 2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1783080"/>
            <a:ext cx="2926080" cy="731520"/>
          </a:xfrm>
          <a:prstGeom prst="rect">
            <a:avLst/>
          </a:prstGeom>
          <a:noFill/>
        </p:spPr>
        <p:txBody>
          <a:bodyPr wrap="square" lIns="45720" tIns="18288" rIns="45720" bIns="18288" anchor="ctr">
            <a:spAutoFit/>
          </a:bodyPr>
          <a:lstStyle/>
          <a:p>
            <a:pPr algn="ctr"/>
            <a:r>
              <a:rPr sz="1600" b="1" i="0">
                <a:solidFill>
                  <a:srgbClr val="000000"/>
                </a:solidFill>
                <a:latin typeface="Arial"/>
              </a:rPr>
              <a:t>ERP / EAM suites</a:t>
            </a:r>
          </a:p>
        </p:txBody>
      </p:sp>
      <p:sp>
        <p:nvSpPr>
          <p:cNvPr id="9" name="TextBox 8"/>
          <p:cNvSpPr txBox="1"/>
          <p:nvPr/>
        </p:nvSpPr>
        <p:spPr>
          <a:xfrm>
            <a:off x="594360" y="2788920"/>
            <a:ext cx="457200" cy="411480"/>
          </a:xfrm>
          <a:prstGeom prst="rect">
            <a:avLst/>
          </a:prstGeom>
          <a:noFill/>
        </p:spPr>
        <p:txBody>
          <a:bodyPr wrap="square" lIns="45720" tIns="18288" rIns="45720" bIns="18288" anchor="ctr">
            <a:spAutoFit/>
          </a:bodyPr>
          <a:lstStyle/>
          <a:p>
            <a:pPr algn="ctr"/>
            <a:r>
              <a:rPr sz="3000" b="1" i="0">
                <a:solidFill>
                  <a:srgbClr val="8CC63F"/>
                </a:solidFill>
                <a:latin typeface="DejaVu Sans"/>
              </a:rPr>
              <a:t>✓</a:t>
            </a:r>
          </a:p>
        </p:txBody>
      </p:sp>
      <p:sp>
        <p:nvSpPr>
          <p:cNvPr id="10" name="TextBox 9"/>
          <p:cNvSpPr txBox="1"/>
          <p:nvPr/>
        </p:nvSpPr>
        <p:spPr>
          <a:xfrm>
            <a:off x="1143000" y="2697480"/>
            <a:ext cx="2697480" cy="868680"/>
          </a:xfrm>
          <a:prstGeom prst="rect">
            <a:avLst/>
          </a:prstGeom>
          <a:noFill/>
        </p:spPr>
        <p:txBody>
          <a:bodyPr wrap="square" lIns="45720" tIns="18288" rIns="45720" bIns="18288" anchor="ctr">
            <a:spAutoFit/>
          </a:bodyPr>
          <a:lstStyle/>
          <a:p>
            <a:pPr algn="l"/>
            <a:r>
              <a:rPr sz="1400" b="0" i="0">
                <a:solidFill>
                  <a:srgbClr val="000000"/>
                </a:solidFill>
                <a:latin typeface="Arial"/>
              </a:rPr>
              <a:t>Proven EAM coverage of assets and work orders</a:t>
            </a:r>
          </a:p>
        </p:txBody>
      </p:sp>
      <p:sp>
        <p:nvSpPr>
          <p:cNvPr id="11" name="TextBox 10"/>
          <p:cNvSpPr txBox="1"/>
          <p:nvPr/>
        </p:nvSpPr>
        <p:spPr>
          <a:xfrm>
            <a:off x="594360" y="3840480"/>
            <a:ext cx="457200" cy="411480"/>
          </a:xfrm>
          <a:prstGeom prst="rect">
            <a:avLst/>
          </a:prstGeom>
          <a:noFill/>
        </p:spPr>
        <p:txBody>
          <a:bodyPr wrap="square" lIns="45720" tIns="18288" rIns="45720" bIns="18288" anchor="ctr">
            <a:spAutoFit/>
          </a:bodyPr>
          <a:lstStyle/>
          <a:p>
            <a:pPr algn="ctr"/>
            <a:r>
              <a:rPr sz="3000" b="1" i="0">
                <a:solidFill>
                  <a:srgbClr val="C8203A"/>
                </a:solidFill>
                <a:latin typeface="DejaVu Sans"/>
              </a:rPr>
              <a:t>✗</a:t>
            </a:r>
          </a:p>
        </p:txBody>
      </p:sp>
      <p:sp>
        <p:nvSpPr>
          <p:cNvPr id="12" name="TextBox 11"/>
          <p:cNvSpPr txBox="1"/>
          <p:nvPr/>
        </p:nvSpPr>
        <p:spPr>
          <a:xfrm>
            <a:off x="1143000" y="3749039"/>
            <a:ext cx="2697480" cy="1005840"/>
          </a:xfrm>
          <a:prstGeom prst="rect">
            <a:avLst/>
          </a:prstGeom>
          <a:noFill/>
        </p:spPr>
        <p:txBody>
          <a:bodyPr wrap="square" lIns="45720" tIns="18288" rIns="45720" bIns="18288" anchor="ctr">
            <a:spAutoFit/>
          </a:bodyPr>
          <a:lstStyle/>
          <a:p>
            <a:pPr algn="l"/>
            <a:r>
              <a:rPr sz="1400" b="0" i="0">
                <a:solidFill>
                  <a:srgbClr val="000000"/>
                </a:solidFill>
                <a:latin typeface="Arial"/>
              </a:rPr>
              <a:t>Predictive ML is a costly add-on, heavy licensing</a:t>
            </a:r>
          </a:p>
        </p:txBody>
      </p:sp>
      <p:sp>
        <p:nvSpPr>
          <p:cNvPr id="13" name="TextBox 12"/>
          <p:cNvSpPr txBox="1"/>
          <p:nvPr/>
        </p:nvSpPr>
        <p:spPr>
          <a:xfrm>
            <a:off x="594360" y="5120640"/>
            <a:ext cx="3200400" cy="822960"/>
          </a:xfrm>
          <a:prstGeom prst="rect">
            <a:avLst/>
          </a:prstGeom>
          <a:noFill/>
        </p:spPr>
        <p:txBody>
          <a:bodyPr wrap="square" lIns="45720" tIns="18288" rIns="45720" bIns="18288" anchor="ctr">
            <a:spAutoFit/>
          </a:bodyPr>
          <a:lstStyle/>
          <a:p>
            <a:pPr algn="ctr"/>
            <a:r>
              <a:rPr sz="1400" b="1" i="1">
                <a:solidFill>
                  <a:srgbClr val="0A1045"/>
                </a:solidFill>
                <a:latin typeface="Arial"/>
              </a:rPr>
              <a:t>SAP PM · IBM Maximo</a:t>
            </a:r>
          </a:p>
        </p:txBody>
      </p:sp>
      <p:sp>
        <p:nvSpPr>
          <p:cNvPr id="14" name="Rounded Rectangle 13"/>
          <p:cNvSpPr/>
          <p:nvPr/>
        </p:nvSpPr>
        <p:spPr>
          <a:xfrm>
            <a:off x="4251960" y="2148840"/>
            <a:ext cx="3566160" cy="4069080"/>
          </a:xfrm>
          <a:prstGeom prst="roundRect">
            <a:avLst>
              <a:gd name="adj" fmla="val 10000"/>
            </a:avLst>
          </a:prstGeom>
          <a:noFill/>
          <a:ln w="3175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4572000" y="1783080"/>
            <a:ext cx="2926080" cy="731520"/>
          </a:xfrm>
          <a:prstGeom prst="roundRect">
            <a:avLst>
              <a:gd name="adj" fmla="val 2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572000" y="1783080"/>
            <a:ext cx="2926080" cy="731520"/>
          </a:xfrm>
          <a:prstGeom prst="rect">
            <a:avLst/>
          </a:prstGeom>
          <a:noFill/>
        </p:spPr>
        <p:txBody>
          <a:bodyPr wrap="square" lIns="45720" tIns="18288" rIns="45720" bIns="18288" anchor="ctr">
            <a:spAutoFit/>
          </a:bodyPr>
          <a:lstStyle/>
          <a:p>
            <a:pPr algn="ctr"/>
            <a:r>
              <a:rPr sz="1600" b="1" i="0">
                <a:solidFill>
                  <a:srgbClr val="000000"/>
                </a:solidFill>
                <a:latin typeface="Arial"/>
              </a:rPr>
              <a:t>Industrial IoT / APM</a:t>
            </a:r>
          </a:p>
        </p:txBody>
      </p:sp>
      <p:sp>
        <p:nvSpPr>
          <p:cNvPr id="17" name="TextBox 16"/>
          <p:cNvSpPr txBox="1"/>
          <p:nvPr/>
        </p:nvSpPr>
        <p:spPr>
          <a:xfrm>
            <a:off x="4434840" y="2788920"/>
            <a:ext cx="457200" cy="411480"/>
          </a:xfrm>
          <a:prstGeom prst="rect">
            <a:avLst/>
          </a:prstGeom>
          <a:noFill/>
        </p:spPr>
        <p:txBody>
          <a:bodyPr wrap="square" lIns="45720" tIns="18288" rIns="45720" bIns="18288" anchor="ctr">
            <a:spAutoFit/>
          </a:bodyPr>
          <a:lstStyle/>
          <a:p>
            <a:pPr algn="ctr"/>
            <a:r>
              <a:rPr sz="3000" b="1" i="0">
                <a:solidFill>
                  <a:srgbClr val="8CC63F"/>
                </a:solidFill>
                <a:latin typeface="DejaVu Sans"/>
              </a:rPr>
              <a:t>✓</a:t>
            </a:r>
          </a:p>
        </p:txBody>
      </p:sp>
      <p:sp>
        <p:nvSpPr>
          <p:cNvPr id="18" name="TextBox 17"/>
          <p:cNvSpPr txBox="1"/>
          <p:nvPr/>
        </p:nvSpPr>
        <p:spPr>
          <a:xfrm>
            <a:off x="4983480" y="2697480"/>
            <a:ext cx="2697480" cy="868680"/>
          </a:xfrm>
          <a:prstGeom prst="rect">
            <a:avLst/>
          </a:prstGeom>
          <a:noFill/>
        </p:spPr>
        <p:txBody>
          <a:bodyPr wrap="square" lIns="45720" tIns="18288" rIns="45720" bIns="18288" anchor="ctr">
            <a:spAutoFit/>
          </a:bodyPr>
          <a:lstStyle/>
          <a:p>
            <a:pPr algn="l"/>
            <a:r>
              <a:rPr sz="1400" b="0" i="0">
                <a:solidFill>
                  <a:srgbClr val="000000"/>
                </a:solidFill>
                <a:latin typeface="Arial"/>
              </a:rPr>
              <a:t>Sensor analytics and reliability at scale</a:t>
            </a:r>
          </a:p>
        </p:txBody>
      </p:sp>
      <p:sp>
        <p:nvSpPr>
          <p:cNvPr id="19" name="TextBox 18"/>
          <p:cNvSpPr txBox="1"/>
          <p:nvPr/>
        </p:nvSpPr>
        <p:spPr>
          <a:xfrm>
            <a:off x="4434840" y="3840480"/>
            <a:ext cx="457200" cy="411480"/>
          </a:xfrm>
          <a:prstGeom prst="rect">
            <a:avLst/>
          </a:prstGeom>
          <a:noFill/>
        </p:spPr>
        <p:txBody>
          <a:bodyPr wrap="square" lIns="45720" tIns="18288" rIns="45720" bIns="18288" anchor="ctr">
            <a:spAutoFit/>
          </a:bodyPr>
          <a:lstStyle/>
          <a:p>
            <a:pPr algn="ctr"/>
            <a:r>
              <a:rPr sz="3000" b="1" i="0">
                <a:solidFill>
                  <a:srgbClr val="C8203A"/>
                </a:solidFill>
                <a:latin typeface="DejaVu Sans"/>
              </a:rPr>
              <a:t>✗</a:t>
            </a:r>
          </a:p>
        </p:txBody>
      </p:sp>
      <p:sp>
        <p:nvSpPr>
          <p:cNvPr id="20" name="TextBox 19"/>
          <p:cNvSpPr txBox="1"/>
          <p:nvPr/>
        </p:nvSpPr>
        <p:spPr>
          <a:xfrm>
            <a:off x="4983480" y="3749039"/>
            <a:ext cx="2697480" cy="1005840"/>
          </a:xfrm>
          <a:prstGeom prst="rect">
            <a:avLst/>
          </a:prstGeom>
          <a:noFill/>
        </p:spPr>
        <p:txBody>
          <a:bodyPr wrap="square" lIns="45720" tIns="18288" rIns="45720" bIns="18288" anchor="ctr">
            <a:spAutoFit/>
          </a:bodyPr>
          <a:lstStyle/>
          <a:p>
            <a:pPr algn="l"/>
            <a:r>
              <a:rPr sz="1400" b="0" i="0">
                <a:solidFill>
                  <a:srgbClr val="000000"/>
                </a:solidFill>
                <a:latin typeface="Arial"/>
              </a:rPr>
              <a:t>No assistant tied to live machine status, integration cost</a:t>
            </a:r>
          </a:p>
        </p:txBody>
      </p:sp>
      <p:sp>
        <p:nvSpPr>
          <p:cNvPr id="21" name="TextBox 20"/>
          <p:cNvSpPr txBox="1"/>
          <p:nvPr/>
        </p:nvSpPr>
        <p:spPr>
          <a:xfrm>
            <a:off x="4434840" y="5120640"/>
            <a:ext cx="3200400" cy="822960"/>
          </a:xfrm>
          <a:prstGeom prst="rect">
            <a:avLst/>
          </a:prstGeom>
          <a:noFill/>
        </p:spPr>
        <p:txBody>
          <a:bodyPr wrap="square" lIns="45720" tIns="18288" rIns="45720" bIns="18288" anchor="ctr">
            <a:spAutoFit/>
          </a:bodyPr>
          <a:lstStyle/>
          <a:p>
            <a:pPr algn="ctr"/>
            <a:r>
              <a:rPr sz="1400" b="1" i="1">
                <a:solidFill>
                  <a:srgbClr val="0A1045"/>
                </a:solidFill>
                <a:latin typeface="Arial"/>
              </a:rPr>
              <a:t>GE Digital Predix · Maximo APM</a:t>
            </a:r>
          </a:p>
        </p:txBody>
      </p:sp>
      <p:sp>
        <p:nvSpPr>
          <p:cNvPr id="22" name="Rounded Rectangle 21"/>
          <p:cNvSpPr/>
          <p:nvPr/>
        </p:nvSpPr>
        <p:spPr>
          <a:xfrm>
            <a:off x="8092440" y="2148840"/>
            <a:ext cx="3566160" cy="4069080"/>
          </a:xfrm>
          <a:prstGeom prst="roundRect">
            <a:avLst>
              <a:gd name="adj" fmla="val 10000"/>
            </a:avLst>
          </a:prstGeom>
          <a:noFill/>
          <a:ln w="3175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12480" y="1783080"/>
            <a:ext cx="2926080" cy="731520"/>
          </a:xfrm>
          <a:prstGeom prst="roundRect">
            <a:avLst>
              <a:gd name="adj" fmla="val 2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412480" y="1783080"/>
            <a:ext cx="2926080" cy="731520"/>
          </a:xfrm>
          <a:prstGeom prst="rect">
            <a:avLst/>
          </a:prstGeom>
          <a:noFill/>
        </p:spPr>
        <p:txBody>
          <a:bodyPr wrap="square" lIns="45720" tIns="18288" rIns="45720" bIns="18288" anchor="ctr">
            <a:spAutoFit/>
          </a:bodyPr>
          <a:lstStyle/>
          <a:p>
            <a:pPr algn="ctr"/>
            <a:r>
              <a:rPr sz="1600" b="1" i="0">
                <a:solidFill>
                  <a:srgbClr val="000000"/>
                </a:solidFill>
                <a:latin typeface="Arial"/>
              </a:rPr>
              <a:t>CMMS &amp; spreadsheets</a:t>
            </a:r>
          </a:p>
        </p:txBody>
      </p:sp>
      <p:sp>
        <p:nvSpPr>
          <p:cNvPr id="25" name="TextBox 24"/>
          <p:cNvSpPr txBox="1"/>
          <p:nvPr/>
        </p:nvSpPr>
        <p:spPr>
          <a:xfrm>
            <a:off x="8275319" y="2788920"/>
            <a:ext cx="457200" cy="411480"/>
          </a:xfrm>
          <a:prstGeom prst="rect">
            <a:avLst/>
          </a:prstGeom>
          <a:noFill/>
        </p:spPr>
        <p:txBody>
          <a:bodyPr wrap="square" lIns="45720" tIns="18288" rIns="45720" bIns="18288" anchor="ctr">
            <a:spAutoFit/>
          </a:bodyPr>
          <a:lstStyle/>
          <a:p>
            <a:pPr algn="ctr"/>
            <a:r>
              <a:rPr sz="3000" b="1" i="0">
                <a:solidFill>
                  <a:srgbClr val="8CC63F"/>
                </a:solidFill>
                <a:latin typeface="DejaVu Sans"/>
              </a:rPr>
              <a:t>✓</a:t>
            </a:r>
          </a:p>
        </p:txBody>
      </p:sp>
      <p:sp>
        <p:nvSpPr>
          <p:cNvPr id="26" name="TextBox 25"/>
          <p:cNvSpPr txBox="1"/>
          <p:nvPr/>
        </p:nvSpPr>
        <p:spPr>
          <a:xfrm>
            <a:off x="8823960" y="2697480"/>
            <a:ext cx="2697480" cy="868680"/>
          </a:xfrm>
          <a:prstGeom prst="rect">
            <a:avLst/>
          </a:prstGeom>
          <a:noFill/>
        </p:spPr>
        <p:txBody>
          <a:bodyPr wrap="square" lIns="45720" tIns="18288" rIns="45720" bIns="18288" anchor="ctr">
            <a:spAutoFit/>
          </a:bodyPr>
          <a:lstStyle/>
          <a:p>
            <a:pPr algn="l"/>
            <a:r>
              <a:rPr sz="1400" b="0" i="0">
                <a:solidFill>
                  <a:srgbClr val="000000"/>
                </a:solidFill>
                <a:latin typeface="Arial"/>
              </a:rPr>
              <a:t>Cheap and lightweight</a:t>
            </a:r>
          </a:p>
        </p:txBody>
      </p:sp>
      <p:sp>
        <p:nvSpPr>
          <p:cNvPr id="27" name="TextBox 26"/>
          <p:cNvSpPr txBox="1"/>
          <p:nvPr/>
        </p:nvSpPr>
        <p:spPr>
          <a:xfrm>
            <a:off x="8275319" y="3840480"/>
            <a:ext cx="457200" cy="411480"/>
          </a:xfrm>
          <a:prstGeom prst="rect">
            <a:avLst/>
          </a:prstGeom>
          <a:noFill/>
        </p:spPr>
        <p:txBody>
          <a:bodyPr wrap="square" lIns="45720" tIns="18288" rIns="45720" bIns="18288" anchor="ctr">
            <a:spAutoFit/>
          </a:bodyPr>
          <a:lstStyle/>
          <a:p>
            <a:pPr algn="ctr"/>
            <a:r>
              <a:rPr sz="3000" b="1" i="0">
                <a:solidFill>
                  <a:srgbClr val="C8203A"/>
                </a:solidFill>
                <a:latin typeface="DejaVu Sans"/>
              </a:rPr>
              <a:t>✗</a:t>
            </a:r>
          </a:p>
        </p:txBody>
      </p:sp>
      <p:sp>
        <p:nvSpPr>
          <p:cNvPr id="28" name="TextBox 27"/>
          <p:cNvSpPr txBox="1"/>
          <p:nvPr/>
        </p:nvSpPr>
        <p:spPr>
          <a:xfrm>
            <a:off x="8823960" y="3749039"/>
            <a:ext cx="2697480" cy="1005840"/>
          </a:xfrm>
          <a:prstGeom prst="rect">
            <a:avLst/>
          </a:prstGeom>
          <a:noFill/>
        </p:spPr>
        <p:txBody>
          <a:bodyPr wrap="square" lIns="45720" tIns="18288" rIns="45720" bIns="18288" anchor="ctr">
            <a:spAutoFit/>
          </a:bodyPr>
          <a:lstStyle/>
          <a:p>
            <a:pPr algn="l"/>
            <a:r>
              <a:rPr sz="1400" b="0" i="0">
                <a:solidFill>
                  <a:srgbClr val="000000"/>
                </a:solidFill>
                <a:latin typeface="Arial"/>
              </a:rPr>
              <a:t>No prediction, no explanation, no traceability</a:t>
            </a:r>
          </a:p>
        </p:txBody>
      </p:sp>
      <p:sp>
        <p:nvSpPr>
          <p:cNvPr id="29" name="TextBox 28"/>
          <p:cNvSpPr txBox="1"/>
          <p:nvPr/>
        </p:nvSpPr>
        <p:spPr>
          <a:xfrm>
            <a:off x="8275319" y="5120640"/>
            <a:ext cx="3200400" cy="822960"/>
          </a:xfrm>
          <a:prstGeom prst="rect">
            <a:avLst/>
          </a:prstGeom>
          <a:noFill/>
        </p:spPr>
        <p:txBody>
          <a:bodyPr wrap="square" lIns="45720" tIns="18288" rIns="45720" bIns="18288" anchor="ctr">
            <a:spAutoFit/>
          </a:bodyPr>
          <a:lstStyle/>
          <a:p>
            <a:pPr algn="ctr"/>
            <a:r>
              <a:rPr sz="1400" b="1" i="1">
                <a:solidFill>
                  <a:srgbClr val="0A1045"/>
                </a:solidFill>
                <a:latin typeface="Arial"/>
              </a:rPr>
              <a:t>Generic CMMS · Excel</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02. Project Study</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Study of the Existant</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9</a:t>
            </a:r>
          </a:p>
        </p:txBody>
      </p:sp>
      <p:graphicFrame>
        <p:nvGraphicFramePr>
          <p:cNvPr id="6" name="Table 5"/>
          <p:cNvGraphicFramePr>
            <a:graphicFrameLocks noGrp="1"/>
          </p:cNvGraphicFramePr>
          <p:nvPr/>
        </p:nvGraphicFramePr>
        <p:xfrm>
          <a:off x="822960" y="1691640"/>
          <a:ext cx="10515600" cy="3968496"/>
        </p:xfrm>
        <a:graphic>
          <a:graphicData uri="http://schemas.openxmlformats.org/drawingml/2006/table">
            <a:tbl>
              <a:tblPr firstRow="1" bandRow="1">
                <a:tableStyleId>{5940675A-B579-460E-94D1-54222C63F5DA}</a:tableStyleId>
              </a:tblPr>
              <a:tblGrid>
                <a:gridCol w="429768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gridCol w="1554480">
                  <a:extLst>
                    <a:ext uri="{9D8B030D-6E8A-4147-A177-3AD203B41FA5}">
                      <a16:colId xmlns:a16="http://schemas.microsoft.com/office/drawing/2014/main" val="20004"/>
                    </a:ext>
                  </a:extLst>
                </a:gridCol>
              </a:tblGrid>
              <a:tr h="566928">
                <a:tc>
                  <a:txBody>
                    <a:bodyPr/>
                    <a:lstStyle/>
                    <a:p>
                      <a:pPr algn="ctr"/>
                      <a:r>
                        <a:rPr sz="1500" b="1" i="0">
                          <a:solidFill>
                            <a:srgbClr val="FFFFFF"/>
                          </a:solidFill>
                          <a:latin typeface="Arial"/>
                        </a:rPr>
                        <a:t>Criteria</a:t>
                      </a:r>
                    </a:p>
                  </a:txBody>
                  <a:tcPr marL="54864" marR="54864" marT="18288" marB="18288" anchor="ctr">
                    <a:solidFill>
                      <a:srgbClr val="0A1045"/>
                    </a:solidFill>
                  </a:tcPr>
                </a:tc>
                <a:tc>
                  <a:txBody>
                    <a:bodyPr/>
                    <a:lstStyle/>
                    <a:p>
                      <a:pPr algn="ctr"/>
                      <a:r>
                        <a:rPr sz="1500" b="1" i="0">
                          <a:solidFill>
                            <a:srgbClr val="FFFFFF"/>
                          </a:solidFill>
                          <a:latin typeface="Arial"/>
                        </a:rPr>
                        <a:t>EAM suites</a:t>
                      </a:r>
                    </a:p>
                  </a:txBody>
                  <a:tcPr marL="54864" marR="54864" marT="18288" marB="18288" anchor="ctr">
                    <a:solidFill>
                      <a:srgbClr val="0A1045"/>
                    </a:solidFill>
                  </a:tcPr>
                </a:tc>
                <a:tc>
                  <a:txBody>
                    <a:bodyPr/>
                    <a:lstStyle/>
                    <a:p>
                      <a:pPr algn="ctr"/>
                      <a:r>
                        <a:rPr sz="1500" b="1" i="0">
                          <a:solidFill>
                            <a:srgbClr val="FFFFFF"/>
                          </a:solidFill>
                          <a:latin typeface="Arial"/>
                        </a:rPr>
                        <a:t>IoT / APM</a:t>
                      </a:r>
                    </a:p>
                  </a:txBody>
                  <a:tcPr marL="54864" marR="54864" marT="18288" marB="18288" anchor="ctr">
                    <a:solidFill>
                      <a:srgbClr val="0A1045"/>
                    </a:solidFill>
                  </a:tcPr>
                </a:tc>
                <a:tc>
                  <a:txBody>
                    <a:bodyPr/>
                    <a:lstStyle/>
                    <a:p>
                      <a:pPr algn="ctr"/>
                      <a:r>
                        <a:rPr sz="1500" b="1" i="0">
                          <a:solidFill>
                            <a:srgbClr val="FFFFFF"/>
                          </a:solidFill>
                          <a:latin typeface="Arial"/>
                        </a:rPr>
                        <a:t>CMMS / Excel</a:t>
                      </a:r>
                    </a:p>
                  </a:txBody>
                  <a:tcPr marL="54864" marR="54864" marT="18288" marB="18288" anchor="ctr">
                    <a:solidFill>
                      <a:srgbClr val="0A1045"/>
                    </a:solidFill>
                  </a:tcPr>
                </a:tc>
                <a:tc>
                  <a:txBody>
                    <a:bodyPr/>
                    <a:lstStyle/>
                    <a:p>
                      <a:pPr algn="ctr"/>
                      <a:r>
                        <a:rPr sz="1500" b="1" i="0">
                          <a:solidFill>
                            <a:srgbClr val="FFFFFF"/>
                          </a:solidFill>
                          <a:latin typeface="Arial"/>
                        </a:rPr>
                        <a:t>Our solution</a:t>
                      </a:r>
                    </a:p>
                  </a:txBody>
                  <a:tcPr marL="54864" marR="54864" marT="18288" marB="18288" anchor="ctr">
                    <a:solidFill>
                      <a:srgbClr val="0A1045"/>
                    </a:solidFill>
                  </a:tcPr>
                </a:tc>
                <a:extLst>
                  <a:ext uri="{0D108BD9-81ED-4DB2-BD59-A6C34878D82A}">
                    <a16:rowId xmlns:a16="http://schemas.microsoft.com/office/drawing/2014/main" val="10000"/>
                  </a:ext>
                </a:extLst>
              </a:tr>
              <a:tr h="566928">
                <a:tc>
                  <a:txBody>
                    <a:bodyPr/>
                    <a:lstStyle/>
                    <a:p>
                      <a:r>
                        <a:rPr sz="1500" b="1" i="0">
                          <a:solidFill>
                            <a:srgbClr val="000000"/>
                          </a:solidFill>
                          <a:latin typeface="Arial"/>
                        </a:rPr>
                        <a:t>Full EAM coverage</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tc>
                  <a:txBody>
                    <a:bodyPr/>
                    <a:lstStyle/>
                    <a:p>
                      <a:pPr algn="ctr"/>
                      <a:r>
                        <a:rPr sz="1600" b="1" i="0">
                          <a:solidFill>
                            <a:srgbClr val="D9A000"/>
                          </a:solidFill>
                          <a:latin typeface="DejaVu Sans"/>
                        </a:rPr>
                        <a:t>⚠</a:t>
                      </a:r>
                    </a:p>
                  </a:txBody>
                  <a:tcPr marL="54864" marR="54864" marT="18288" marB="18288" anchor="ctr"/>
                </a:tc>
                <a:tc>
                  <a:txBody>
                    <a:bodyPr/>
                    <a:lstStyle/>
                    <a:p>
                      <a:pPr algn="ctr"/>
                      <a:r>
                        <a:rPr sz="1600" b="1" i="0">
                          <a:solidFill>
                            <a:srgbClr val="D9A000"/>
                          </a:solidFill>
                          <a:latin typeface="DejaVu Sans"/>
                        </a:rPr>
                        <a:t>⚠</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extLst>
                  <a:ext uri="{0D108BD9-81ED-4DB2-BD59-A6C34878D82A}">
                    <a16:rowId xmlns:a16="http://schemas.microsoft.com/office/drawing/2014/main" val="10001"/>
                  </a:ext>
                </a:extLst>
              </a:tr>
              <a:tr h="566928">
                <a:tc>
                  <a:txBody>
                    <a:bodyPr/>
                    <a:lstStyle/>
                    <a:p>
                      <a:r>
                        <a:rPr sz="1500" b="1" i="0">
                          <a:solidFill>
                            <a:srgbClr val="000000"/>
                          </a:solidFill>
                          <a:latin typeface="Arial"/>
                        </a:rPr>
                        <a:t>Predictive ML built in</a:t>
                      </a:r>
                    </a:p>
                  </a:txBody>
                  <a:tcPr marL="54864" marR="54864" marT="18288" marB="18288" anchor="ctr"/>
                </a:tc>
                <a:tc>
                  <a:txBody>
                    <a:bodyPr/>
                    <a:lstStyle/>
                    <a:p>
                      <a:pPr algn="ctr"/>
                      <a:r>
                        <a:rPr sz="1600" b="1" i="0">
                          <a:solidFill>
                            <a:srgbClr val="D9A000"/>
                          </a:solidFill>
                          <a:latin typeface="DejaVu Sans"/>
                        </a:rPr>
                        <a:t>⚠</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extLst>
                  <a:ext uri="{0D108BD9-81ED-4DB2-BD59-A6C34878D82A}">
                    <a16:rowId xmlns:a16="http://schemas.microsoft.com/office/drawing/2014/main" val="10002"/>
                  </a:ext>
                </a:extLst>
              </a:tr>
              <a:tr h="566928">
                <a:tc>
                  <a:txBody>
                    <a:bodyPr/>
                    <a:lstStyle/>
                    <a:p>
                      <a:r>
                        <a:rPr sz="1500" b="1" i="0">
                          <a:solidFill>
                            <a:srgbClr val="000000"/>
                          </a:solidFill>
                          <a:latin typeface="Arial"/>
                        </a:rPr>
                        <a:t>Predictions explained in plain language</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D9A000"/>
                          </a:solidFill>
                          <a:latin typeface="DejaVu Sans"/>
                        </a:rPr>
                        <a:t>⚠</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extLst>
                  <a:ext uri="{0D108BD9-81ED-4DB2-BD59-A6C34878D82A}">
                    <a16:rowId xmlns:a16="http://schemas.microsoft.com/office/drawing/2014/main" val="10003"/>
                  </a:ext>
                </a:extLst>
              </a:tr>
              <a:tr h="566928">
                <a:tc>
                  <a:txBody>
                    <a:bodyPr/>
                    <a:lstStyle/>
                    <a:p>
                      <a:r>
                        <a:rPr sz="1500" b="1" i="0">
                          <a:solidFill>
                            <a:srgbClr val="000000"/>
                          </a:solidFill>
                          <a:latin typeface="Arial"/>
                        </a:rPr>
                        <a:t>Assistant tied to live machine status</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extLst>
                  <a:ext uri="{0D108BD9-81ED-4DB2-BD59-A6C34878D82A}">
                    <a16:rowId xmlns:a16="http://schemas.microsoft.com/office/drawing/2014/main" val="10004"/>
                  </a:ext>
                </a:extLst>
              </a:tr>
              <a:tr h="566928">
                <a:tc>
                  <a:txBody>
                    <a:bodyPr/>
                    <a:lstStyle/>
                    <a:p>
                      <a:r>
                        <a:rPr sz="1500" b="1" i="0">
                          <a:solidFill>
                            <a:srgbClr val="000000"/>
                          </a:solidFill>
                          <a:latin typeface="Arial"/>
                        </a:rPr>
                        <a:t>No heavy licensing</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extLst>
                  <a:ext uri="{0D108BD9-81ED-4DB2-BD59-A6C34878D82A}">
                    <a16:rowId xmlns:a16="http://schemas.microsoft.com/office/drawing/2014/main" val="10005"/>
                  </a:ext>
                </a:extLst>
              </a:tr>
              <a:tr h="566928">
                <a:tc>
                  <a:txBody>
                    <a:bodyPr/>
                    <a:lstStyle/>
                    <a:p>
                      <a:r>
                        <a:rPr sz="1500" b="1" i="0">
                          <a:solidFill>
                            <a:srgbClr val="000000"/>
                          </a:solidFill>
                          <a:latin typeface="Arial"/>
                        </a:rPr>
                        <a:t>Automation guarded by human approval</a:t>
                      </a:r>
                    </a:p>
                  </a:txBody>
                  <a:tcPr marL="54864" marR="54864" marT="18288" marB="18288" anchor="ctr"/>
                </a:tc>
                <a:tc>
                  <a:txBody>
                    <a:bodyPr/>
                    <a:lstStyle/>
                    <a:p>
                      <a:pPr algn="ctr"/>
                      <a:r>
                        <a:rPr sz="1600" b="1" i="0">
                          <a:solidFill>
                            <a:srgbClr val="D9A000"/>
                          </a:solidFill>
                          <a:latin typeface="DejaVu Sans"/>
                        </a:rPr>
                        <a:t>⚠</a:t>
                      </a:r>
                    </a:p>
                  </a:txBody>
                  <a:tcPr marL="54864" marR="54864" marT="18288" marB="18288" anchor="ctr"/>
                </a:tc>
                <a:tc>
                  <a:txBody>
                    <a:bodyPr/>
                    <a:lstStyle/>
                    <a:p>
                      <a:pPr algn="ctr"/>
                      <a:r>
                        <a:rPr sz="1600" b="1" i="0">
                          <a:solidFill>
                            <a:srgbClr val="D9A000"/>
                          </a:solidFill>
                          <a:latin typeface="DejaVu Sans"/>
                        </a:rPr>
                        <a:t>⚠</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extLst>
                  <a:ext uri="{0D108BD9-81ED-4DB2-BD59-A6C34878D82A}">
                    <a16:rowId xmlns:a16="http://schemas.microsoft.com/office/drawing/2014/main" val="10006"/>
                  </a:ext>
                </a:extLst>
              </a:tr>
            </a:tbl>
          </a:graphicData>
        </a:graphic>
      </p:graphicFrame>
      <p:sp>
        <p:nvSpPr>
          <p:cNvPr id="7" name="TextBox 6"/>
          <p:cNvSpPr txBox="1"/>
          <p:nvPr/>
        </p:nvSpPr>
        <p:spPr>
          <a:xfrm>
            <a:off x="822960" y="5806440"/>
            <a:ext cx="10515600" cy="365760"/>
          </a:xfrm>
          <a:prstGeom prst="rect">
            <a:avLst/>
          </a:prstGeom>
          <a:noFill/>
        </p:spPr>
        <p:txBody>
          <a:bodyPr wrap="square" lIns="45720" tIns="18288" rIns="45720" bIns="18288" anchor="ctr">
            <a:spAutoFit/>
          </a:bodyPr>
          <a:lstStyle/>
          <a:p>
            <a:pPr algn="l"/>
            <a:r>
              <a:rPr sz="1100" b="0" i="1">
                <a:solidFill>
                  <a:srgbClr val="7A7A7A"/>
                </a:solidFill>
                <a:latin typeface="Arial"/>
              </a:rPr>
              <a:t>Qualitative assessment from public product positioning; ✓ yes · ⚠ partial or add-on · ✗ no</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02. Project Study</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Our Proposed Solution</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10</a:t>
            </a:r>
          </a:p>
        </p:txBody>
      </p:sp>
      <p:sp>
        <p:nvSpPr>
          <p:cNvPr id="6" name="TextBox 5"/>
          <p:cNvSpPr txBox="1"/>
          <p:nvPr/>
        </p:nvSpPr>
        <p:spPr>
          <a:xfrm>
            <a:off x="640080" y="2103120"/>
            <a:ext cx="457200" cy="411480"/>
          </a:xfrm>
          <a:prstGeom prst="rect">
            <a:avLst/>
          </a:prstGeom>
          <a:noFill/>
        </p:spPr>
        <p:txBody>
          <a:bodyPr wrap="square" lIns="45720" tIns="18288" rIns="45720" bIns="18288" anchor="ctr">
            <a:spAutoFit/>
          </a:bodyPr>
          <a:lstStyle/>
          <a:p>
            <a:pPr algn="ctr"/>
            <a:r>
              <a:rPr sz="3400" b="1" i="0">
                <a:solidFill>
                  <a:srgbClr val="8CC63F"/>
                </a:solidFill>
                <a:latin typeface="DejaVu Sans"/>
              </a:rPr>
              <a:t>✓</a:t>
            </a:r>
          </a:p>
        </p:txBody>
      </p:sp>
      <p:sp>
        <p:nvSpPr>
          <p:cNvPr id="7" name="Rounded Rectangle 6"/>
          <p:cNvSpPr/>
          <p:nvPr/>
        </p:nvSpPr>
        <p:spPr>
          <a:xfrm>
            <a:off x="1234440" y="1691640"/>
            <a:ext cx="4754880" cy="1325880"/>
          </a:xfrm>
          <a:prstGeom prst="roundRect">
            <a:avLst>
              <a:gd name="adj" fmla="val 12000"/>
            </a:avLst>
          </a:prstGeom>
          <a:solidFill>
            <a:srgbClr val="D6F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371600" y="2005253"/>
            <a:ext cx="4526280" cy="698653"/>
          </a:xfrm>
          <a:prstGeom prst="rect">
            <a:avLst/>
          </a:prstGeom>
          <a:noFill/>
        </p:spPr>
        <p:txBody>
          <a:bodyPr wrap="square" lIns="45720" tIns="18288" rIns="45720" bIns="18288" anchor="ctr">
            <a:spAutoFit/>
          </a:bodyPr>
          <a:lstStyle/>
          <a:p>
            <a:pPr algn="l"/>
            <a:r>
              <a:rPr sz="1700" b="1" i="0" dirty="0">
                <a:solidFill>
                  <a:srgbClr val="000000"/>
                </a:solidFill>
                <a:latin typeface="Arial"/>
              </a:rPr>
              <a:t>Full EAM foundation</a:t>
            </a:r>
          </a:p>
          <a:p>
            <a:pPr algn="l"/>
            <a:r>
              <a:rPr sz="1300" b="0" i="0" dirty="0">
                <a:solidFill>
                  <a:srgbClr val="000000"/>
                </a:solidFill>
                <a:latin typeface="Arial"/>
              </a:rPr>
              <a:t>Users, machines, work orders, intervention orders, scheduling, archiving</a:t>
            </a:r>
            <a:r>
              <a:rPr lang="fr-FR" sz="1300" b="0" i="0" dirty="0">
                <a:solidFill>
                  <a:srgbClr val="000000"/>
                </a:solidFill>
                <a:latin typeface="Arial"/>
              </a:rPr>
              <a:t> …</a:t>
            </a:r>
            <a:r>
              <a:rPr lang="fr-FR" sz="1300" b="0" i="0" dirty="0" err="1">
                <a:solidFill>
                  <a:srgbClr val="000000"/>
                </a:solidFill>
                <a:latin typeface="Arial"/>
              </a:rPr>
              <a:t>etc</a:t>
            </a:r>
            <a:endParaRPr sz="1300" b="0" i="0" dirty="0">
              <a:solidFill>
                <a:srgbClr val="000000"/>
              </a:solidFill>
              <a:latin typeface="Arial"/>
            </a:endParaRPr>
          </a:p>
        </p:txBody>
      </p:sp>
      <p:sp>
        <p:nvSpPr>
          <p:cNvPr id="9" name="TextBox 8"/>
          <p:cNvSpPr txBox="1"/>
          <p:nvPr/>
        </p:nvSpPr>
        <p:spPr>
          <a:xfrm>
            <a:off x="640080" y="3657600"/>
            <a:ext cx="457200" cy="411480"/>
          </a:xfrm>
          <a:prstGeom prst="rect">
            <a:avLst/>
          </a:prstGeom>
          <a:noFill/>
        </p:spPr>
        <p:txBody>
          <a:bodyPr wrap="square" lIns="45720" tIns="18288" rIns="45720" bIns="18288" anchor="ctr">
            <a:spAutoFit/>
          </a:bodyPr>
          <a:lstStyle/>
          <a:p>
            <a:pPr algn="ctr"/>
            <a:r>
              <a:rPr sz="3400" b="1" i="0">
                <a:solidFill>
                  <a:srgbClr val="8CC63F"/>
                </a:solidFill>
                <a:latin typeface="DejaVu Sans"/>
              </a:rPr>
              <a:t>✓</a:t>
            </a:r>
          </a:p>
        </p:txBody>
      </p:sp>
      <p:sp>
        <p:nvSpPr>
          <p:cNvPr id="10" name="Rounded Rectangle 9"/>
          <p:cNvSpPr/>
          <p:nvPr/>
        </p:nvSpPr>
        <p:spPr>
          <a:xfrm>
            <a:off x="1234440" y="3246120"/>
            <a:ext cx="4754880" cy="1325880"/>
          </a:xfrm>
          <a:prstGeom prst="roundRect">
            <a:avLst>
              <a:gd name="adj" fmla="val 12000"/>
            </a:avLst>
          </a:prstGeom>
          <a:solidFill>
            <a:srgbClr val="D6F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71600" y="3291839"/>
            <a:ext cx="4526280" cy="1234440"/>
          </a:xfrm>
          <a:prstGeom prst="rect">
            <a:avLst/>
          </a:prstGeom>
          <a:noFill/>
        </p:spPr>
        <p:txBody>
          <a:bodyPr wrap="square" lIns="45720" tIns="18288" rIns="45720" bIns="18288" anchor="ctr">
            <a:spAutoFit/>
          </a:bodyPr>
          <a:lstStyle/>
          <a:p>
            <a:pPr algn="l"/>
            <a:r>
              <a:rPr sz="1700" b="1" i="0">
                <a:solidFill>
                  <a:srgbClr val="000000"/>
                </a:solidFill>
                <a:latin typeface="Arial"/>
              </a:rPr>
              <a:t>7 predictive models (P1-P7)</a:t>
            </a:r>
          </a:p>
          <a:p>
            <a:pPr algn="l"/>
            <a:r>
              <a:rPr sz="1300" b="0" i="0">
                <a:solidFill>
                  <a:srgbClr val="000000"/>
                </a:solidFill>
                <a:latin typeface="Arial"/>
              </a:rPr>
              <a:t>Failure, failure type, remaining life, anomaly, priority, schedule, parts</a:t>
            </a:r>
          </a:p>
        </p:txBody>
      </p:sp>
      <p:sp>
        <p:nvSpPr>
          <p:cNvPr id="12" name="TextBox 11"/>
          <p:cNvSpPr txBox="1"/>
          <p:nvPr/>
        </p:nvSpPr>
        <p:spPr>
          <a:xfrm>
            <a:off x="640080" y="5212080"/>
            <a:ext cx="457200" cy="411480"/>
          </a:xfrm>
          <a:prstGeom prst="rect">
            <a:avLst/>
          </a:prstGeom>
          <a:noFill/>
        </p:spPr>
        <p:txBody>
          <a:bodyPr wrap="square" lIns="45720" tIns="18288" rIns="45720" bIns="18288" anchor="ctr">
            <a:spAutoFit/>
          </a:bodyPr>
          <a:lstStyle/>
          <a:p>
            <a:pPr algn="ctr"/>
            <a:r>
              <a:rPr sz="3400" b="1" i="0">
                <a:solidFill>
                  <a:srgbClr val="8CC63F"/>
                </a:solidFill>
                <a:latin typeface="DejaVu Sans"/>
              </a:rPr>
              <a:t>✓</a:t>
            </a:r>
          </a:p>
        </p:txBody>
      </p:sp>
      <p:sp>
        <p:nvSpPr>
          <p:cNvPr id="13" name="Rounded Rectangle 12"/>
          <p:cNvSpPr/>
          <p:nvPr/>
        </p:nvSpPr>
        <p:spPr>
          <a:xfrm>
            <a:off x="1234440" y="4800600"/>
            <a:ext cx="4754880" cy="1325880"/>
          </a:xfrm>
          <a:prstGeom prst="roundRect">
            <a:avLst>
              <a:gd name="adj" fmla="val 12000"/>
            </a:avLst>
          </a:prstGeom>
          <a:solidFill>
            <a:srgbClr val="D6F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71600" y="4846320"/>
            <a:ext cx="4526280" cy="1234440"/>
          </a:xfrm>
          <a:prstGeom prst="rect">
            <a:avLst/>
          </a:prstGeom>
          <a:noFill/>
        </p:spPr>
        <p:txBody>
          <a:bodyPr wrap="square" lIns="45720" tIns="18288" rIns="45720" bIns="18288" anchor="ctr">
            <a:spAutoFit/>
          </a:bodyPr>
          <a:lstStyle/>
          <a:p>
            <a:pPr algn="l"/>
            <a:r>
              <a:rPr sz="1700" b="1" i="0">
                <a:solidFill>
                  <a:srgbClr val="000000"/>
                </a:solidFill>
                <a:latin typeface="Arial"/>
              </a:rPr>
              <a:t>Evidence fusion (DST)</a:t>
            </a:r>
          </a:p>
          <a:p>
            <a:pPr algn="l"/>
            <a:r>
              <a:rPr sz="1300" b="0" i="0">
                <a:solidFill>
                  <a:srgbClr val="000000"/>
                </a:solidFill>
                <a:latin typeface="Arial"/>
              </a:rPr>
              <a:t>4 advanced signals combined into one honest, unified health score</a:t>
            </a:r>
          </a:p>
        </p:txBody>
      </p:sp>
      <p:sp>
        <p:nvSpPr>
          <p:cNvPr id="15" name="TextBox 14"/>
          <p:cNvSpPr txBox="1"/>
          <p:nvPr/>
        </p:nvSpPr>
        <p:spPr>
          <a:xfrm>
            <a:off x="6217920" y="2103120"/>
            <a:ext cx="457200" cy="411480"/>
          </a:xfrm>
          <a:prstGeom prst="rect">
            <a:avLst/>
          </a:prstGeom>
          <a:noFill/>
        </p:spPr>
        <p:txBody>
          <a:bodyPr wrap="square" lIns="45720" tIns="18288" rIns="45720" bIns="18288" anchor="ctr">
            <a:spAutoFit/>
          </a:bodyPr>
          <a:lstStyle/>
          <a:p>
            <a:pPr algn="ctr"/>
            <a:r>
              <a:rPr sz="3400" b="1" i="0">
                <a:solidFill>
                  <a:srgbClr val="8CC63F"/>
                </a:solidFill>
                <a:latin typeface="DejaVu Sans"/>
              </a:rPr>
              <a:t>✓</a:t>
            </a:r>
          </a:p>
        </p:txBody>
      </p:sp>
      <p:sp>
        <p:nvSpPr>
          <p:cNvPr id="16" name="Rounded Rectangle 15"/>
          <p:cNvSpPr/>
          <p:nvPr/>
        </p:nvSpPr>
        <p:spPr>
          <a:xfrm>
            <a:off x="6812280" y="1691640"/>
            <a:ext cx="4754880" cy="1325880"/>
          </a:xfrm>
          <a:prstGeom prst="roundRect">
            <a:avLst>
              <a:gd name="adj" fmla="val 12000"/>
            </a:avLst>
          </a:prstGeom>
          <a:solidFill>
            <a:srgbClr val="D6F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949440" y="1737360"/>
            <a:ext cx="4526280" cy="1234440"/>
          </a:xfrm>
          <a:prstGeom prst="rect">
            <a:avLst/>
          </a:prstGeom>
          <a:noFill/>
        </p:spPr>
        <p:txBody>
          <a:bodyPr wrap="square" lIns="45720" tIns="18288" rIns="45720" bIns="18288" anchor="ctr">
            <a:spAutoFit/>
          </a:bodyPr>
          <a:lstStyle/>
          <a:p>
            <a:pPr algn="l"/>
            <a:r>
              <a:rPr sz="1700" b="1" i="0">
                <a:solidFill>
                  <a:srgbClr val="000000"/>
                </a:solidFill>
                <a:latin typeface="Arial"/>
              </a:rPr>
              <a:t>Systematic explainability</a:t>
            </a:r>
          </a:p>
          <a:p>
            <a:pPr algn="l"/>
            <a:r>
              <a:rPr sz="1300" b="0" i="0">
                <a:solidFill>
                  <a:srgbClr val="000000"/>
                </a:solidFill>
                <a:latin typeface="Arial"/>
              </a:rPr>
              <a:t>Every prediction ships with a plain-language explanation</a:t>
            </a:r>
          </a:p>
        </p:txBody>
      </p:sp>
      <p:sp>
        <p:nvSpPr>
          <p:cNvPr id="18" name="TextBox 17"/>
          <p:cNvSpPr txBox="1"/>
          <p:nvPr/>
        </p:nvSpPr>
        <p:spPr>
          <a:xfrm>
            <a:off x="6217920" y="3657600"/>
            <a:ext cx="457200" cy="411480"/>
          </a:xfrm>
          <a:prstGeom prst="rect">
            <a:avLst/>
          </a:prstGeom>
          <a:noFill/>
        </p:spPr>
        <p:txBody>
          <a:bodyPr wrap="square" lIns="45720" tIns="18288" rIns="45720" bIns="18288" anchor="ctr">
            <a:spAutoFit/>
          </a:bodyPr>
          <a:lstStyle/>
          <a:p>
            <a:pPr algn="ctr"/>
            <a:r>
              <a:rPr sz="3400" b="1" i="0">
                <a:solidFill>
                  <a:srgbClr val="8CC63F"/>
                </a:solidFill>
                <a:latin typeface="DejaVu Sans"/>
              </a:rPr>
              <a:t>✓</a:t>
            </a:r>
          </a:p>
        </p:txBody>
      </p:sp>
      <p:sp>
        <p:nvSpPr>
          <p:cNvPr id="19" name="Rounded Rectangle 18"/>
          <p:cNvSpPr/>
          <p:nvPr/>
        </p:nvSpPr>
        <p:spPr>
          <a:xfrm>
            <a:off x="6812280" y="3246120"/>
            <a:ext cx="4754880" cy="1325880"/>
          </a:xfrm>
          <a:prstGeom prst="roundRect">
            <a:avLst>
              <a:gd name="adj" fmla="val 12000"/>
            </a:avLst>
          </a:prstGeom>
          <a:solidFill>
            <a:srgbClr val="D6F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949440" y="3291839"/>
            <a:ext cx="4526280" cy="1234440"/>
          </a:xfrm>
          <a:prstGeom prst="rect">
            <a:avLst/>
          </a:prstGeom>
          <a:noFill/>
        </p:spPr>
        <p:txBody>
          <a:bodyPr wrap="square" lIns="45720" tIns="18288" rIns="45720" bIns="18288" anchor="ctr">
            <a:spAutoFit/>
          </a:bodyPr>
          <a:lstStyle/>
          <a:p>
            <a:pPr algn="l"/>
            <a:r>
              <a:rPr sz="1700" b="1" i="0">
                <a:solidFill>
                  <a:srgbClr val="000000"/>
                </a:solidFill>
                <a:latin typeface="Arial"/>
              </a:rPr>
              <a:t>Conversational RAG assistant</a:t>
            </a:r>
          </a:p>
          <a:p>
            <a:pPr algn="l"/>
            <a:r>
              <a:rPr sz="1300" b="0" i="0">
                <a:solidFill>
                  <a:srgbClr val="000000"/>
                </a:solidFill>
                <a:latin typeface="Arial"/>
              </a:rPr>
              <a:t>Documentation + real-time machine status merged into every answer</a:t>
            </a:r>
          </a:p>
        </p:txBody>
      </p:sp>
      <p:sp>
        <p:nvSpPr>
          <p:cNvPr id="21" name="TextBox 20"/>
          <p:cNvSpPr txBox="1"/>
          <p:nvPr/>
        </p:nvSpPr>
        <p:spPr>
          <a:xfrm>
            <a:off x="6217920" y="5212080"/>
            <a:ext cx="457200" cy="411480"/>
          </a:xfrm>
          <a:prstGeom prst="rect">
            <a:avLst/>
          </a:prstGeom>
          <a:noFill/>
        </p:spPr>
        <p:txBody>
          <a:bodyPr wrap="square" lIns="45720" tIns="18288" rIns="45720" bIns="18288" anchor="ctr">
            <a:spAutoFit/>
          </a:bodyPr>
          <a:lstStyle/>
          <a:p>
            <a:pPr algn="ctr"/>
            <a:r>
              <a:rPr sz="3400" b="1" i="0">
                <a:solidFill>
                  <a:srgbClr val="8CC63F"/>
                </a:solidFill>
                <a:latin typeface="DejaVu Sans"/>
              </a:rPr>
              <a:t>✓</a:t>
            </a:r>
          </a:p>
        </p:txBody>
      </p:sp>
      <p:sp>
        <p:nvSpPr>
          <p:cNvPr id="22" name="Rounded Rectangle 21"/>
          <p:cNvSpPr/>
          <p:nvPr/>
        </p:nvSpPr>
        <p:spPr>
          <a:xfrm>
            <a:off x="6812280" y="4800600"/>
            <a:ext cx="4754880" cy="1325880"/>
          </a:xfrm>
          <a:prstGeom prst="roundRect">
            <a:avLst>
              <a:gd name="adj" fmla="val 12000"/>
            </a:avLst>
          </a:prstGeom>
          <a:solidFill>
            <a:srgbClr val="D6F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949440" y="4846320"/>
            <a:ext cx="4526280" cy="1234440"/>
          </a:xfrm>
          <a:prstGeom prst="rect">
            <a:avLst/>
          </a:prstGeom>
          <a:noFill/>
        </p:spPr>
        <p:txBody>
          <a:bodyPr wrap="square" lIns="45720" tIns="18288" rIns="45720" bIns="18288" anchor="ctr">
            <a:spAutoFit/>
          </a:bodyPr>
          <a:lstStyle/>
          <a:p>
            <a:pPr algn="l"/>
            <a:r>
              <a:rPr sz="1700" b="1" i="0">
                <a:solidFill>
                  <a:srgbClr val="000000"/>
                </a:solidFill>
                <a:latin typeface="Arial"/>
              </a:rPr>
              <a:t>Guarded automation</a:t>
            </a:r>
          </a:p>
          <a:p>
            <a:pPr algn="l"/>
            <a:r>
              <a:rPr sz="1300" b="0" i="0">
                <a:solidFill>
                  <a:srgbClr val="000000"/>
                </a:solidFill>
                <a:latin typeface="Arial"/>
              </a:rPr>
              <a:t>Parts proposals generated, never ordered without human approval</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02. Project Study</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Working Methodology</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11</a:t>
            </a:r>
          </a:p>
        </p:txBody>
      </p:sp>
      <p:sp>
        <p:nvSpPr>
          <p:cNvPr id="6" name="Rounded Rectangle 5"/>
          <p:cNvSpPr/>
          <p:nvPr/>
        </p:nvSpPr>
        <p:spPr>
          <a:xfrm>
            <a:off x="640080" y="1691640"/>
            <a:ext cx="4480560" cy="105156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76656" y="1709928"/>
            <a:ext cx="4407408" cy="1014983"/>
          </a:xfrm>
          <a:prstGeom prst="rect">
            <a:avLst/>
          </a:prstGeom>
          <a:noFill/>
        </p:spPr>
        <p:txBody>
          <a:bodyPr wrap="square" lIns="45720" tIns="18288" rIns="45720" bIns="18288" anchor="ctr">
            <a:spAutoFit/>
          </a:bodyPr>
          <a:lstStyle/>
          <a:p>
            <a:pPr algn="ctr"/>
            <a:r>
              <a:rPr sz="1500" b="1" i="0">
                <a:solidFill>
                  <a:srgbClr val="0B8CA8"/>
                </a:solidFill>
                <a:latin typeface="Arial"/>
              </a:rPr>
              <a:t>Product Owner</a:t>
            </a:r>
          </a:p>
          <a:p>
            <a:pPr algn="ctr"/>
            <a:r>
              <a:rPr sz="1200" b="0" i="0">
                <a:solidFill>
                  <a:srgbClr val="333333"/>
                </a:solidFill>
                <a:latin typeface="Arial"/>
              </a:rPr>
              <a:t>SagemCom supervisor: prioritises business needs and validates each deliverable</a:t>
            </a:r>
          </a:p>
        </p:txBody>
      </p:sp>
      <p:sp>
        <p:nvSpPr>
          <p:cNvPr id="8" name="Rounded Rectangle 7"/>
          <p:cNvSpPr/>
          <p:nvPr/>
        </p:nvSpPr>
        <p:spPr>
          <a:xfrm>
            <a:off x="640080" y="2926080"/>
            <a:ext cx="4480560" cy="105156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76656" y="2944368"/>
            <a:ext cx="4407408" cy="1014983"/>
          </a:xfrm>
          <a:prstGeom prst="rect">
            <a:avLst/>
          </a:prstGeom>
          <a:noFill/>
        </p:spPr>
        <p:txBody>
          <a:bodyPr wrap="square" lIns="45720" tIns="18288" rIns="45720" bIns="18288" anchor="ctr">
            <a:spAutoFit/>
          </a:bodyPr>
          <a:lstStyle/>
          <a:p>
            <a:pPr algn="ctr"/>
            <a:r>
              <a:rPr sz="1500" b="1" i="0">
                <a:solidFill>
                  <a:srgbClr val="0B8CA8"/>
                </a:solidFill>
                <a:latin typeface="Arial"/>
              </a:rPr>
              <a:t>Scrum Master</a:t>
            </a:r>
          </a:p>
          <a:p>
            <a:pPr algn="ctr"/>
            <a:r>
              <a:rPr sz="1200" b="0" i="0">
                <a:solidFill>
                  <a:srgbClr val="333333"/>
                </a:solidFill>
                <a:latin typeface="Arial"/>
              </a:rPr>
              <a:t>Intern: drives the specify → plan → build → verify cycle</a:t>
            </a:r>
          </a:p>
        </p:txBody>
      </p:sp>
      <p:sp>
        <p:nvSpPr>
          <p:cNvPr id="10" name="Rounded Rectangle 9"/>
          <p:cNvSpPr/>
          <p:nvPr/>
        </p:nvSpPr>
        <p:spPr>
          <a:xfrm>
            <a:off x="640080" y="4160520"/>
            <a:ext cx="4480560" cy="105156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76656" y="4178808"/>
            <a:ext cx="4407408" cy="1014983"/>
          </a:xfrm>
          <a:prstGeom prst="rect">
            <a:avLst/>
          </a:prstGeom>
          <a:noFill/>
        </p:spPr>
        <p:txBody>
          <a:bodyPr wrap="square" lIns="45720" tIns="18288" rIns="45720" bIns="18288" anchor="ctr">
            <a:spAutoFit/>
          </a:bodyPr>
          <a:lstStyle/>
          <a:p>
            <a:pPr algn="ctr"/>
            <a:r>
              <a:rPr sz="1500" b="1" i="0">
                <a:solidFill>
                  <a:srgbClr val="0B8CA8"/>
                </a:solidFill>
                <a:latin typeface="Arial"/>
              </a:rPr>
              <a:t>Development team</a:t>
            </a:r>
          </a:p>
          <a:p>
            <a:pPr algn="ctr"/>
            <a:r>
              <a:rPr sz="1200" b="0" i="0">
                <a:solidFill>
                  <a:srgbClr val="333333"/>
                </a:solidFill>
                <a:latin typeface="Arial"/>
              </a:rPr>
              <a:t>Intern, paired with an AI assistant for implementation and testing</a:t>
            </a:r>
          </a:p>
        </p:txBody>
      </p:sp>
      <p:sp>
        <p:nvSpPr>
          <p:cNvPr id="12" name="Rounded Rectangle 11"/>
          <p:cNvSpPr/>
          <p:nvPr/>
        </p:nvSpPr>
        <p:spPr>
          <a:xfrm>
            <a:off x="5577840" y="1920240"/>
            <a:ext cx="2651760" cy="960120"/>
          </a:xfrm>
          <a:prstGeom prst="roundRect">
            <a:avLst>
              <a:gd name="adj" fmla="val 30000"/>
            </a:avLst>
          </a:prstGeom>
          <a:solidFill>
            <a:srgbClr val="C5C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577840" y="1920240"/>
            <a:ext cx="2651760" cy="960120"/>
          </a:xfrm>
          <a:prstGeom prst="rect">
            <a:avLst/>
          </a:prstGeom>
          <a:noFill/>
        </p:spPr>
        <p:txBody>
          <a:bodyPr wrap="square" lIns="45720" tIns="18288" rIns="45720" bIns="18288" anchor="ctr">
            <a:spAutoFit/>
          </a:bodyPr>
          <a:lstStyle/>
          <a:p>
            <a:pPr algn="ctr"/>
            <a:r>
              <a:rPr sz="2000" b="1" i="0">
                <a:solidFill>
                  <a:srgbClr val="D0101A"/>
                </a:solidFill>
                <a:latin typeface="Arial"/>
              </a:rPr>
              <a:t>1  </a:t>
            </a:r>
            <a:r>
              <a:rPr sz="2000" b="1" i="0">
                <a:solidFill>
                  <a:srgbClr val="000000"/>
                </a:solidFill>
                <a:latin typeface="Arial"/>
              </a:rPr>
              <a:t>Specify</a:t>
            </a:r>
          </a:p>
        </p:txBody>
      </p:sp>
      <p:sp>
        <p:nvSpPr>
          <p:cNvPr id="14" name="Rounded Rectangle 13"/>
          <p:cNvSpPr/>
          <p:nvPr/>
        </p:nvSpPr>
        <p:spPr>
          <a:xfrm>
            <a:off x="8686800" y="1920240"/>
            <a:ext cx="2651760" cy="960120"/>
          </a:xfrm>
          <a:prstGeom prst="roundRect">
            <a:avLst>
              <a:gd name="adj" fmla="val 30000"/>
            </a:avLst>
          </a:prstGeom>
          <a:solidFill>
            <a:srgbClr val="C5C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686800" y="1920240"/>
            <a:ext cx="2651760" cy="960120"/>
          </a:xfrm>
          <a:prstGeom prst="rect">
            <a:avLst/>
          </a:prstGeom>
          <a:noFill/>
        </p:spPr>
        <p:txBody>
          <a:bodyPr wrap="square" lIns="45720" tIns="18288" rIns="45720" bIns="18288" anchor="ctr">
            <a:spAutoFit/>
          </a:bodyPr>
          <a:lstStyle/>
          <a:p>
            <a:pPr algn="ctr"/>
            <a:r>
              <a:rPr sz="2000" b="1" i="0">
                <a:solidFill>
                  <a:srgbClr val="D0101A"/>
                </a:solidFill>
                <a:latin typeface="Arial"/>
              </a:rPr>
              <a:t>2  </a:t>
            </a:r>
            <a:r>
              <a:rPr sz="2000" b="1" i="0">
                <a:solidFill>
                  <a:srgbClr val="000000"/>
                </a:solidFill>
                <a:latin typeface="Arial"/>
              </a:rPr>
              <a:t>Plan</a:t>
            </a:r>
          </a:p>
        </p:txBody>
      </p:sp>
      <p:sp>
        <p:nvSpPr>
          <p:cNvPr id="16" name="Rounded Rectangle 15"/>
          <p:cNvSpPr/>
          <p:nvPr/>
        </p:nvSpPr>
        <p:spPr>
          <a:xfrm>
            <a:off x="5577840" y="3246120"/>
            <a:ext cx="2651760" cy="960120"/>
          </a:xfrm>
          <a:prstGeom prst="roundRect">
            <a:avLst>
              <a:gd name="adj" fmla="val 30000"/>
            </a:avLst>
          </a:prstGeom>
          <a:solidFill>
            <a:srgbClr val="C5C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577840" y="3553825"/>
            <a:ext cx="2651760" cy="344710"/>
          </a:xfrm>
          <a:prstGeom prst="rect">
            <a:avLst/>
          </a:prstGeom>
          <a:noFill/>
        </p:spPr>
        <p:txBody>
          <a:bodyPr wrap="square" lIns="45720" tIns="18288" rIns="45720" bIns="18288" anchor="ctr">
            <a:spAutoFit/>
          </a:bodyPr>
          <a:lstStyle/>
          <a:p>
            <a:pPr algn="ctr"/>
            <a:r>
              <a:rPr sz="2000" b="1" i="0">
                <a:solidFill>
                  <a:srgbClr val="D0101A"/>
                </a:solidFill>
                <a:latin typeface="Arial"/>
              </a:rPr>
              <a:t>3  </a:t>
            </a:r>
            <a:r>
              <a:rPr sz="2000" b="1" i="0">
                <a:solidFill>
                  <a:srgbClr val="000000"/>
                </a:solidFill>
                <a:latin typeface="Arial"/>
              </a:rPr>
              <a:t>Build</a:t>
            </a:r>
          </a:p>
        </p:txBody>
      </p:sp>
      <p:sp>
        <p:nvSpPr>
          <p:cNvPr id="18" name="Rounded Rectangle 17"/>
          <p:cNvSpPr/>
          <p:nvPr/>
        </p:nvSpPr>
        <p:spPr>
          <a:xfrm>
            <a:off x="8686800" y="3246120"/>
            <a:ext cx="2651760" cy="960120"/>
          </a:xfrm>
          <a:prstGeom prst="roundRect">
            <a:avLst>
              <a:gd name="adj" fmla="val 30000"/>
            </a:avLst>
          </a:prstGeom>
          <a:solidFill>
            <a:srgbClr val="C5C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686800" y="3246120"/>
            <a:ext cx="2651760" cy="960120"/>
          </a:xfrm>
          <a:prstGeom prst="rect">
            <a:avLst/>
          </a:prstGeom>
          <a:noFill/>
        </p:spPr>
        <p:txBody>
          <a:bodyPr wrap="square" lIns="45720" tIns="18288" rIns="45720" bIns="18288" anchor="ctr">
            <a:spAutoFit/>
          </a:bodyPr>
          <a:lstStyle/>
          <a:p>
            <a:pPr algn="ctr"/>
            <a:r>
              <a:rPr sz="2000" b="1" i="0">
                <a:solidFill>
                  <a:srgbClr val="D0101A"/>
                </a:solidFill>
                <a:latin typeface="Arial"/>
              </a:rPr>
              <a:t>4  </a:t>
            </a:r>
            <a:r>
              <a:rPr sz="2000" b="1" i="0">
                <a:solidFill>
                  <a:srgbClr val="000000"/>
                </a:solidFill>
                <a:latin typeface="Arial"/>
              </a:rPr>
              <a:t>Verify</a:t>
            </a:r>
          </a:p>
        </p:txBody>
      </p:sp>
      <p:cxnSp>
        <p:nvCxnSpPr>
          <p:cNvPr id="20" name="Connector 19"/>
          <p:cNvCxnSpPr/>
          <p:nvPr/>
        </p:nvCxnSpPr>
        <p:spPr>
          <a:xfrm>
            <a:off x="8275320" y="2395728"/>
            <a:ext cx="36576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903720" y="2926080"/>
            <a:ext cx="0" cy="27432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8275320" y="3721608"/>
            <a:ext cx="36576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577840" y="4572000"/>
            <a:ext cx="5760720" cy="960263"/>
          </a:xfrm>
          <a:prstGeom prst="rect">
            <a:avLst/>
          </a:prstGeom>
          <a:noFill/>
        </p:spPr>
        <p:txBody>
          <a:bodyPr wrap="square" lIns="45720" tIns="18288" rIns="45720" bIns="18288" anchor="t">
            <a:spAutoFit/>
          </a:bodyPr>
          <a:lstStyle/>
          <a:p>
            <a:pPr algn="l"/>
            <a:r>
              <a:rPr lang="fr-FR" sz="1500" b="1" i="0" dirty="0">
                <a:solidFill>
                  <a:srgbClr val="000000"/>
                </a:solidFill>
                <a:latin typeface="Arial"/>
              </a:rPr>
              <a:t>6-</a:t>
            </a:r>
            <a:r>
              <a:rPr sz="1500" b="1" i="0" dirty="0">
                <a:solidFill>
                  <a:srgbClr val="000000"/>
                </a:solidFill>
                <a:latin typeface="Arial"/>
              </a:rPr>
              <a:t>7 monthly sprints, </a:t>
            </a:r>
            <a:r>
              <a:rPr sz="1500" b="0" i="0" dirty="0">
                <a:solidFill>
                  <a:srgbClr val="000000"/>
                </a:solidFill>
                <a:latin typeface="Arial"/>
              </a:rPr>
              <a:t>aligned with the roadmap.</a:t>
            </a:r>
          </a:p>
          <a:p>
            <a:pPr algn="l"/>
            <a:r>
              <a:rPr sz="1500" b="0" i="0" dirty="0">
                <a:solidFill>
                  <a:srgbClr val="000000"/>
                </a:solidFill>
                <a:latin typeface="Arial"/>
              </a:rPr>
              <a:t>Every feature has a written specification and an implementation plan </a:t>
            </a:r>
            <a:r>
              <a:rPr sz="1500" b="1" i="0" dirty="0">
                <a:solidFill>
                  <a:srgbClr val="D0101A"/>
                </a:solidFill>
                <a:latin typeface="Arial"/>
              </a:rPr>
              <a:t>before any code is written</a:t>
            </a:r>
            <a:r>
              <a:rPr sz="1500" b="0" i="0" dirty="0">
                <a:solidFill>
                  <a:srgbClr val="000000"/>
                </a:solidFill>
                <a:latin typeface="Arial"/>
              </a:rPr>
              <a:t>: full traceability of technical decisions.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Connector 1"/>
          <p:cNvCxnSpPr/>
          <p:nvPr/>
        </p:nvCxnSpPr>
        <p:spPr>
          <a:xfrm>
            <a:off x="3657600" y="0"/>
            <a:ext cx="0" cy="685800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069080" y="1463040"/>
            <a:ext cx="7680960" cy="4023360"/>
          </a:xfrm>
          <a:prstGeom prst="rect">
            <a:avLst/>
          </a:prstGeom>
          <a:noFill/>
        </p:spPr>
        <p:txBody>
          <a:bodyPr wrap="square" lIns="45720" tIns="18288" rIns="45720" bIns="18288" anchor="ctr">
            <a:spAutoFit/>
          </a:bodyPr>
          <a:lstStyle/>
          <a:p>
            <a:pPr algn="l"/>
            <a:r>
              <a:rPr sz="4800" b="0" i="0">
                <a:solidFill>
                  <a:srgbClr val="000000"/>
                </a:solidFill>
                <a:latin typeface="Arial Black"/>
              </a:rPr>
              <a:t>03</a:t>
            </a:r>
          </a:p>
          <a:p>
            <a:pPr algn="l"/>
            <a:r>
              <a:rPr sz="4800" b="0" i="0">
                <a:solidFill>
                  <a:srgbClr val="000000"/>
                </a:solidFill>
                <a:latin typeface="Arial Black"/>
              </a:rPr>
              <a:t>Requirements</a:t>
            </a:r>
          </a:p>
          <a:p>
            <a:pPr algn="l"/>
            <a:r>
              <a:rPr sz="4800" b="0" i="0">
                <a:solidFill>
                  <a:srgbClr val="000000"/>
                </a:solidFill>
                <a:latin typeface="Arial Black"/>
              </a:rPr>
              <a:t>&amp; Analysis</a:t>
            </a:r>
          </a:p>
        </p:txBody>
      </p:sp>
      <p:sp>
        <p:nvSpPr>
          <p:cNvPr id="4" name="TextBox 3"/>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03. Requirements &amp; Analysis</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The Four Platform Roles</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13</a:t>
            </a:r>
          </a:p>
        </p:txBody>
      </p:sp>
      <p:sp>
        <p:nvSpPr>
          <p:cNvPr id="6" name="Oval 5"/>
          <p:cNvSpPr/>
          <p:nvPr/>
        </p:nvSpPr>
        <p:spPr>
          <a:xfrm>
            <a:off x="548640" y="1874519"/>
            <a:ext cx="1188720" cy="1188720"/>
          </a:xfrm>
          <a:prstGeom prst="ellipse">
            <a:avLst/>
          </a:prstGeom>
          <a:solidFill>
            <a:srgbClr val="FDE8E8"/>
          </a:solid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1874519"/>
            <a:ext cx="1188720" cy="1188720"/>
          </a:xfrm>
          <a:prstGeom prst="rect">
            <a:avLst/>
          </a:prstGeom>
          <a:noFill/>
        </p:spPr>
        <p:txBody>
          <a:bodyPr wrap="square" lIns="45720" tIns="18288" rIns="45720" bIns="18288" anchor="ctr">
            <a:spAutoFit/>
          </a:bodyPr>
          <a:lstStyle/>
          <a:p>
            <a:pPr algn="ctr"/>
            <a:r>
              <a:rPr sz="2600" b="0" i="0">
                <a:solidFill>
                  <a:srgbClr val="0A1045"/>
                </a:solidFill>
                <a:latin typeface="Arial Black"/>
              </a:rPr>
              <a:t>AD</a:t>
            </a:r>
          </a:p>
        </p:txBody>
      </p:sp>
      <p:sp>
        <p:nvSpPr>
          <p:cNvPr id="8" name="TextBox 7"/>
          <p:cNvSpPr txBox="1"/>
          <p:nvPr/>
        </p:nvSpPr>
        <p:spPr>
          <a:xfrm>
            <a:off x="1920240" y="1645920"/>
            <a:ext cx="4023360" cy="411480"/>
          </a:xfrm>
          <a:prstGeom prst="rect">
            <a:avLst/>
          </a:prstGeom>
          <a:noFill/>
        </p:spPr>
        <p:txBody>
          <a:bodyPr wrap="square" lIns="45720" tIns="18288" rIns="45720" bIns="18288" anchor="ctr">
            <a:spAutoFit/>
          </a:bodyPr>
          <a:lstStyle/>
          <a:p>
            <a:pPr algn="l"/>
            <a:r>
              <a:rPr sz="1900" b="1" i="0">
                <a:solidFill>
                  <a:srgbClr val="000000"/>
                </a:solidFill>
                <a:latin typeface="Arial"/>
              </a:rPr>
              <a:t>Administrator</a:t>
            </a:r>
          </a:p>
        </p:txBody>
      </p:sp>
      <p:sp>
        <p:nvSpPr>
          <p:cNvPr id="9" name="TextBox 8"/>
          <p:cNvSpPr txBox="1"/>
          <p:nvPr/>
        </p:nvSpPr>
        <p:spPr>
          <a:xfrm>
            <a:off x="1920240" y="2057400"/>
            <a:ext cx="4023360" cy="365760"/>
          </a:xfrm>
          <a:prstGeom prst="rect">
            <a:avLst/>
          </a:prstGeom>
          <a:noFill/>
        </p:spPr>
        <p:txBody>
          <a:bodyPr wrap="square" lIns="45720" tIns="18288" rIns="45720" bIns="18288" anchor="ctr">
            <a:spAutoFit/>
          </a:bodyPr>
          <a:lstStyle/>
          <a:p>
            <a:pPr algn="l"/>
            <a:r>
              <a:rPr sz="1400" b="1" i="1">
                <a:solidFill>
                  <a:srgbClr val="D0101A"/>
                </a:solidFill>
                <a:latin typeface="Arial"/>
              </a:rPr>
              <a:t>Infrastructure &amp; data</a:t>
            </a:r>
          </a:p>
        </p:txBody>
      </p:sp>
      <p:sp>
        <p:nvSpPr>
          <p:cNvPr id="10" name="Rounded Rectangle 9"/>
          <p:cNvSpPr/>
          <p:nvPr/>
        </p:nvSpPr>
        <p:spPr>
          <a:xfrm>
            <a:off x="1920240" y="2514600"/>
            <a:ext cx="4023360" cy="10972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011680" y="2514600"/>
            <a:ext cx="3840480" cy="1097280"/>
          </a:xfrm>
          <a:prstGeom prst="rect">
            <a:avLst/>
          </a:prstGeom>
          <a:noFill/>
        </p:spPr>
        <p:txBody>
          <a:bodyPr wrap="square" lIns="45720" tIns="18288" rIns="45720" bIns="18288" anchor="ctr">
            <a:spAutoFit/>
          </a:bodyPr>
          <a:lstStyle/>
          <a:p>
            <a:pPr algn="l"/>
            <a:r>
              <a:rPr sz="1300" b="0" i="0">
                <a:solidFill>
                  <a:srgbClr val="000000"/>
                </a:solidFill>
                <a:latin typeface="Arial"/>
              </a:rPr>
              <a:t>Manages users, machines and the document base; overall view of the system.</a:t>
            </a:r>
          </a:p>
        </p:txBody>
      </p:sp>
      <p:sp>
        <p:nvSpPr>
          <p:cNvPr id="12" name="Oval 11"/>
          <p:cNvSpPr/>
          <p:nvPr/>
        </p:nvSpPr>
        <p:spPr>
          <a:xfrm>
            <a:off x="548640" y="4160520"/>
            <a:ext cx="1188720" cy="1188720"/>
          </a:xfrm>
          <a:prstGeom prst="ellipse">
            <a:avLst/>
          </a:prstGeom>
          <a:solidFill>
            <a:srgbClr val="FDE8E8"/>
          </a:solid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48640" y="4160520"/>
            <a:ext cx="1188720" cy="1188720"/>
          </a:xfrm>
          <a:prstGeom prst="rect">
            <a:avLst/>
          </a:prstGeom>
          <a:noFill/>
        </p:spPr>
        <p:txBody>
          <a:bodyPr wrap="square" lIns="45720" tIns="18288" rIns="45720" bIns="18288" anchor="ctr">
            <a:spAutoFit/>
          </a:bodyPr>
          <a:lstStyle/>
          <a:p>
            <a:pPr algn="ctr"/>
            <a:r>
              <a:rPr sz="2600" b="0" i="0">
                <a:solidFill>
                  <a:srgbClr val="0A1045"/>
                </a:solidFill>
                <a:latin typeface="Arial Black"/>
              </a:rPr>
              <a:t>OP</a:t>
            </a:r>
          </a:p>
        </p:txBody>
      </p:sp>
      <p:sp>
        <p:nvSpPr>
          <p:cNvPr id="14" name="TextBox 13"/>
          <p:cNvSpPr txBox="1"/>
          <p:nvPr/>
        </p:nvSpPr>
        <p:spPr>
          <a:xfrm>
            <a:off x="1920240" y="3931920"/>
            <a:ext cx="4023360" cy="411480"/>
          </a:xfrm>
          <a:prstGeom prst="rect">
            <a:avLst/>
          </a:prstGeom>
          <a:noFill/>
        </p:spPr>
        <p:txBody>
          <a:bodyPr wrap="square" lIns="45720" tIns="18288" rIns="45720" bIns="18288" anchor="ctr">
            <a:spAutoFit/>
          </a:bodyPr>
          <a:lstStyle/>
          <a:p>
            <a:pPr algn="l"/>
            <a:r>
              <a:rPr sz="1900" b="1" i="0">
                <a:solidFill>
                  <a:srgbClr val="000000"/>
                </a:solidFill>
                <a:latin typeface="Arial"/>
              </a:rPr>
              <a:t>Operations Manager</a:t>
            </a:r>
          </a:p>
        </p:txBody>
      </p:sp>
      <p:sp>
        <p:nvSpPr>
          <p:cNvPr id="15" name="TextBox 14"/>
          <p:cNvSpPr txBox="1"/>
          <p:nvPr/>
        </p:nvSpPr>
        <p:spPr>
          <a:xfrm>
            <a:off x="1920240" y="4343400"/>
            <a:ext cx="4023360" cy="365760"/>
          </a:xfrm>
          <a:prstGeom prst="rect">
            <a:avLst/>
          </a:prstGeom>
          <a:noFill/>
        </p:spPr>
        <p:txBody>
          <a:bodyPr wrap="square" lIns="45720" tIns="18288" rIns="45720" bIns="18288" anchor="ctr">
            <a:spAutoFit/>
          </a:bodyPr>
          <a:lstStyle/>
          <a:p>
            <a:pPr algn="l"/>
            <a:r>
              <a:rPr sz="1400" b="1" i="1">
                <a:solidFill>
                  <a:srgbClr val="D0101A"/>
                </a:solidFill>
                <a:latin typeface="Arial"/>
              </a:rPr>
              <a:t>Oversight</a:t>
            </a:r>
          </a:p>
        </p:txBody>
      </p:sp>
      <p:sp>
        <p:nvSpPr>
          <p:cNvPr id="16" name="Rounded Rectangle 15"/>
          <p:cNvSpPr/>
          <p:nvPr/>
        </p:nvSpPr>
        <p:spPr>
          <a:xfrm>
            <a:off x="1920240" y="4800600"/>
            <a:ext cx="4023360" cy="10972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011680" y="4800600"/>
            <a:ext cx="3840480" cy="1097280"/>
          </a:xfrm>
          <a:prstGeom prst="rect">
            <a:avLst/>
          </a:prstGeom>
          <a:noFill/>
        </p:spPr>
        <p:txBody>
          <a:bodyPr wrap="square" lIns="45720" tIns="18288" rIns="45720" bIns="18288" anchor="ctr">
            <a:spAutoFit/>
          </a:bodyPr>
          <a:lstStyle/>
          <a:p>
            <a:pPr algn="l"/>
            <a:r>
              <a:rPr sz="1300" b="0" i="0">
                <a:solidFill>
                  <a:srgbClr val="000000"/>
                </a:solidFill>
                <a:latin typeface="Arial"/>
              </a:rPr>
              <a:t>Consults machine labels and statuses at a glance.</a:t>
            </a:r>
          </a:p>
        </p:txBody>
      </p:sp>
      <p:sp>
        <p:nvSpPr>
          <p:cNvPr id="18" name="Oval 17"/>
          <p:cNvSpPr/>
          <p:nvPr/>
        </p:nvSpPr>
        <p:spPr>
          <a:xfrm>
            <a:off x="6217920" y="1874519"/>
            <a:ext cx="1188720" cy="1188720"/>
          </a:xfrm>
          <a:prstGeom prst="ellipse">
            <a:avLst/>
          </a:prstGeom>
          <a:solidFill>
            <a:srgbClr val="FDE8E8"/>
          </a:solid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217920" y="1874519"/>
            <a:ext cx="1188720" cy="1188720"/>
          </a:xfrm>
          <a:prstGeom prst="rect">
            <a:avLst/>
          </a:prstGeom>
          <a:noFill/>
        </p:spPr>
        <p:txBody>
          <a:bodyPr wrap="square" lIns="45720" tIns="18288" rIns="45720" bIns="18288" anchor="ctr">
            <a:spAutoFit/>
          </a:bodyPr>
          <a:lstStyle/>
          <a:p>
            <a:pPr algn="ctr"/>
            <a:r>
              <a:rPr sz="2600" b="0" i="0">
                <a:solidFill>
                  <a:srgbClr val="0A1045"/>
                </a:solidFill>
                <a:latin typeface="Arial Black"/>
              </a:rPr>
              <a:t>HE</a:t>
            </a:r>
          </a:p>
        </p:txBody>
      </p:sp>
      <p:sp>
        <p:nvSpPr>
          <p:cNvPr id="20" name="TextBox 19"/>
          <p:cNvSpPr txBox="1"/>
          <p:nvPr/>
        </p:nvSpPr>
        <p:spPr>
          <a:xfrm>
            <a:off x="7589520" y="1645920"/>
            <a:ext cx="4023360" cy="411480"/>
          </a:xfrm>
          <a:prstGeom prst="rect">
            <a:avLst/>
          </a:prstGeom>
          <a:noFill/>
        </p:spPr>
        <p:txBody>
          <a:bodyPr wrap="square" lIns="45720" tIns="18288" rIns="45720" bIns="18288" anchor="ctr">
            <a:spAutoFit/>
          </a:bodyPr>
          <a:lstStyle/>
          <a:p>
            <a:pPr algn="l"/>
            <a:r>
              <a:rPr sz="1900" b="1" i="0">
                <a:solidFill>
                  <a:srgbClr val="000000"/>
                </a:solidFill>
                <a:latin typeface="Arial"/>
              </a:rPr>
              <a:t>Head Technician</a:t>
            </a:r>
          </a:p>
        </p:txBody>
      </p:sp>
      <p:sp>
        <p:nvSpPr>
          <p:cNvPr id="21" name="TextBox 20"/>
          <p:cNvSpPr txBox="1"/>
          <p:nvPr/>
        </p:nvSpPr>
        <p:spPr>
          <a:xfrm>
            <a:off x="7589520" y="2057400"/>
            <a:ext cx="4023360" cy="365760"/>
          </a:xfrm>
          <a:prstGeom prst="rect">
            <a:avLst/>
          </a:prstGeom>
          <a:noFill/>
        </p:spPr>
        <p:txBody>
          <a:bodyPr wrap="square" lIns="45720" tIns="18288" rIns="45720" bIns="18288" anchor="ctr">
            <a:spAutoFit/>
          </a:bodyPr>
          <a:lstStyle/>
          <a:p>
            <a:pPr algn="l"/>
            <a:r>
              <a:rPr sz="1400" b="1" i="1">
                <a:solidFill>
                  <a:srgbClr val="D0101A"/>
                </a:solidFill>
                <a:latin typeface="Arial"/>
              </a:rPr>
              <a:t>Planning &amp; approval</a:t>
            </a:r>
          </a:p>
        </p:txBody>
      </p:sp>
      <p:sp>
        <p:nvSpPr>
          <p:cNvPr id="22" name="Rounded Rectangle 21"/>
          <p:cNvSpPr/>
          <p:nvPr/>
        </p:nvSpPr>
        <p:spPr>
          <a:xfrm>
            <a:off x="7589520" y="2514600"/>
            <a:ext cx="4023360" cy="10972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680960" y="2514600"/>
            <a:ext cx="3840480" cy="1097280"/>
          </a:xfrm>
          <a:prstGeom prst="rect">
            <a:avLst/>
          </a:prstGeom>
          <a:noFill/>
        </p:spPr>
        <p:txBody>
          <a:bodyPr wrap="square" lIns="45720" tIns="18288" rIns="45720" bIns="18288" anchor="ctr">
            <a:spAutoFit/>
          </a:bodyPr>
          <a:lstStyle/>
          <a:p>
            <a:pPr algn="l"/>
            <a:r>
              <a:rPr sz="1300" b="0" i="0">
                <a:solidFill>
                  <a:srgbClr val="000000"/>
                </a:solidFill>
                <a:latin typeface="Arial"/>
              </a:rPr>
              <a:t>Plans interventions, arbitrates priorities, approves procurement proposals.</a:t>
            </a:r>
          </a:p>
        </p:txBody>
      </p:sp>
      <p:sp>
        <p:nvSpPr>
          <p:cNvPr id="24" name="Oval 23"/>
          <p:cNvSpPr/>
          <p:nvPr/>
        </p:nvSpPr>
        <p:spPr>
          <a:xfrm>
            <a:off x="6217920" y="4160520"/>
            <a:ext cx="1188720" cy="1188720"/>
          </a:xfrm>
          <a:prstGeom prst="ellipse">
            <a:avLst/>
          </a:prstGeom>
          <a:solidFill>
            <a:srgbClr val="FDE8E8"/>
          </a:solid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217920" y="4160520"/>
            <a:ext cx="1188720" cy="1188720"/>
          </a:xfrm>
          <a:prstGeom prst="rect">
            <a:avLst/>
          </a:prstGeom>
          <a:noFill/>
        </p:spPr>
        <p:txBody>
          <a:bodyPr wrap="square" lIns="45720" tIns="18288" rIns="45720" bIns="18288" anchor="ctr">
            <a:spAutoFit/>
          </a:bodyPr>
          <a:lstStyle/>
          <a:p>
            <a:pPr algn="ctr"/>
            <a:r>
              <a:rPr sz="2600" b="0" i="0">
                <a:solidFill>
                  <a:srgbClr val="0A1045"/>
                </a:solidFill>
                <a:latin typeface="Arial Black"/>
              </a:rPr>
              <a:t>TE</a:t>
            </a:r>
          </a:p>
        </p:txBody>
      </p:sp>
      <p:sp>
        <p:nvSpPr>
          <p:cNvPr id="26" name="TextBox 25"/>
          <p:cNvSpPr txBox="1"/>
          <p:nvPr/>
        </p:nvSpPr>
        <p:spPr>
          <a:xfrm>
            <a:off x="7589520" y="3931920"/>
            <a:ext cx="4023360" cy="411480"/>
          </a:xfrm>
          <a:prstGeom prst="rect">
            <a:avLst/>
          </a:prstGeom>
          <a:noFill/>
        </p:spPr>
        <p:txBody>
          <a:bodyPr wrap="square" lIns="45720" tIns="18288" rIns="45720" bIns="18288" anchor="ctr">
            <a:spAutoFit/>
          </a:bodyPr>
          <a:lstStyle/>
          <a:p>
            <a:pPr algn="l"/>
            <a:r>
              <a:rPr sz="1900" b="1" i="0">
                <a:solidFill>
                  <a:srgbClr val="000000"/>
                </a:solidFill>
                <a:latin typeface="Arial"/>
              </a:rPr>
              <a:t>Technician</a:t>
            </a:r>
          </a:p>
        </p:txBody>
      </p:sp>
      <p:sp>
        <p:nvSpPr>
          <p:cNvPr id="27" name="TextBox 26"/>
          <p:cNvSpPr txBox="1"/>
          <p:nvPr/>
        </p:nvSpPr>
        <p:spPr>
          <a:xfrm>
            <a:off x="7589520" y="4343400"/>
            <a:ext cx="4023360" cy="365760"/>
          </a:xfrm>
          <a:prstGeom prst="rect">
            <a:avLst/>
          </a:prstGeom>
          <a:noFill/>
        </p:spPr>
        <p:txBody>
          <a:bodyPr wrap="square" lIns="45720" tIns="18288" rIns="45720" bIns="18288" anchor="ctr">
            <a:spAutoFit/>
          </a:bodyPr>
          <a:lstStyle/>
          <a:p>
            <a:pPr algn="l"/>
            <a:r>
              <a:rPr sz="1400" b="1" i="1">
                <a:solidFill>
                  <a:srgbClr val="D0101A"/>
                </a:solidFill>
                <a:latin typeface="Arial"/>
              </a:rPr>
              <a:t>Field execution</a:t>
            </a:r>
          </a:p>
        </p:txBody>
      </p:sp>
      <p:sp>
        <p:nvSpPr>
          <p:cNvPr id="28" name="Rounded Rectangle 27"/>
          <p:cNvSpPr/>
          <p:nvPr/>
        </p:nvSpPr>
        <p:spPr>
          <a:xfrm>
            <a:off x="7589520" y="4800600"/>
            <a:ext cx="4023360" cy="10972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680960" y="4800600"/>
            <a:ext cx="3840480" cy="1097280"/>
          </a:xfrm>
          <a:prstGeom prst="rect">
            <a:avLst/>
          </a:prstGeom>
          <a:noFill/>
        </p:spPr>
        <p:txBody>
          <a:bodyPr wrap="square" lIns="45720" tIns="18288" rIns="45720" bIns="18288" anchor="ctr">
            <a:spAutoFit/>
          </a:bodyPr>
          <a:lstStyle/>
          <a:p>
            <a:pPr algn="l"/>
            <a:r>
              <a:rPr sz="1300" b="0" i="0">
                <a:solidFill>
                  <a:srgbClr val="000000"/>
                </a:solidFill>
                <a:latin typeface="Arial"/>
              </a:rPr>
              <a:t>Executes intervention orders, checks health status, queries the AI assistant.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03. Requirements &amp; Analysis</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000" b="0" i="0">
                <a:solidFill>
                  <a:srgbClr val="0A1045"/>
                </a:solidFill>
                <a:latin typeface="Arial Black"/>
              </a:rPr>
              <a:t>Functional Requirements: 9 Areas</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14</a:t>
            </a:r>
          </a:p>
        </p:txBody>
      </p:sp>
      <p:sp>
        <p:nvSpPr>
          <p:cNvPr id="6" name="Rounded Rectangle 5"/>
          <p:cNvSpPr/>
          <p:nvPr/>
        </p:nvSpPr>
        <p:spPr>
          <a:xfrm>
            <a:off x="731520" y="164592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164592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1</a:t>
            </a:r>
          </a:p>
        </p:txBody>
      </p:sp>
      <p:sp>
        <p:nvSpPr>
          <p:cNvPr id="8" name="TextBox 7"/>
          <p:cNvSpPr txBox="1"/>
          <p:nvPr/>
        </p:nvSpPr>
        <p:spPr>
          <a:xfrm>
            <a:off x="1463040" y="164592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Authentication &amp; authorization</a:t>
            </a:r>
          </a:p>
        </p:txBody>
      </p:sp>
      <p:sp>
        <p:nvSpPr>
          <p:cNvPr id="9" name="Rounded Rectangle 8"/>
          <p:cNvSpPr/>
          <p:nvPr/>
        </p:nvSpPr>
        <p:spPr>
          <a:xfrm>
            <a:off x="731520" y="274320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22960" y="274320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2</a:t>
            </a:r>
          </a:p>
        </p:txBody>
      </p:sp>
      <p:sp>
        <p:nvSpPr>
          <p:cNvPr id="11" name="TextBox 10"/>
          <p:cNvSpPr txBox="1"/>
          <p:nvPr/>
        </p:nvSpPr>
        <p:spPr>
          <a:xfrm>
            <a:off x="1463040" y="274320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Machine management</a:t>
            </a:r>
          </a:p>
        </p:txBody>
      </p:sp>
      <p:sp>
        <p:nvSpPr>
          <p:cNvPr id="12" name="Rounded Rectangle 11"/>
          <p:cNvSpPr/>
          <p:nvPr/>
        </p:nvSpPr>
        <p:spPr>
          <a:xfrm>
            <a:off x="731520" y="384048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2960" y="384048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3</a:t>
            </a:r>
          </a:p>
        </p:txBody>
      </p:sp>
      <p:sp>
        <p:nvSpPr>
          <p:cNvPr id="14" name="TextBox 13"/>
          <p:cNvSpPr txBox="1"/>
          <p:nvPr/>
        </p:nvSpPr>
        <p:spPr>
          <a:xfrm>
            <a:off x="1463040" y="384048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Order management</a:t>
            </a:r>
          </a:p>
        </p:txBody>
      </p:sp>
      <p:sp>
        <p:nvSpPr>
          <p:cNvPr id="15" name="Rounded Rectangle 14"/>
          <p:cNvSpPr/>
          <p:nvPr/>
        </p:nvSpPr>
        <p:spPr>
          <a:xfrm>
            <a:off x="4480559" y="164592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571999" y="164592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4</a:t>
            </a:r>
          </a:p>
        </p:txBody>
      </p:sp>
      <p:sp>
        <p:nvSpPr>
          <p:cNvPr id="17" name="TextBox 16"/>
          <p:cNvSpPr txBox="1"/>
          <p:nvPr/>
        </p:nvSpPr>
        <p:spPr>
          <a:xfrm>
            <a:off x="5212079" y="164592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Scheduling</a:t>
            </a:r>
          </a:p>
        </p:txBody>
      </p:sp>
      <p:sp>
        <p:nvSpPr>
          <p:cNvPr id="18" name="Rounded Rectangle 17"/>
          <p:cNvSpPr/>
          <p:nvPr/>
        </p:nvSpPr>
        <p:spPr>
          <a:xfrm>
            <a:off x="4480559" y="274320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71999" y="274320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5</a:t>
            </a:r>
          </a:p>
        </p:txBody>
      </p:sp>
      <p:sp>
        <p:nvSpPr>
          <p:cNvPr id="20" name="TextBox 19"/>
          <p:cNvSpPr txBox="1"/>
          <p:nvPr/>
        </p:nvSpPr>
        <p:spPr>
          <a:xfrm>
            <a:off x="5212079" y="274320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ML predictions (P1-P7)</a:t>
            </a:r>
          </a:p>
        </p:txBody>
      </p:sp>
      <p:sp>
        <p:nvSpPr>
          <p:cNvPr id="21" name="Rounded Rectangle 20"/>
          <p:cNvSpPr/>
          <p:nvPr/>
        </p:nvSpPr>
        <p:spPr>
          <a:xfrm>
            <a:off x="4480559" y="384048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571999" y="384048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6</a:t>
            </a:r>
          </a:p>
        </p:txBody>
      </p:sp>
      <p:sp>
        <p:nvSpPr>
          <p:cNvPr id="23" name="TextBox 22"/>
          <p:cNvSpPr txBox="1"/>
          <p:nvPr/>
        </p:nvSpPr>
        <p:spPr>
          <a:xfrm>
            <a:off x="5212079" y="384048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Alerts &amp; notifications</a:t>
            </a:r>
          </a:p>
        </p:txBody>
      </p:sp>
      <p:sp>
        <p:nvSpPr>
          <p:cNvPr id="24" name="Rounded Rectangle 23"/>
          <p:cNvSpPr/>
          <p:nvPr/>
        </p:nvSpPr>
        <p:spPr>
          <a:xfrm>
            <a:off x="8229600" y="164592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321040" y="164592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7</a:t>
            </a:r>
          </a:p>
        </p:txBody>
      </p:sp>
      <p:sp>
        <p:nvSpPr>
          <p:cNvPr id="26" name="TextBox 25"/>
          <p:cNvSpPr txBox="1"/>
          <p:nvPr/>
        </p:nvSpPr>
        <p:spPr>
          <a:xfrm>
            <a:off x="8961120" y="164592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Conversational assistant</a:t>
            </a:r>
          </a:p>
        </p:txBody>
      </p:sp>
      <p:sp>
        <p:nvSpPr>
          <p:cNvPr id="27" name="Rounded Rectangle 26"/>
          <p:cNvSpPr/>
          <p:nvPr/>
        </p:nvSpPr>
        <p:spPr>
          <a:xfrm>
            <a:off x="8229600" y="274320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321040" y="274320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8</a:t>
            </a:r>
          </a:p>
        </p:txBody>
      </p:sp>
      <p:sp>
        <p:nvSpPr>
          <p:cNvPr id="29" name="TextBox 28"/>
          <p:cNvSpPr txBox="1"/>
          <p:nvPr/>
        </p:nvSpPr>
        <p:spPr>
          <a:xfrm>
            <a:off x="8961120" y="274320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Dashboards</a:t>
            </a:r>
          </a:p>
        </p:txBody>
      </p:sp>
      <p:sp>
        <p:nvSpPr>
          <p:cNvPr id="30" name="Rounded Rectangle 29"/>
          <p:cNvSpPr/>
          <p:nvPr/>
        </p:nvSpPr>
        <p:spPr>
          <a:xfrm>
            <a:off x="8229600" y="384048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321040" y="384048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9</a:t>
            </a:r>
          </a:p>
        </p:txBody>
      </p:sp>
      <p:sp>
        <p:nvSpPr>
          <p:cNvPr id="32" name="TextBox 31"/>
          <p:cNvSpPr txBox="1"/>
          <p:nvPr/>
        </p:nvSpPr>
        <p:spPr>
          <a:xfrm>
            <a:off x="8961120" y="384048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Archiving &amp; traceability</a:t>
            </a:r>
          </a:p>
        </p:txBody>
      </p:sp>
      <p:sp>
        <p:nvSpPr>
          <p:cNvPr id="33" name="Rounded Rectangle 32"/>
          <p:cNvSpPr/>
          <p:nvPr/>
        </p:nvSpPr>
        <p:spPr>
          <a:xfrm>
            <a:off x="731520" y="5074920"/>
            <a:ext cx="10881360" cy="1097280"/>
          </a:xfrm>
          <a:prstGeom prst="roundRect">
            <a:avLst>
              <a:gd name="adj" fmla="val 12000"/>
            </a:avLst>
          </a:prstGeom>
          <a:noFill/>
          <a:ln w="2540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68680" y="5074920"/>
            <a:ext cx="10607040" cy="1097280"/>
          </a:xfrm>
          <a:prstGeom prst="rect">
            <a:avLst/>
          </a:prstGeom>
          <a:noFill/>
        </p:spPr>
        <p:txBody>
          <a:bodyPr wrap="square" lIns="45720" tIns="18288" rIns="45720" bIns="18288" anchor="ctr">
            <a:spAutoFit/>
          </a:bodyPr>
          <a:lstStyle/>
          <a:p>
            <a:pPr algn="ctr"/>
            <a:r>
              <a:rPr sz="1500" b="1" i="0">
                <a:solidFill>
                  <a:srgbClr val="D0101A"/>
                </a:solidFill>
                <a:latin typeface="Arial"/>
              </a:rPr>
              <a:t>Two rules cut across all nine: </a:t>
            </a:r>
            <a:r>
              <a:rPr sz="1500" b="0" i="0">
                <a:solidFill>
                  <a:srgbClr val="000000"/>
                </a:solidFill>
                <a:latin typeface="Arial"/>
              </a:rPr>
              <a:t>every prediction explains itself in plain language, and the system degrades honestly, reporting missing telemetry instead of inventing a value.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03. Requirements &amp; Analysis</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Non-Functional Requirements</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15</a:t>
            </a:r>
          </a:p>
        </p:txBody>
      </p:sp>
      <p:sp>
        <p:nvSpPr>
          <p:cNvPr id="6" name="Rounded Rectangle 5"/>
          <p:cNvSpPr/>
          <p:nvPr/>
        </p:nvSpPr>
        <p:spPr>
          <a:xfrm>
            <a:off x="502920" y="1600200"/>
            <a:ext cx="5394960" cy="914400"/>
          </a:xfrm>
          <a:prstGeom prst="roundRect">
            <a:avLst>
              <a:gd name="adj" fmla="val 12000"/>
            </a:avLst>
          </a:prstGeom>
          <a:noFill/>
          <a:ln w="28575">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1645920"/>
            <a:ext cx="5212080" cy="365760"/>
          </a:xfrm>
          <a:prstGeom prst="rect">
            <a:avLst/>
          </a:prstGeom>
          <a:noFill/>
        </p:spPr>
        <p:txBody>
          <a:bodyPr wrap="square" lIns="45720" tIns="18288" rIns="45720" bIns="18288" anchor="ctr">
            <a:spAutoFit/>
          </a:bodyPr>
          <a:lstStyle/>
          <a:p>
            <a:pPr algn="ctr"/>
            <a:r>
              <a:rPr sz="1600" b="1" i="0">
                <a:solidFill>
                  <a:srgbClr val="000000"/>
                </a:solidFill>
                <a:latin typeface="Arial"/>
              </a:rPr>
              <a:t>Performance</a:t>
            </a:r>
          </a:p>
        </p:txBody>
      </p:sp>
      <p:sp>
        <p:nvSpPr>
          <p:cNvPr id="8" name="TextBox 7"/>
          <p:cNvSpPr txBox="1"/>
          <p:nvPr/>
        </p:nvSpPr>
        <p:spPr>
          <a:xfrm>
            <a:off x="594360" y="2011680"/>
            <a:ext cx="5212080" cy="457200"/>
          </a:xfrm>
          <a:prstGeom prst="rect">
            <a:avLst/>
          </a:prstGeom>
          <a:noFill/>
        </p:spPr>
        <p:txBody>
          <a:bodyPr wrap="square" lIns="45720" tIns="18288" rIns="45720" bIns="18288" anchor="ctr">
            <a:spAutoFit/>
          </a:bodyPr>
          <a:lstStyle/>
          <a:p>
            <a:pPr algn="ctr"/>
            <a:r>
              <a:rPr sz="1200" b="0" i="0">
                <a:solidFill>
                  <a:srgbClr val="000000"/>
                </a:solidFill>
                <a:latin typeface="Arial"/>
              </a:rPr>
              <a:t>&lt; 2 s common operations; &lt; 5 s full ML inference</a:t>
            </a:r>
          </a:p>
        </p:txBody>
      </p:sp>
      <p:sp>
        <p:nvSpPr>
          <p:cNvPr id="9" name="Rounded Rectangle 8"/>
          <p:cNvSpPr/>
          <p:nvPr/>
        </p:nvSpPr>
        <p:spPr>
          <a:xfrm>
            <a:off x="6263640" y="1600200"/>
            <a:ext cx="5394960" cy="914400"/>
          </a:xfrm>
          <a:prstGeom prst="roundRect">
            <a:avLst>
              <a:gd name="adj" fmla="val 12000"/>
            </a:avLst>
          </a:prstGeom>
          <a:noFill/>
          <a:ln w="28575">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355079" y="1645920"/>
            <a:ext cx="5212080" cy="365760"/>
          </a:xfrm>
          <a:prstGeom prst="rect">
            <a:avLst/>
          </a:prstGeom>
          <a:noFill/>
        </p:spPr>
        <p:txBody>
          <a:bodyPr wrap="square" lIns="45720" tIns="18288" rIns="45720" bIns="18288" anchor="ctr">
            <a:spAutoFit/>
          </a:bodyPr>
          <a:lstStyle/>
          <a:p>
            <a:pPr algn="ctr"/>
            <a:r>
              <a:rPr sz="1600" b="1" i="0">
                <a:solidFill>
                  <a:srgbClr val="000000"/>
                </a:solidFill>
                <a:latin typeface="Arial"/>
              </a:rPr>
              <a:t>Availability</a:t>
            </a:r>
          </a:p>
        </p:txBody>
      </p:sp>
      <p:sp>
        <p:nvSpPr>
          <p:cNvPr id="11" name="TextBox 10"/>
          <p:cNvSpPr txBox="1"/>
          <p:nvPr/>
        </p:nvSpPr>
        <p:spPr>
          <a:xfrm>
            <a:off x="6355079" y="2011680"/>
            <a:ext cx="5212080" cy="457200"/>
          </a:xfrm>
          <a:prstGeom prst="rect">
            <a:avLst/>
          </a:prstGeom>
          <a:noFill/>
        </p:spPr>
        <p:txBody>
          <a:bodyPr wrap="square" lIns="45720" tIns="18288" rIns="45720" bIns="18288" anchor="ctr">
            <a:spAutoFit/>
          </a:bodyPr>
          <a:lstStyle/>
          <a:p>
            <a:pPr algn="ctr"/>
            <a:r>
              <a:rPr sz="1200" b="0" i="0">
                <a:solidFill>
                  <a:srgbClr val="000000"/>
                </a:solidFill>
                <a:latin typeface="Arial"/>
              </a:rPr>
              <a:t>EAM features keep working if the ML service is down</a:t>
            </a:r>
          </a:p>
        </p:txBody>
      </p:sp>
      <p:sp>
        <p:nvSpPr>
          <p:cNvPr id="12" name="Rounded Rectangle 11"/>
          <p:cNvSpPr/>
          <p:nvPr/>
        </p:nvSpPr>
        <p:spPr>
          <a:xfrm>
            <a:off x="502920" y="2743200"/>
            <a:ext cx="5394960" cy="914400"/>
          </a:xfrm>
          <a:prstGeom prst="roundRect">
            <a:avLst>
              <a:gd name="adj" fmla="val 12000"/>
            </a:avLst>
          </a:prstGeom>
          <a:noFill/>
          <a:ln w="28575">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94360" y="2788920"/>
            <a:ext cx="5212080" cy="365760"/>
          </a:xfrm>
          <a:prstGeom prst="rect">
            <a:avLst/>
          </a:prstGeom>
          <a:noFill/>
        </p:spPr>
        <p:txBody>
          <a:bodyPr wrap="square" lIns="45720" tIns="18288" rIns="45720" bIns="18288" anchor="ctr">
            <a:spAutoFit/>
          </a:bodyPr>
          <a:lstStyle/>
          <a:p>
            <a:pPr algn="ctr"/>
            <a:r>
              <a:rPr sz="1600" b="1" i="0">
                <a:solidFill>
                  <a:srgbClr val="000000"/>
                </a:solidFill>
                <a:latin typeface="Arial"/>
              </a:rPr>
              <a:t>Maintainability</a:t>
            </a:r>
          </a:p>
        </p:txBody>
      </p:sp>
      <p:sp>
        <p:nvSpPr>
          <p:cNvPr id="14" name="TextBox 13"/>
          <p:cNvSpPr txBox="1"/>
          <p:nvPr/>
        </p:nvSpPr>
        <p:spPr>
          <a:xfrm>
            <a:off x="594360" y="3154680"/>
            <a:ext cx="5212080" cy="457200"/>
          </a:xfrm>
          <a:prstGeom prst="rect">
            <a:avLst/>
          </a:prstGeom>
          <a:noFill/>
        </p:spPr>
        <p:txBody>
          <a:bodyPr wrap="square" lIns="45720" tIns="18288" rIns="45720" bIns="18288" anchor="ctr">
            <a:spAutoFit/>
          </a:bodyPr>
          <a:lstStyle/>
          <a:p>
            <a:pPr algn="ctr"/>
            <a:r>
              <a:rPr sz="1200" b="0" i="0">
                <a:solidFill>
                  <a:srgbClr val="000000"/>
                </a:solidFill>
                <a:latin typeface="Arial"/>
              </a:rPr>
              <a:t>Layered separation; versioned Alembic migrations</a:t>
            </a:r>
          </a:p>
        </p:txBody>
      </p:sp>
      <p:sp>
        <p:nvSpPr>
          <p:cNvPr id="15" name="Rounded Rectangle 14"/>
          <p:cNvSpPr/>
          <p:nvPr/>
        </p:nvSpPr>
        <p:spPr>
          <a:xfrm>
            <a:off x="6263640" y="2743200"/>
            <a:ext cx="5394960" cy="914400"/>
          </a:xfrm>
          <a:prstGeom prst="roundRect">
            <a:avLst>
              <a:gd name="adj" fmla="val 12000"/>
            </a:avLst>
          </a:prstGeom>
          <a:noFill/>
          <a:ln w="28575">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355079" y="2788920"/>
            <a:ext cx="5212080" cy="365760"/>
          </a:xfrm>
          <a:prstGeom prst="rect">
            <a:avLst/>
          </a:prstGeom>
          <a:noFill/>
        </p:spPr>
        <p:txBody>
          <a:bodyPr wrap="square" lIns="45720" tIns="18288" rIns="45720" bIns="18288" anchor="ctr">
            <a:spAutoFit/>
          </a:bodyPr>
          <a:lstStyle/>
          <a:p>
            <a:pPr algn="ctr"/>
            <a:r>
              <a:rPr sz="1600" b="1" i="0">
                <a:solidFill>
                  <a:srgbClr val="000000"/>
                </a:solidFill>
                <a:latin typeface="Arial"/>
              </a:rPr>
              <a:t>Portability</a:t>
            </a:r>
          </a:p>
        </p:txBody>
      </p:sp>
      <p:sp>
        <p:nvSpPr>
          <p:cNvPr id="17" name="TextBox 16"/>
          <p:cNvSpPr txBox="1"/>
          <p:nvPr/>
        </p:nvSpPr>
        <p:spPr>
          <a:xfrm>
            <a:off x="6355079" y="3154680"/>
            <a:ext cx="5212080" cy="457200"/>
          </a:xfrm>
          <a:prstGeom prst="rect">
            <a:avLst/>
          </a:prstGeom>
          <a:noFill/>
        </p:spPr>
        <p:txBody>
          <a:bodyPr wrap="square" lIns="45720" tIns="18288" rIns="45720" bIns="18288" anchor="ctr">
            <a:spAutoFit/>
          </a:bodyPr>
          <a:lstStyle/>
          <a:p>
            <a:pPr algn="ctr"/>
            <a:r>
              <a:rPr sz="1200" b="0" i="0">
                <a:solidFill>
                  <a:srgbClr val="000000"/>
                </a:solidFill>
                <a:latin typeface="Arial"/>
              </a:rPr>
              <a:t>Docker Compose / Helm; configuration in one .env</a:t>
            </a:r>
          </a:p>
        </p:txBody>
      </p:sp>
      <p:sp>
        <p:nvSpPr>
          <p:cNvPr id="18" name="Rounded Rectangle 17"/>
          <p:cNvSpPr/>
          <p:nvPr/>
        </p:nvSpPr>
        <p:spPr>
          <a:xfrm>
            <a:off x="502920" y="3886200"/>
            <a:ext cx="5394960" cy="914400"/>
          </a:xfrm>
          <a:prstGeom prst="roundRect">
            <a:avLst>
              <a:gd name="adj" fmla="val 12000"/>
            </a:avLst>
          </a:prstGeom>
          <a:noFill/>
          <a:ln w="28575">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94360" y="3931920"/>
            <a:ext cx="5212080" cy="365760"/>
          </a:xfrm>
          <a:prstGeom prst="rect">
            <a:avLst/>
          </a:prstGeom>
          <a:noFill/>
        </p:spPr>
        <p:txBody>
          <a:bodyPr wrap="square" lIns="45720" tIns="18288" rIns="45720" bIns="18288" anchor="ctr">
            <a:spAutoFit/>
          </a:bodyPr>
          <a:lstStyle/>
          <a:p>
            <a:pPr algn="ctr"/>
            <a:r>
              <a:rPr sz="1600" b="1" i="0">
                <a:solidFill>
                  <a:srgbClr val="000000"/>
                </a:solidFill>
                <a:latin typeface="Arial"/>
              </a:rPr>
              <a:t>Usability</a:t>
            </a:r>
          </a:p>
        </p:txBody>
      </p:sp>
      <p:sp>
        <p:nvSpPr>
          <p:cNvPr id="20" name="TextBox 19"/>
          <p:cNvSpPr txBox="1"/>
          <p:nvPr/>
        </p:nvSpPr>
        <p:spPr>
          <a:xfrm>
            <a:off x="594360" y="4297680"/>
            <a:ext cx="5212080" cy="457200"/>
          </a:xfrm>
          <a:prstGeom prst="rect">
            <a:avLst/>
          </a:prstGeom>
          <a:noFill/>
        </p:spPr>
        <p:txBody>
          <a:bodyPr wrap="square" lIns="45720" tIns="18288" rIns="45720" bIns="18288" anchor="ctr">
            <a:spAutoFit/>
          </a:bodyPr>
          <a:lstStyle/>
          <a:p>
            <a:pPr algn="ctr"/>
            <a:r>
              <a:rPr sz="1200" b="0" i="0">
                <a:solidFill>
                  <a:srgbClr val="000000"/>
                </a:solidFill>
                <a:latin typeface="Arial"/>
              </a:rPr>
              <a:t>Interface adapted to role and device (desktop or tablet)</a:t>
            </a:r>
          </a:p>
        </p:txBody>
      </p:sp>
      <p:sp>
        <p:nvSpPr>
          <p:cNvPr id="21" name="Rounded Rectangle 20"/>
          <p:cNvSpPr/>
          <p:nvPr/>
        </p:nvSpPr>
        <p:spPr>
          <a:xfrm>
            <a:off x="6263640" y="3886200"/>
            <a:ext cx="5394960" cy="914400"/>
          </a:xfrm>
          <a:prstGeom prst="roundRect">
            <a:avLst>
              <a:gd name="adj" fmla="val 12000"/>
            </a:avLst>
          </a:prstGeom>
          <a:noFill/>
          <a:ln w="28575">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355079" y="3931920"/>
            <a:ext cx="5212080" cy="365760"/>
          </a:xfrm>
          <a:prstGeom prst="rect">
            <a:avLst/>
          </a:prstGeom>
          <a:noFill/>
        </p:spPr>
        <p:txBody>
          <a:bodyPr wrap="square" lIns="45720" tIns="18288" rIns="45720" bIns="18288" anchor="ctr">
            <a:spAutoFit/>
          </a:bodyPr>
          <a:lstStyle/>
          <a:p>
            <a:pPr algn="ctr"/>
            <a:r>
              <a:rPr sz="1600" b="1" i="0">
                <a:solidFill>
                  <a:srgbClr val="000000"/>
                </a:solidFill>
                <a:latin typeface="Arial"/>
              </a:rPr>
              <a:t>Integrity &amp; confidentiality</a:t>
            </a:r>
          </a:p>
        </p:txBody>
      </p:sp>
      <p:sp>
        <p:nvSpPr>
          <p:cNvPr id="23" name="TextBox 22"/>
          <p:cNvSpPr txBox="1"/>
          <p:nvPr/>
        </p:nvSpPr>
        <p:spPr>
          <a:xfrm>
            <a:off x="6355079" y="4297680"/>
            <a:ext cx="5212080" cy="457200"/>
          </a:xfrm>
          <a:prstGeom prst="rect">
            <a:avLst/>
          </a:prstGeom>
          <a:noFill/>
        </p:spPr>
        <p:txBody>
          <a:bodyPr wrap="square" lIns="45720" tIns="18288" rIns="45720" bIns="18288" anchor="ctr">
            <a:spAutoFit/>
          </a:bodyPr>
          <a:lstStyle/>
          <a:p>
            <a:pPr algn="ctr"/>
            <a:r>
              <a:rPr sz="1200" b="0" i="0">
                <a:solidFill>
                  <a:srgbClr val="000000"/>
                </a:solidFill>
                <a:latin typeface="Arial"/>
              </a:rPr>
              <a:t>Role-scoped data; intervention history immutable</a:t>
            </a:r>
          </a:p>
        </p:txBody>
      </p:sp>
      <p:sp>
        <p:nvSpPr>
          <p:cNvPr id="24" name="Rounded Rectangle 23"/>
          <p:cNvSpPr/>
          <p:nvPr/>
        </p:nvSpPr>
        <p:spPr>
          <a:xfrm>
            <a:off x="502920" y="5029200"/>
            <a:ext cx="5394960" cy="914400"/>
          </a:xfrm>
          <a:prstGeom prst="roundRect">
            <a:avLst>
              <a:gd name="adj" fmla="val 12000"/>
            </a:avLst>
          </a:prstGeom>
          <a:noFill/>
          <a:ln w="28575">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94360" y="5074920"/>
            <a:ext cx="5212080" cy="365760"/>
          </a:xfrm>
          <a:prstGeom prst="rect">
            <a:avLst/>
          </a:prstGeom>
          <a:noFill/>
        </p:spPr>
        <p:txBody>
          <a:bodyPr wrap="square" lIns="45720" tIns="18288" rIns="45720" bIns="18288" anchor="ctr">
            <a:spAutoFit/>
          </a:bodyPr>
          <a:lstStyle/>
          <a:p>
            <a:pPr algn="ctr"/>
            <a:r>
              <a:rPr sz="1600" b="1" i="0">
                <a:solidFill>
                  <a:srgbClr val="000000"/>
                </a:solidFill>
                <a:latin typeface="Arial"/>
              </a:rPr>
              <a:t>Security</a:t>
            </a:r>
          </a:p>
        </p:txBody>
      </p:sp>
      <p:sp>
        <p:nvSpPr>
          <p:cNvPr id="26" name="TextBox 25"/>
          <p:cNvSpPr txBox="1"/>
          <p:nvPr/>
        </p:nvSpPr>
        <p:spPr>
          <a:xfrm>
            <a:off x="594360" y="5440680"/>
            <a:ext cx="5212080" cy="457200"/>
          </a:xfrm>
          <a:prstGeom prst="rect">
            <a:avLst/>
          </a:prstGeom>
          <a:noFill/>
        </p:spPr>
        <p:txBody>
          <a:bodyPr wrap="square" lIns="45720" tIns="18288" rIns="45720" bIns="18288" anchor="ctr">
            <a:spAutoFit/>
          </a:bodyPr>
          <a:lstStyle/>
          <a:p>
            <a:pPr algn="ctr"/>
            <a:r>
              <a:rPr sz="1200" b="0" i="0">
                <a:solidFill>
                  <a:srgbClr val="000000"/>
                </a:solidFill>
                <a:latin typeface="Arial"/>
              </a:rPr>
              <a:t>OWASP Top 10 hardened; scanned on every push</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03. Requirements &amp; Analysis</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Used Tools &amp; Technologies</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16</a:t>
            </a:r>
          </a:p>
        </p:txBody>
      </p:sp>
      <p:sp>
        <p:nvSpPr>
          <p:cNvPr id="6" name="Rounded Rectangle 5"/>
          <p:cNvSpPr/>
          <p:nvPr/>
        </p:nvSpPr>
        <p:spPr>
          <a:xfrm>
            <a:off x="457200" y="1920240"/>
            <a:ext cx="3657600" cy="178308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914400" y="1691640"/>
            <a:ext cx="2743200" cy="45720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0" y="1691640"/>
            <a:ext cx="2743200" cy="457200"/>
          </a:xfrm>
          <a:prstGeom prst="rect">
            <a:avLst/>
          </a:prstGeom>
          <a:noFill/>
        </p:spPr>
        <p:txBody>
          <a:bodyPr wrap="square" lIns="45720" tIns="18288" rIns="45720" bIns="18288" anchor="ctr">
            <a:spAutoFit/>
          </a:bodyPr>
          <a:lstStyle/>
          <a:p>
            <a:pPr algn="ctr"/>
            <a:r>
              <a:rPr sz="1400" b="1" i="0" spc="50">
                <a:solidFill>
                  <a:srgbClr val="000000"/>
                </a:solidFill>
                <a:latin typeface="Arial"/>
              </a:rPr>
              <a:t>Frontend</a:t>
            </a:r>
          </a:p>
        </p:txBody>
      </p:sp>
      <p:sp>
        <p:nvSpPr>
          <p:cNvPr id="9" name="TextBox 8"/>
          <p:cNvSpPr txBox="1"/>
          <p:nvPr/>
        </p:nvSpPr>
        <p:spPr>
          <a:xfrm>
            <a:off x="594360" y="2240280"/>
            <a:ext cx="3383280" cy="1417320"/>
          </a:xfrm>
          <a:prstGeom prst="rect">
            <a:avLst/>
          </a:prstGeom>
          <a:noFill/>
        </p:spPr>
        <p:txBody>
          <a:bodyPr wrap="square" lIns="45720" tIns="18288" rIns="45720" bIns="18288" anchor="ctr">
            <a:spAutoFit/>
          </a:bodyPr>
          <a:lstStyle/>
          <a:p>
            <a:pPr algn="ctr"/>
            <a:r>
              <a:rPr sz="1300" b="0" i="0">
                <a:solidFill>
                  <a:srgbClr val="000000"/>
                </a:solidFill>
                <a:latin typeface="Arial"/>
              </a:rPr>
              <a:t>React 19 · TypeScript</a:t>
            </a:r>
          </a:p>
          <a:p>
            <a:pPr algn="ctr"/>
            <a:r>
              <a:rPr sz="1300" b="0" i="0">
                <a:solidFill>
                  <a:srgbClr val="000000"/>
                </a:solidFill>
                <a:latin typeface="Arial"/>
              </a:rPr>
              <a:t>Vite · Tailwind · shadcn/ui</a:t>
            </a:r>
          </a:p>
          <a:p>
            <a:pPr algn="ctr"/>
            <a:r>
              <a:rPr sz="1300" b="0" i="0">
                <a:solidFill>
                  <a:srgbClr val="000000"/>
                </a:solidFill>
                <a:latin typeface="Arial"/>
              </a:rPr>
              <a:t>nginx (static + /api proxy)</a:t>
            </a:r>
          </a:p>
        </p:txBody>
      </p:sp>
      <p:sp>
        <p:nvSpPr>
          <p:cNvPr id="10" name="Rounded Rectangle 9"/>
          <p:cNvSpPr/>
          <p:nvPr/>
        </p:nvSpPr>
        <p:spPr>
          <a:xfrm>
            <a:off x="4206240" y="1920240"/>
            <a:ext cx="3657600" cy="178308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4663440" y="1691640"/>
            <a:ext cx="2743200" cy="45720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663440" y="1691640"/>
            <a:ext cx="2743200" cy="457200"/>
          </a:xfrm>
          <a:prstGeom prst="rect">
            <a:avLst/>
          </a:prstGeom>
          <a:noFill/>
        </p:spPr>
        <p:txBody>
          <a:bodyPr wrap="square" lIns="45720" tIns="18288" rIns="45720" bIns="18288" anchor="ctr">
            <a:spAutoFit/>
          </a:bodyPr>
          <a:lstStyle/>
          <a:p>
            <a:pPr algn="ctr"/>
            <a:r>
              <a:rPr sz="1400" b="1" i="0" spc="50">
                <a:solidFill>
                  <a:srgbClr val="000000"/>
                </a:solidFill>
                <a:latin typeface="Arial"/>
              </a:rPr>
              <a:t>Backend</a:t>
            </a:r>
          </a:p>
        </p:txBody>
      </p:sp>
      <p:sp>
        <p:nvSpPr>
          <p:cNvPr id="13" name="TextBox 12"/>
          <p:cNvSpPr txBox="1"/>
          <p:nvPr/>
        </p:nvSpPr>
        <p:spPr>
          <a:xfrm>
            <a:off x="4343400" y="2240280"/>
            <a:ext cx="3383280" cy="1417320"/>
          </a:xfrm>
          <a:prstGeom prst="rect">
            <a:avLst/>
          </a:prstGeom>
          <a:noFill/>
        </p:spPr>
        <p:txBody>
          <a:bodyPr wrap="square" lIns="45720" tIns="18288" rIns="45720" bIns="18288" anchor="ctr">
            <a:spAutoFit/>
          </a:bodyPr>
          <a:lstStyle/>
          <a:p>
            <a:pPr algn="ctr"/>
            <a:r>
              <a:rPr sz="1300" b="0" i="0">
                <a:solidFill>
                  <a:srgbClr val="000000"/>
                </a:solidFill>
                <a:latin typeface="Arial"/>
              </a:rPr>
              <a:t>FastAPI · SQLAlchemy</a:t>
            </a:r>
          </a:p>
          <a:p>
            <a:pPr algn="ctr"/>
            <a:r>
              <a:rPr sz="1300" b="0" i="0">
                <a:solidFill>
                  <a:srgbClr val="000000"/>
                </a:solidFill>
                <a:latin typeface="Arial"/>
              </a:rPr>
              <a:t>Alembic · Celery</a:t>
            </a:r>
          </a:p>
          <a:p>
            <a:pPr algn="ctr"/>
            <a:r>
              <a:rPr sz="1300" b="0" i="0">
                <a:solidFill>
                  <a:srgbClr val="000000"/>
                </a:solidFill>
                <a:latin typeface="Arial"/>
              </a:rPr>
              <a:t>JWT role-based access</a:t>
            </a:r>
          </a:p>
        </p:txBody>
      </p:sp>
      <p:sp>
        <p:nvSpPr>
          <p:cNvPr id="14" name="Rounded Rectangle 13"/>
          <p:cNvSpPr/>
          <p:nvPr/>
        </p:nvSpPr>
        <p:spPr>
          <a:xfrm>
            <a:off x="7955279" y="1920240"/>
            <a:ext cx="3657600" cy="178308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8412480" y="1691640"/>
            <a:ext cx="2743200" cy="45720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412480" y="1691640"/>
            <a:ext cx="2743200" cy="457200"/>
          </a:xfrm>
          <a:prstGeom prst="rect">
            <a:avLst/>
          </a:prstGeom>
          <a:noFill/>
        </p:spPr>
        <p:txBody>
          <a:bodyPr wrap="square" lIns="45720" tIns="18288" rIns="45720" bIns="18288" anchor="ctr">
            <a:spAutoFit/>
          </a:bodyPr>
          <a:lstStyle/>
          <a:p>
            <a:pPr algn="ctr"/>
            <a:r>
              <a:rPr sz="1400" b="1" i="0" spc="50">
                <a:solidFill>
                  <a:srgbClr val="000000"/>
                </a:solidFill>
                <a:latin typeface="Arial"/>
              </a:rPr>
              <a:t>ML microservice</a:t>
            </a:r>
          </a:p>
        </p:txBody>
      </p:sp>
      <p:sp>
        <p:nvSpPr>
          <p:cNvPr id="17" name="TextBox 16"/>
          <p:cNvSpPr txBox="1"/>
          <p:nvPr/>
        </p:nvSpPr>
        <p:spPr>
          <a:xfrm>
            <a:off x="8092440" y="2240280"/>
            <a:ext cx="3383280" cy="1417320"/>
          </a:xfrm>
          <a:prstGeom prst="rect">
            <a:avLst/>
          </a:prstGeom>
          <a:noFill/>
        </p:spPr>
        <p:txBody>
          <a:bodyPr wrap="square" lIns="45720" tIns="18288" rIns="45720" bIns="18288" anchor="ctr">
            <a:spAutoFit/>
          </a:bodyPr>
          <a:lstStyle/>
          <a:p>
            <a:pPr algn="ctr"/>
            <a:r>
              <a:rPr sz="1300" b="0" i="0">
                <a:solidFill>
                  <a:srgbClr val="000000"/>
                </a:solidFill>
                <a:latin typeface="Arial"/>
              </a:rPr>
              <a:t>FastAPI · XGBoost</a:t>
            </a:r>
          </a:p>
          <a:p>
            <a:pPr algn="ctr"/>
            <a:r>
              <a:rPr sz="1300" b="0" i="0">
                <a:solidFill>
                  <a:srgbClr val="000000"/>
                </a:solidFill>
                <a:latin typeface="Arial"/>
              </a:rPr>
              <a:t>scikit-learn · Cox PH</a:t>
            </a:r>
          </a:p>
          <a:p>
            <a:pPr algn="ctr"/>
            <a:r>
              <a:rPr sz="1300" b="0" i="0">
                <a:solidFill>
                  <a:srgbClr val="000000"/>
                </a:solidFill>
                <a:latin typeface="Arial"/>
              </a:rPr>
              <a:t>Dempster-Shafer fusion</a:t>
            </a:r>
          </a:p>
        </p:txBody>
      </p:sp>
      <p:sp>
        <p:nvSpPr>
          <p:cNvPr id="18" name="Rounded Rectangle 17"/>
          <p:cNvSpPr/>
          <p:nvPr/>
        </p:nvSpPr>
        <p:spPr>
          <a:xfrm>
            <a:off x="457200" y="4069080"/>
            <a:ext cx="3657600" cy="178308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914400" y="3840480"/>
            <a:ext cx="2743200" cy="45720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14400" y="3840480"/>
            <a:ext cx="2743200" cy="457200"/>
          </a:xfrm>
          <a:prstGeom prst="rect">
            <a:avLst/>
          </a:prstGeom>
          <a:noFill/>
        </p:spPr>
        <p:txBody>
          <a:bodyPr wrap="square" lIns="45720" tIns="18288" rIns="45720" bIns="18288" anchor="ctr">
            <a:spAutoFit/>
          </a:bodyPr>
          <a:lstStyle/>
          <a:p>
            <a:pPr algn="ctr"/>
            <a:r>
              <a:rPr sz="1400" b="1" i="0" spc="50">
                <a:solidFill>
                  <a:srgbClr val="000000"/>
                </a:solidFill>
                <a:latin typeface="Arial"/>
              </a:rPr>
              <a:t>RAG &amp; AI</a:t>
            </a:r>
          </a:p>
        </p:txBody>
      </p:sp>
      <p:sp>
        <p:nvSpPr>
          <p:cNvPr id="21" name="TextBox 20"/>
          <p:cNvSpPr txBox="1"/>
          <p:nvPr/>
        </p:nvSpPr>
        <p:spPr>
          <a:xfrm>
            <a:off x="594360" y="4389120"/>
            <a:ext cx="3383280" cy="1417320"/>
          </a:xfrm>
          <a:prstGeom prst="rect">
            <a:avLst/>
          </a:prstGeom>
          <a:noFill/>
        </p:spPr>
        <p:txBody>
          <a:bodyPr wrap="square" lIns="45720" tIns="18288" rIns="45720" bIns="18288" anchor="ctr">
            <a:spAutoFit/>
          </a:bodyPr>
          <a:lstStyle/>
          <a:p>
            <a:pPr algn="ctr"/>
            <a:r>
              <a:rPr sz="1300" b="0" i="0">
                <a:solidFill>
                  <a:srgbClr val="000000"/>
                </a:solidFill>
                <a:latin typeface="Arial"/>
              </a:rPr>
              <a:t>pgvector · BAAI/bge-m3</a:t>
            </a:r>
          </a:p>
          <a:p>
            <a:pPr algn="ctr"/>
            <a:r>
              <a:rPr sz="1300" b="0" i="0">
                <a:solidFill>
                  <a:srgbClr val="000000"/>
                </a:solidFill>
                <a:latin typeface="Arial"/>
              </a:rPr>
              <a:t>bge-reranker-v2-m3</a:t>
            </a:r>
          </a:p>
          <a:p>
            <a:pPr algn="ctr"/>
            <a:r>
              <a:rPr sz="1300" b="0" i="0">
                <a:solidFill>
                  <a:srgbClr val="000000"/>
                </a:solidFill>
                <a:latin typeface="Arial"/>
              </a:rPr>
              <a:t>Groq LLM</a:t>
            </a:r>
          </a:p>
        </p:txBody>
      </p:sp>
      <p:sp>
        <p:nvSpPr>
          <p:cNvPr id="22" name="Rounded Rectangle 21"/>
          <p:cNvSpPr/>
          <p:nvPr/>
        </p:nvSpPr>
        <p:spPr>
          <a:xfrm>
            <a:off x="4206240" y="4069080"/>
            <a:ext cx="3657600" cy="178308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4663440" y="3840480"/>
            <a:ext cx="2743200" cy="45720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663440" y="3840480"/>
            <a:ext cx="2743200" cy="457200"/>
          </a:xfrm>
          <a:prstGeom prst="rect">
            <a:avLst/>
          </a:prstGeom>
          <a:noFill/>
        </p:spPr>
        <p:txBody>
          <a:bodyPr wrap="square" lIns="45720" tIns="18288" rIns="45720" bIns="18288" anchor="ctr">
            <a:spAutoFit/>
          </a:bodyPr>
          <a:lstStyle/>
          <a:p>
            <a:pPr algn="ctr"/>
            <a:r>
              <a:rPr sz="1400" b="1" i="0" spc="50">
                <a:solidFill>
                  <a:srgbClr val="000000"/>
                </a:solidFill>
                <a:latin typeface="Arial"/>
              </a:rPr>
              <a:t>Data &amp; messaging</a:t>
            </a:r>
          </a:p>
        </p:txBody>
      </p:sp>
      <p:sp>
        <p:nvSpPr>
          <p:cNvPr id="25" name="TextBox 24"/>
          <p:cNvSpPr txBox="1"/>
          <p:nvPr/>
        </p:nvSpPr>
        <p:spPr>
          <a:xfrm>
            <a:off x="4343400" y="4389120"/>
            <a:ext cx="3383280" cy="1417320"/>
          </a:xfrm>
          <a:prstGeom prst="rect">
            <a:avLst/>
          </a:prstGeom>
          <a:noFill/>
        </p:spPr>
        <p:txBody>
          <a:bodyPr wrap="square" lIns="45720" tIns="18288" rIns="45720" bIns="18288" anchor="ctr">
            <a:spAutoFit/>
          </a:bodyPr>
          <a:lstStyle/>
          <a:p>
            <a:pPr algn="ctr"/>
            <a:r>
              <a:rPr sz="1300" b="0" i="0">
                <a:solidFill>
                  <a:srgbClr val="000000"/>
                </a:solidFill>
                <a:latin typeface="Arial"/>
              </a:rPr>
              <a:t>PostgreSQL 15 + pgvector</a:t>
            </a:r>
          </a:p>
          <a:p>
            <a:pPr algn="ctr"/>
            <a:r>
              <a:rPr sz="1300" b="0" i="0">
                <a:solidFill>
                  <a:srgbClr val="000000"/>
                </a:solidFill>
                <a:latin typeface="Arial"/>
              </a:rPr>
              <a:t>MinIO (S3) · RabbitMQ</a:t>
            </a:r>
          </a:p>
        </p:txBody>
      </p:sp>
      <p:sp>
        <p:nvSpPr>
          <p:cNvPr id="26" name="Rounded Rectangle 25"/>
          <p:cNvSpPr/>
          <p:nvPr/>
        </p:nvSpPr>
        <p:spPr>
          <a:xfrm>
            <a:off x="7955279" y="4069080"/>
            <a:ext cx="3657600" cy="178308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8412480" y="3840480"/>
            <a:ext cx="2743200" cy="45720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0" y="3840480"/>
            <a:ext cx="2743200" cy="457200"/>
          </a:xfrm>
          <a:prstGeom prst="rect">
            <a:avLst/>
          </a:prstGeom>
          <a:noFill/>
        </p:spPr>
        <p:txBody>
          <a:bodyPr wrap="square" lIns="45720" tIns="18288" rIns="45720" bIns="18288" anchor="ctr">
            <a:spAutoFit/>
          </a:bodyPr>
          <a:lstStyle/>
          <a:p>
            <a:pPr algn="ctr"/>
            <a:r>
              <a:rPr sz="1400" b="1" i="0" spc="50">
                <a:solidFill>
                  <a:srgbClr val="000000"/>
                </a:solidFill>
                <a:latin typeface="Arial"/>
              </a:rPr>
              <a:t>Infrastructure</a:t>
            </a:r>
          </a:p>
        </p:txBody>
      </p:sp>
      <p:sp>
        <p:nvSpPr>
          <p:cNvPr id="29" name="TextBox 28"/>
          <p:cNvSpPr txBox="1"/>
          <p:nvPr/>
        </p:nvSpPr>
        <p:spPr>
          <a:xfrm>
            <a:off x="8092440" y="4389120"/>
            <a:ext cx="3383280" cy="1417320"/>
          </a:xfrm>
          <a:prstGeom prst="rect">
            <a:avLst/>
          </a:prstGeom>
          <a:noFill/>
        </p:spPr>
        <p:txBody>
          <a:bodyPr wrap="square" lIns="45720" tIns="18288" rIns="45720" bIns="18288" anchor="ctr">
            <a:spAutoFit/>
          </a:bodyPr>
          <a:lstStyle/>
          <a:p>
            <a:pPr algn="ctr"/>
            <a:r>
              <a:rPr sz="1300" b="0" i="0">
                <a:solidFill>
                  <a:srgbClr val="000000"/>
                </a:solidFill>
                <a:latin typeface="Arial"/>
              </a:rPr>
              <a:t>Docker Compose · Caddy</a:t>
            </a:r>
          </a:p>
          <a:p>
            <a:pPr algn="ctr"/>
            <a:r>
              <a:rPr sz="1300" b="0" i="0">
                <a:solidFill>
                  <a:srgbClr val="000000"/>
                </a:solidFill>
                <a:latin typeface="Arial"/>
              </a:rPr>
              <a:t>Terraform · AKS · Helm</a:t>
            </a:r>
          </a:p>
          <a:p>
            <a:pPr algn="ctr"/>
            <a:r>
              <a:rPr sz="1300" b="0" i="0">
                <a:solidFill>
                  <a:srgbClr val="000000"/>
                </a:solidFill>
                <a:latin typeface="Arial"/>
              </a:rPr>
              <a:t>Key Vault · ACR</a:t>
            </a:r>
          </a:p>
        </p:txBody>
      </p:sp>
      <p:sp>
        <p:nvSpPr>
          <p:cNvPr id="30" name="TextBox 29"/>
          <p:cNvSpPr txBox="1"/>
          <p:nvPr/>
        </p:nvSpPr>
        <p:spPr>
          <a:xfrm>
            <a:off x="457200" y="6080760"/>
            <a:ext cx="11247120" cy="365760"/>
          </a:xfrm>
          <a:prstGeom prst="rect">
            <a:avLst/>
          </a:prstGeom>
          <a:noFill/>
        </p:spPr>
        <p:txBody>
          <a:bodyPr wrap="square" lIns="45720" tIns="18288" rIns="45720" bIns="18288" anchor="ctr">
            <a:spAutoFit/>
          </a:bodyPr>
          <a:lstStyle/>
          <a:p>
            <a:pPr algn="ctr"/>
            <a:r>
              <a:rPr sz="1200" b="1" i="0">
                <a:solidFill>
                  <a:srgbClr val="D0101A"/>
                </a:solidFill>
                <a:latin typeface="Arial"/>
              </a:rPr>
              <a:t>DevSecOps: </a:t>
            </a:r>
            <a:r>
              <a:rPr sz="1200" b="0" i="0">
                <a:solidFill>
                  <a:srgbClr val="000000"/>
                </a:solidFill>
                <a:latin typeface="Arial"/>
              </a:rPr>
              <a:t>GitLab CI · Gitleaks · Semgrep  ·  SonarQube · Trivy · OWASP ZAP  ·  Prometheus · Grafana</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Connector 1"/>
          <p:cNvCxnSpPr/>
          <p:nvPr/>
        </p:nvCxnSpPr>
        <p:spPr>
          <a:xfrm>
            <a:off x="3657600" y="0"/>
            <a:ext cx="0" cy="685800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069080" y="1463040"/>
            <a:ext cx="7680960" cy="4023360"/>
          </a:xfrm>
          <a:prstGeom prst="rect">
            <a:avLst/>
          </a:prstGeom>
          <a:noFill/>
        </p:spPr>
        <p:txBody>
          <a:bodyPr wrap="square" lIns="45720" tIns="18288" rIns="45720" bIns="18288" anchor="ctr">
            <a:spAutoFit/>
          </a:bodyPr>
          <a:lstStyle/>
          <a:p>
            <a:pPr algn="l"/>
            <a:r>
              <a:rPr sz="4800" b="0" i="0">
                <a:solidFill>
                  <a:srgbClr val="000000"/>
                </a:solidFill>
                <a:latin typeface="Arial Black"/>
              </a:rPr>
              <a:t>04</a:t>
            </a:r>
          </a:p>
          <a:p>
            <a:pPr algn="l"/>
            <a:r>
              <a:rPr sz="4800" b="0" i="0">
                <a:solidFill>
                  <a:srgbClr val="000000"/>
                </a:solidFill>
                <a:latin typeface="Arial Black"/>
              </a:rPr>
              <a:t>Design &amp;</a:t>
            </a:r>
          </a:p>
          <a:p>
            <a:pPr algn="l"/>
            <a:r>
              <a:rPr sz="4800" b="0" i="0">
                <a:solidFill>
                  <a:srgbClr val="000000"/>
                </a:solidFill>
                <a:latin typeface="Arial Black"/>
              </a:rPr>
              <a:t>Implementation</a:t>
            </a:r>
          </a:p>
        </p:txBody>
      </p:sp>
      <p:sp>
        <p:nvSpPr>
          <p:cNvPr id="4" name="TextBox 3"/>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Design: Logical Architecture</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2600" b="0" i="0">
                <a:solidFill>
                  <a:srgbClr val="0A1045"/>
                </a:solidFill>
                <a:latin typeface="Arial Black"/>
              </a:rPr>
              <a:t>Logical Architecture: Layers &amp; Dependencies</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18</a:t>
            </a:r>
          </a:p>
        </p:txBody>
      </p:sp>
      <p:sp>
        <p:nvSpPr>
          <p:cNvPr id="6" name="Rounded Rectangle 5"/>
          <p:cNvSpPr/>
          <p:nvPr/>
        </p:nvSpPr>
        <p:spPr>
          <a:xfrm>
            <a:off x="1691640" y="1371600"/>
            <a:ext cx="6583680" cy="384048"/>
          </a:xfrm>
          <a:prstGeom prst="roundRect">
            <a:avLst>
              <a:gd name="adj" fmla="val 30000"/>
            </a:avLst>
          </a:prstGeom>
          <a:noFill/>
          <a:ln w="25400">
            <a:solidFill>
              <a:srgbClr val="2FA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691640" y="1371600"/>
            <a:ext cx="6583680" cy="384048"/>
          </a:xfrm>
          <a:prstGeom prst="rect">
            <a:avLst/>
          </a:prstGeom>
          <a:noFill/>
        </p:spPr>
        <p:txBody>
          <a:bodyPr wrap="square" lIns="45720" tIns="18288" rIns="45720" bIns="18288" anchor="ctr">
            <a:spAutoFit/>
          </a:bodyPr>
          <a:lstStyle/>
          <a:p>
            <a:pPr algn="ctr"/>
            <a:r>
              <a:rPr sz="1150" b="1" i="0">
                <a:solidFill>
                  <a:srgbClr val="2FA4E7"/>
                </a:solidFill>
                <a:latin typeface="Arial"/>
              </a:rPr>
              <a:t>Users: Administrator · Operations Manager · Head Technician · Technician</a:t>
            </a:r>
          </a:p>
        </p:txBody>
      </p:sp>
      <p:cxnSp>
        <p:nvCxnSpPr>
          <p:cNvPr id="8" name="Connector 7"/>
          <p:cNvCxnSpPr/>
          <p:nvPr/>
        </p:nvCxnSpPr>
        <p:spPr>
          <a:xfrm>
            <a:off x="4983480" y="1755648"/>
            <a:ext cx="0" cy="256032"/>
          </a:xfrm>
          <a:prstGeom prst="line">
            <a:avLst/>
          </a:prstGeom>
          <a:ln w="22225">
            <a:solidFill>
              <a:srgbClr val="2FA4E7"/>
            </a:solidFill>
            <a:tailEnd type="triangle"/>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74920" y="1801368"/>
            <a:ext cx="1737360" cy="201168"/>
          </a:xfrm>
          <a:prstGeom prst="rect">
            <a:avLst/>
          </a:prstGeom>
          <a:solidFill>
            <a:srgbClr val="FFFFFF"/>
          </a:solidFill>
        </p:spPr>
        <p:txBody>
          <a:bodyPr wrap="square" lIns="45720" tIns="18288" rIns="45720" bIns="18288" anchor="ctr">
            <a:spAutoFit/>
          </a:bodyPr>
          <a:lstStyle/>
          <a:p>
            <a:pPr algn="ctr"/>
            <a:r>
              <a:rPr sz="900" b="0" i="1">
                <a:solidFill>
                  <a:srgbClr val="7A7A7A"/>
                </a:solidFill>
                <a:latin typeface="Arial"/>
              </a:rPr>
              <a:t>HTTPS · browser</a:t>
            </a:r>
          </a:p>
        </p:txBody>
      </p:sp>
      <p:sp>
        <p:nvSpPr>
          <p:cNvPr id="10" name="Rounded Rectangle 9"/>
          <p:cNvSpPr/>
          <p:nvPr/>
        </p:nvSpPr>
        <p:spPr>
          <a:xfrm>
            <a:off x="914400" y="2011680"/>
            <a:ext cx="8183879" cy="640080"/>
          </a:xfrm>
          <a:prstGeom prst="roundRect">
            <a:avLst>
              <a:gd name="adj" fmla="val 7000"/>
            </a:avLst>
          </a:prstGeom>
          <a:noFill/>
          <a:ln w="25400">
            <a:solidFill>
              <a:srgbClr val="2FA4E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05840" y="2020824"/>
            <a:ext cx="3657600" cy="219456"/>
          </a:xfrm>
          <a:prstGeom prst="rect">
            <a:avLst/>
          </a:prstGeom>
          <a:noFill/>
        </p:spPr>
        <p:txBody>
          <a:bodyPr wrap="square" lIns="45720" tIns="18288" rIns="45720" bIns="18288" anchor="ctr">
            <a:spAutoFit/>
          </a:bodyPr>
          <a:lstStyle/>
          <a:p>
            <a:pPr algn="l"/>
            <a:r>
              <a:rPr sz="900" b="1" i="0" spc="100">
                <a:solidFill>
                  <a:srgbClr val="2FA4E7"/>
                </a:solidFill>
                <a:latin typeface="Arial"/>
              </a:rPr>
              <a:t>PRESENTATION</a:t>
            </a:r>
          </a:p>
        </p:txBody>
      </p:sp>
      <p:sp>
        <p:nvSpPr>
          <p:cNvPr id="12" name="TextBox 11"/>
          <p:cNvSpPr txBox="1"/>
          <p:nvPr/>
        </p:nvSpPr>
        <p:spPr>
          <a:xfrm>
            <a:off x="1051560" y="2212848"/>
            <a:ext cx="7955279" cy="411480"/>
          </a:xfrm>
          <a:prstGeom prst="rect">
            <a:avLst/>
          </a:prstGeom>
          <a:noFill/>
        </p:spPr>
        <p:txBody>
          <a:bodyPr wrap="square" lIns="45720" tIns="18288" rIns="45720" bIns="18288" anchor="ctr">
            <a:spAutoFit/>
          </a:bodyPr>
          <a:lstStyle/>
          <a:p>
            <a:pPr algn="ctr"/>
            <a:r>
              <a:rPr sz="1100" b="1" i="0">
                <a:solidFill>
                  <a:srgbClr val="000000"/>
                </a:solidFill>
                <a:latin typeface="Arial"/>
              </a:rPr>
              <a:t>React 19 + TypeScript single-page app</a:t>
            </a:r>
            <a:r>
              <a:rPr sz="1100" b="0" i="0">
                <a:solidFill>
                  <a:srgbClr val="000000"/>
                </a:solidFill>
                <a:latin typeface="Arial"/>
              </a:rPr>
              <a:t> · role-based spaces (Admin, Head Technician, Technician) · ML Intelligence panel · AI assistant</a:t>
            </a:r>
          </a:p>
        </p:txBody>
      </p:sp>
      <p:cxnSp>
        <p:nvCxnSpPr>
          <p:cNvPr id="13" name="Connector 12"/>
          <p:cNvCxnSpPr/>
          <p:nvPr/>
        </p:nvCxnSpPr>
        <p:spPr>
          <a:xfrm>
            <a:off x="4983480" y="2651760"/>
            <a:ext cx="0" cy="228600"/>
          </a:xfrm>
          <a:prstGeom prst="line">
            <a:avLst/>
          </a:prstGeom>
          <a:ln w="22225">
            <a:solidFill>
              <a:srgbClr val="4FBF5F"/>
            </a:solidFill>
            <a:tailEnd type="triangle"/>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074920" y="2679192"/>
            <a:ext cx="2011680" cy="201168"/>
          </a:xfrm>
          <a:prstGeom prst="rect">
            <a:avLst/>
          </a:prstGeom>
          <a:solidFill>
            <a:srgbClr val="FFFFFF"/>
          </a:solidFill>
        </p:spPr>
        <p:txBody>
          <a:bodyPr wrap="square" lIns="45720" tIns="18288" rIns="45720" bIns="18288" anchor="ctr">
            <a:spAutoFit/>
          </a:bodyPr>
          <a:lstStyle/>
          <a:p>
            <a:pPr algn="ctr"/>
            <a:r>
              <a:rPr sz="900" b="0" i="1">
                <a:solidFill>
                  <a:srgbClr val="7A7A7A"/>
                </a:solidFill>
                <a:latin typeface="Arial"/>
              </a:rPr>
              <a:t>REST / JSON + JWT</a:t>
            </a:r>
          </a:p>
        </p:txBody>
      </p:sp>
      <p:sp>
        <p:nvSpPr>
          <p:cNvPr id="15" name="Rounded Rectangle 14"/>
          <p:cNvSpPr/>
          <p:nvPr/>
        </p:nvSpPr>
        <p:spPr>
          <a:xfrm>
            <a:off x="914400" y="2880360"/>
            <a:ext cx="8183879" cy="1325880"/>
          </a:xfrm>
          <a:prstGeom prst="roundRect">
            <a:avLst>
              <a:gd name="adj" fmla="val 7000"/>
            </a:avLst>
          </a:prstGeom>
          <a:noFill/>
          <a:ln w="25400">
            <a:solidFill>
              <a:srgbClr val="4FBF5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05840" y="2889503"/>
            <a:ext cx="3657600" cy="219456"/>
          </a:xfrm>
          <a:prstGeom prst="rect">
            <a:avLst/>
          </a:prstGeom>
          <a:noFill/>
        </p:spPr>
        <p:txBody>
          <a:bodyPr wrap="square" lIns="45720" tIns="18288" rIns="45720" bIns="18288" anchor="ctr">
            <a:spAutoFit/>
          </a:bodyPr>
          <a:lstStyle/>
          <a:p>
            <a:pPr algn="l"/>
            <a:r>
              <a:rPr sz="900" b="1" i="0" spc="100">
                <a:solidFill>
                  <a:srgbClr val="4FBF5F"/>
                </a:solidFill>
                <a:latin typeface="Arial"/>
              </a:rPr>
              <a:t>APPLICATION: BACKEND API (FastAPI)</a:t>
            </a:r>
          </a:p>
        </p:txBody>
      </p:sp>
      <p:sp>
        <p:nvSpPr>
          <p:cNvPr id="17" name="Rounded Rectangle 16"/>
          <p:cNvSpPr/>
          <p:nvPr/>
        </p:nvSpPr>
        <p:spPr>
          <a:xfrm>
            <a:off x="1051560" y="3154680"/>
            <a:ext cx="1920240" cy="420624"/>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088136" y="3172968"/>
            <a:ext cx="1847088" cy="384048"/>
          </a:xfrm>
          <a:prstGeom prst="rect">
            <a:avLst/>
          </a:prstGeom>
          <a:noFill/>
        </p:spPr>
        <p:txBody>
          <a:bodyPr wrap="square" lIns="45720" tIns="18288" rIns="45720" bIns="18288" anchor="ctr">
            <a:spAutoFit/>
          </a:bodyPr>
          <a:lstStyle/>
          <a:p>
            <a:pPr algn="ctr"/>
            <a:r>
              <a:rPr sz="1050" b="1" i="0">
                <a:solidFill>
                  <a:srgbClr val="4FBF5F"/>
                </a:solidFill>
                <a:latin typeface="Arial"/>
              </a:rPr>
              <a:t>Auth &amp; RBAC</a:t>
            </a:r>
          </a:p>
        </p:txBody>
      </p:sp>
      <p:sp>
        <p:nvSpPr>
          <p:cNvPr id="19" name="Rounded Rectangle 18"/>
          <p:cNvSpPr/>
          <p:nvPr/>
        </p:nvSpPr>
        <p:spPr>
          <a:xfrm>
            <a:off x="3063240" y="3154680"/>
            <a:ext cx="1920240" cy="420624"/>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099816" y="3172968"/>
            <a:ext cx="1847088" cy="384048"/>
          </a:xfrm>
          <a:prstGeom prst="rect">
            <a:avLst/>
          </a:prstGeom>
          <a:noFill/>
        </p:spPr>
        <p:txBody>
          <a:bodyPr wrap="square" lIns="45720" tIns="18288" rIns="45720" bIns="18288" anchor="ctr">
            <a:spAutoFit/>
          </a:bodyPr>
          <a:lstStyle/>
          <a:p>
            <a:pPr algn="ctr"/>
            <a:r>
              <a:rPr sz="1050" b="1" i="0">
                <a:solidFill>
                  <a:srgbClr val="4FBF5F"/>
                </a:solidFill>
                <a:latin typeface="Arial"/>
              </a:rPr>
              <a:t>Machines &amp; assets</a:t>
            </a:r>
          </a:p>
        </p:txBody>
      </p:sp>
      <p:sp>
        <p:nvSpPr>
          <p:cNvPr id="21" name="Rounded Rectangle 20"/>
          <p:cNvSpPr/>
          <p:nvPr/>
        </p:nvSpPr>
        <p:spPr>
          <a:xfrm>
            <a:off x="5074920" y="3154680"/>
            <a:ext cx="1920240" cy="420624"/>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111496" y="3172968"/>
            <a:ext cx="1847088" cy="384048"/>
          </a:xfrm>
          <a:prstGeom prst="rect">
            <a:avLst/>
          </a:prstGeom>
          <a:noFill/>
        </p:spPr>
        <p:txBody>
          <a:bodyPr wrap="square" lIns="45720" tIns="18288" rIns="45720" bIns="18288" anchor="ctr">
            <a:spAutoFit/>
          </a:bodyPr>
          <a:lstStyle/>
          <a:p>
            <a:pPr algn="ctr"/>
            <a:r>
              <a:rPr sz="1050" b="1" i="0">
                <a:solidFill>
                  <a:srgbClr val="4FBF5F"/>
                </a:solidFill>
                <a:latin typeface="Arial"/>
              </a:rPr>
              <a:t>Work &amp; intervention orders</a:t>
            </a:r>
          </a:p>
        </p:txBody>
      </p:sp>
      <p:sp>
        <p:nvSpPr>
          <p:cNvPr id="23" name="Rounded Rectangle 22"/>
          <p:cNvSpPr/>
          <p:nvPr/>
        </p:nvSpPr>
        <p:spPr>
          <a:xfrm>
            <a:off x="7086600" y="3154680"/>
            <a:ext cx="1920240" cy="420624"/>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123176" y="3172968"/>
            <a:ext cx="1847088" cy="384048"/>
          </a:xfrm>
          <a:prstGeom prst="rect">
            <a:avLst/>
          </a:prstGeom>
          <a:noFill/>
        </p:spPr>
        <p:txBody>
          <a:bodyPr wrap="square" lIns="45720" tIns="18288" rIns="45720" bIns="18288" anchor="ctr">
            <a:spAutoFit/>
          </a:bodyPr>
          <a:lstStyle/>
          <a:p>
            <a:pPr algn="ctr"/>
            <a:r>
              <a:rPr sz="1050" b="1" i="0">
                <a:solidFill>
                  <a:srgbClr val="4FBF5F"/>
                </a:solidFill>
                <a:latin typeface="Arial"/>
              </a:rPr>
              <a:t>Planning &amp; scheduling</a:t>
            </a:r>
          </a:p>
        </p:txBody>
      </p:sp>
      <p:sp>
        <p:nvSpPr>
          <p:cNvPr id="25" name="Rounded Rectangle 24"/>
          <p:cNvSpPr/>
          <p:nvPr/>
        </p:nvSpPr>
        <p:spPr>
          <a:xfrm>
            <a:off x="1051560" y="3639312"/>
            <a:ext cx="1920240" cy="420624"/>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088136" y="3657600"/>
            <a:ext cx="1847088" cy="384048"/>
          </a:xfrm>
          <a:prstGeom prst="rect">
            <a:avLst/>
          </a:prstGeom>
          <a:noFill/>
        </p:spPr>
        <p:txBody>
          <a:bodyPr wrap="square" lIns="45720" tIns="18288" rIns="45720" bIns="18288" anchor="ctr">
            <a:spAutoFit/>
          </a:bodyPr>
          <a:lstStyle/>
          <a:p>
            <a:pPr algn="ctr"/>
            <a:r>
              <a:rPr sz="1050" b="1" i="0">
                <a:solidFill>
                  <a:srgbClr val="4FBF5F"/>
                </a:solidFill>
                <a:latin typeface="Arial"/>
              </a:rPr>
              <a:t>Inventory &amp; procurement</a:t>
            </a:r>
          </a:p>
        </p:txBody>
      </p:sp>
      <p:sp>
        <p:nvSpPr>
          <p:cNvPr id="27" name="Rounded Rectangle 26"/>
          <p:cNvSpPr/>
          <p:nvPr/>
        </p:nvSpPr>
        <p:spPr>
          <a:xfrm>
            <a:off x="3063240" y="3639312"/>
            <a:ext cx="1920240" cy="420624"/>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3099816" y="3657600"/>
            <a:ext cx="1847088" cy="384048"/>
          </a:xfrm>
          <a:prstGeom prst="rect">
            <a:avLst/>
          </a:prstGeom>
          <a:noFill/>
        </p:spPr>
        <p:txBody>
          <a:bodyPr wrap="square" lIns="45720" tIns="18288" rIns="45720" bIns="18288" anchor="ctr">
            <a:spAutoFit/>
          </a:bodyPr>
          <a:lstStyle/>
          <a:p>
            <a:pPr algn="ctr"/>
            <a:r>
              <a:rPr sz="1050" b="1" i="0">
                <a:solidFill>
                  <a:srgbClr val="4FBF5F"/>
                </a:solidFill>
                <a:latin typeface="Arial"/>
              </a:rPr>
              <a:t>Alerts &amp; notifications</a:t>
            </a:r>
          </a:p>
        </p:txBody>
      </p:sp>
      <p:sp>
        <p:nvSpPr>
          <p:cNvPr id="29" name="Rounded Rectangle 28"/>
          <p:cNvSpPr/>
          <p:nvPr/>
        </p:nvSpPr>
        <p:spPr>
          <a:xfrm>
            <a:off x="5074920" y="3639312"/>
            <a:ext cx="1920240" cy="420624"/>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5111496" y="3657600"/>
            <a:ext cx="1847088" cy="384048"/>
          </a:xfrm>
          <a:prstGeom prst="rect">
            <a:avLst/>
          </a:prstGeom>
          <a:noFill/>
        </p:spPr>
        <p:txBody>
          <a:bodyPr wrap="square" lIns="45720" tIns="18288" rIns="45720" bIns="18288" anchor="ctr">
            <a:spAutoFit/>
          </a:bodyPr>
          <a:lstStyle/>
          <a:p>
            <a:pPr algn="ctr"/>
            <a:r>
              <a:rPr sz="1050" b="1" i="0">
                <a:solidFill>
                  <a:srgbClr val="4FBF5F"/>
                </a:solidFill>
                <a:latin typeface="Arial"/>
              </a:rPr>
              <a:t>ML gateway (unified health)</a:t>
            </a:r>
          </a:p>
        </p:txBody>
      </p:sp>
      <p:sp>
        <p:nvSpPr>
          <p:cNvPr id="31" name="Rounded Rectangle 30"/>
          <p:cNvSpPr/>
          <p:nvPr/>
        </p:nvSpPr>
        <p:spPr>
          <a:xfrm>
            <a:off x="7086600" y="3639312"/>
            <a:ext cx="1920240" cy="420624"/>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7123176" y="3657600"/>
            <a:ext cx="1847088" cy="384048"/>
          </a:xfrm>
          <a:prstGeom prst="rect">
            <a:avLst/>
          </a:prstGeom>
          <a:noFill/>
        </p:spPr>
        <p:txBody>
          <a:bodyPr wrap="square" lIns="45720" tIns="18288" rIns="45720" bIns="18288" anchor="ctr">
            <a:spAutoFit/>
          </a:bodyPr>
          <a:lstStyle/>
          <a:p>
            <a:pPr algn="ctr"/>
            <a:r>
              <a:rPr sz="1050" b="1" i="0">
                <a:solidFill>
                  <a:srgbClr val="4FBF5F"/>
                </a:solidFill>
                <a:latin typeface="Arial"/>
              </a:rPr>
              <a:t>AI chat orchestrator</a:t>
            </a:r>
          </a:p>
        </p:txBody>
      </p:sp>
      <p:sp>
        <p:nvSpPr>
          <p:cNvPr id="33" name="Rounded Rectangle 32"/>
          <p:cNvSpPr/>
          <p:nvPr/>
        </p:nvSpPr>
        <p:spPr>
          <a:xfrm>
            <a:off x="914400" y="4526280"/>
            <a:ext cx="8183879" cy="822960"/>
          </a:xfrm>
          <a:prstGeom prst="roundRect">
            <a:avLst>
              <a:gd name="adj" fmla="val 7000"/>
            </a:avLst>
          </a:prstGeom>
          <a:noFill/>
          <a:ln w="25400">
            <a:solidFill>
              <a:srgbClr val="F39C2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1005840" y="4535424"/>
            <a:ext cx="3657600" cy="219456"/>
          </a:xfrm>
          <a:prstGeom prst="rect">
            <a:avLst/>
          </a:prstGeom>
          <a:noFill/>
        </p:spPr>
        <p:txBody>
          <a:bodyPr wrap="square" lIns="45720" tIns="18288" rIns="45720" bIns="18288" anchor="ctr">
            <a:spAutoFit/>
          </a:bodyPr>
          <a:lstStyle/>
          <a:p>
            <a:pPr algn="l"/>
            <a:r>
              <a:rPr sz="900" b="1" i="0" spc="100">
                <a:solidFill>
                  <a:srgbClr val="F39C2C"/>
                </a:solidFill>
                <a:latin typeface="Arial"/>
              </a:rPr>
              <a:t>SPECIALIST SERVICES</a:t>
            </a:r>
          </a:p>
        </p:txBody>
      </p:sp>
      <p:sp>
        <p:nvSpPr>
          <p:cNvPr id="35" name="Rounded Rectangle 34"/>
          <p:cNvSpPr/>
          <p:nvPr/>
        </p:nvSpPr>
        <p:spPr>
          <a:xfrm>
            <a:off x="1051560" y="4773168"/>
            <a:ext cx="2606040" cy="512064"/>
          </a:xfrm>
          <a:prstGeom prst="roundRect">
            <a:avLst>
              <a:gd name="adj" fmla="val 12000"/>
            </a:avLst>
          </a:prstGeom>
          <a:noFill/>
          <a:ln w="2222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88136" y="4791455"/>
            <a:ext cx="2532888" cy="475488"/>
          </a:xfrm>
          <a:prstGeom prst="rect">
            <a:avLst/>
          </a:prstGeom>
          <a:noFill/>
        </p:spPr>
        <p:txBody>
          <a:bodyPr wrap="square" lIns="45720" tIns="18288" rIns="45720" bIns="18288" anchor="ctr">
            <a:spAutoFit/>
          </a:bodyPr>
          <a:lstStyle/>
          <a:p>
            <a:pPr algn="ctr"/>
            <a:r>
              <a:rPr sz="1050" b="1" i="0">
                <a:solidFill>
                  <a:srgbClr val="F39C2C"/>
                </a:solidFill>
                <a:latin typeface="Arial"/>
              </a:rPr>
              <a:t>ML microservice (FastAPI)</a:t>
            </a:r>
          </a:p>
          <a:p>
            <a:pPr algn="ctr"/>
            <a:r>
              <a:rPr sz="850" b="0" i="0">
                <a:solidFill>
                  <a:srgbClr val="333333"/>
                </a:solidFill>
                <a:latin typeface="Arial"/>
              </a:rPr>
              <a:t>P1-P7 · Wave 2 signals · DST fusion</a:t>
            </a:r>
          </a:p>
        </p:txBody>
      </p:sp>
      <p:sp>
        <p:nvSpPr>
          <p:cNvPr id="37" name="Rounded Rectangle 36"/>
          <p:cNvSpPr/>
          <p:nvPr/>
        </p:nvSpPr>
        <p:spPr>
          <a:xfrm>
            <a:off x="3794760" y="4773168"/>
            <a:ext cx="2606040" cy="512064"/>
          </a:xfrm>
          <a:prstGeom prst="roundRect">
            <a:avLst>
              <a:gd name="adj" fmla="val 12000"/>
            </a:avLst>
          </a:prstGeom>
          <a:noFill/>
          <a:ln w="2222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3831336" y="4791455"/>
            <a:ext cx="2532888" cy="475488"/>
          </a:xfrm>
          <a:prstGeom prst="rect">
            <a:avLst/>
          </a:prstGeom>
          <a:noFill/>
        </p:spPr>
        <p:txBody>
          <a:bodyPr wrap="square" lIns="45720" tIns="18288" rIns="45720" bIns="18288" anchor="ctr">
            <a:spAutoFit/>
          </a:bodyPr>
          <a:lstStyle/>
          <a:p>
            <a:pPr algn="ctr"/>
            <a:r>
              <a:rPr sz="1050" b="1" i="0">
                <a:solidFill>
                  <a:srgbClr val="F39C2C"/>
                </a:solidFill>
                <a:latin typeface="Arial"/>
              </a:rPr>
              <a:t>RAG service (FastAPI)</a:t>
            </a:r>
          </a:p>
          <a:p>
            <a:pPr algn="ctr"/>
            <a:r>
              <a:rPr sz="850" b="0" i="0">
                <a:solidFill>
                  <a:srgbClr val="333333"/>
                </a:solidFill>
                <a:latin typeface="Arial"/>
              </a:rPr>
              <a:t>ingest · hybrid retrieval · rerank · bge-m3</a:t>
            </a:r>
          </a:p>
        </p:txBody>
      </p:sp>
      <p:sp>
        <p:nvSpPr>
          <p:cNvPr id="39" name="Rounded Rectangle 38"/>
          <p:cNvSpPr/>
          <p:nvPr/>
        </p:nvSpPr>
        <p:spPr>
          <a:xfrm>
            <a:off x="6537960" y="4773168"/>
            <a:ext cx="2468880" cy="512064"/>
          </a:xfrm>
          <a:prstGeom prst="roundRect">
            <a:avLst>
              <a:gd name="adj" fmla="val 12000"/>
            </a:avLst>
          </a:prstGeom>
          <a:noFill/>
          <a:ln w="2222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574536" y="4791455"/>
            <a:ext cx="2395728" cy="475488"/>
          </a:xfrm>
          <a:prstGeom prst="rect">
            <a:avLst/>
          </a:prstGeom>
          <a:noFill/>
        </p:spPr>
        <p:txBody>
          <a:bodyPr wrap="square" lIns="45720" tIns="18288" rIns="45720" bIns="18288" anchor="ctr">
            <a:spAutoFit/>
          </a:bodyPr>
          <a:lstStyle/>
          <a:p>
            <a:pPr algn="ctr"/>
            <a:r>
              <a:rPr sz="1050" b="1" i="0">
                <a:solidFill>
                  <a:srgbClr val="F39C2C"/>
                </a:solidFill>
                <a:latin typeface="Arial"/>
              </a:rPr>
              <a:t>Celery worker + beat</a:t>
            </a:r>
          </a:p>
          <a:p>
            <a:pPr algn="ctr"/>
            <a:r>
              <a:rPr sz="850" b="0" i="0">
                <a:solidFill>
                  <a:srgbClr val="333333"/>
                </a:solidFill>
                <a:latin typeface="Arial"/>
              </a:rPr>
              <a:t>consumes tasks · uses PostgreSQL</a:t>
            </a:r>
          </a:p>
        </p:txBody>
      </p:sp>
      <p:cxnSp>
        <p:nvCxnSpPr>
          <p:cNvPr id="41" name="Connector 40"/>
          <p:cNvCxnSpPr/>
          <p:nvPr/>
        </p:nvCxnSpPr>
        <p:spPr>
          <a:xfrm>
            <a:off x="2286000" y="4206240"/>
            <a:ext cx="0" cy="566928"/>
          </a:xfrm>
          <a:prstGeom prst="line">
            <a:avLst/>
          </a:prstGeom>
          <a:ln w="22225">
            <a:solidFill>
              <a:srgbClr val="F39C2C"/>
            </a:solidFill>
            <a:tailEnd type="triangle"/>
          </a:ln>
          <a:effectLst/>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2359152" y="4297680"/>
            <a:ext cx="1188720" cy="201168"/>
          </a:xfrm>
          <a:prstGeom prst="rect">
            <a:avLst/>
          </a:prstGeom>
          <a:solidFill>
            <a:srgbClr val="FFFFFF"/>
          </a:solidFill>
        </p:spPr>
        <p:txBody>
          <a:bodyPr wrap="square" lIns="45720" tIns="18288" rIns="45720" bIns="18288" anchor="ctr">
            <a:spAutoFit/>
          </a:bodyPr>
          <a:lstStyle/>
          <a:p>
            <a:pPr algn="ctr"/>
            <a:r>
              <a:rPr sz="900" b="0" i="1">
                <a:solidFill>
                  <a:srgbClr val="7A7A7A"/>
                </a:solidFill>
                <a:latin typeface="Arial"/>
              </a:rPr>
              <a:t>HTTP /predict</a:t>
            </a:r>
          </a:p>
        </p:txBody>
      </p:sp>
      <p:cxnSp>
        <p:nvCxnSpPr>
          <p:cNvPr id="43" name="Connector 42"/>
          <p:cNvCxnSpPr/>
          <p:nvPr/>
        </p:nvCxnSpPr>
        <p:spPr>
          <a:xfrm>
            <a:off x="5074920" y="4206240"/>
            <a:ext cx="0" cy="566928"/>
          </a:xfrm>
          <a:prstGeom prst="line">
            <a:avLst/>
          </a:prstGeom>
          <a:ln w="22225">
            <a:solidFill>
              <a:srgbClr val="F39C2C"/>
            </a:solidFill>
            <a:tailEnd type="triangle"/>
          </a:ln>
          <a:effectLst/>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148072" y="4297680"/>
            <a:ext cx="1325880" cy="201168"/>
          </a:xfrm>
          <a:prstGeom prst="rect">
            <a:avLst/>
          </a:prstGeom>
          <a:solidFill>
            <a:srgbClr val="FFFFFF"/>
          </a:solidFill>
        </p:spPr>
        <p:txBody>
          <a:bodyPr wrap="square" lIns="45720" tIns="18288" rIns="45720" bIns="18288" anchor="ctr">
            <a:spAutoFit/>
          </a:bodyPr>
          <a:lstStyle/>
          <a:p>
            <a:pPr algn="ctr"/>
            <a:r>
              <a:rPr sz="900" b="0" i="1">
                <a:solidFill>
                  <a:srgbClr val="7A7A7A"/>
                </a:solidFill>
                <a:latin typeface="Arial"/>
              </a:rPr>
              <a:t>HTTP /retrieve</a:t>
            </a:r>
          </a:p>
        </p:txBody>
      </p:sp>
      <p:sp>
        <p:nvSpPr>
          <p:cNvPr id="45" name="Rounded Rectangle 44"/>
          <p:cNvSpPr/>
          <p:nvPr/>
        </p:nvSpPr>
        <p:spPr>
          <a:xfrm>
            <a:off x="914400" y="5623560"/>
            <a:ext cx="8183879" cy="841248"/>
          </a:xfrm>
          <a:prstGeom prst="roundRect">
            <a:avLst>
              <a:gd name="adj" fmla="val 7000"/>
            </a:avLst>
          </a:prstGeom>
          <a:noFill/>
          <a:ln w="25400">
            <a:solidFill>
              <a:srgbClr val="7C4DD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1005840" y="5632704"/>
            <a:ext cx="3657600" cy="219456"/>
          </a:xfrm>
          <a:prstGeom prst="rect">
            <a:avLst/>
          </a:prstGeom>
          <a:noFill/>
        </p:spPr>
        <p:txBody>
          <a:bodyPr wrap="square" lIns="45720" tIns="18288" rIns="45720" bIns="18288" anchor="ctr">
            <a:spAutoFit/>
          </a:bodyPr>
          <a:lstStyle/>
          <a:p>
            <a:pPr algn="l"/>
            <a:r>
              <a:rPr sz="900" b="1" i="0" spc="100">
                <a:solidFill>
                  <a:srgbClr val="7C4DDB"/>
                </a:solidFill>
                <a:latin typeface="Arial"/>
              </a:rPr>
              <a:t>DATA</a:t>
            </a:r>
          </a:p>
        </p:txBody>
      </p:sp>
      <p:sp>
        <p:nvSpPr>
          <p:cNvPr id="47" name="Rounded Rectangle 46"/>
          <p:cNvSpPr/>
          <p:nvPr/>
        </p:nvSpPr>
        <p:spPr>
          <a:xfrm>
            <a:off x="1051560" y="5870448"/>
            <a:ext cx="1691640" cy="530352"/>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1088136" y="5888736"/>
            <a:ext cx="1618488" cy="493775"/>
          </a:xfrm>
          <a:prstGeom prst="rect">
            <a:avLst/>
          </a:prstGeom>
          <a:noFill/>
        </p:spPr>
        <p:txBody>
          <a:bodyPr wrap="square" lIns="45720" tIns="18288" rIns="45720" bIns="18288" anchor="ctr">
            <a:spAutoFit/>
          </a:bodyPr>
          <a:lstStyle/>
          <a:p>
            <a:pPr algn="ctr"/>
            <a:r>
              <a:rPr sz="1050" b="1" i="0">
                <a:solidFill>
                  <a:srgbClr val="7C4DDB"/>
                </a:solidFill>
                <a:latin typeface="Arial"/>
              </a:rPr>
              <a:t>Model artifacts</a:t>
            </a:r>
          </a:p>
          <a:p>
            <a:pPr algn="ctr"/>
            <a:r>
              <a:rPr sz="850" b="0" i="0">
                <a:solidFill>
                  <a:srgbClr val="333333"/>
                </a:solidFill>
                <a:latin typeface="Arial"/>
              </a:rPr>
              <a:t>.pkl, read-only</a:t>
            </a:r>
          </a:p>
        </p:txBody>
      </p:sp>
      <p:sp>
        <p:nvSpPr>
          <p:cNvPr id="49" name="Rounded Rectangle 48"/>
          <p:cNvSpPr/>
          <p:nvPr/>
        </p:nvSpPr>
        <p:spPr>
          <a:xfrm>
            <a:off x="2880360" y="5870448"/>
            <a:ext cx="2468880" cy="530352"/>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2916936" y="5888736"/>
            <a:ext cx="2395728" cy="493775"/>
          </a:xfrm>
          <a:prstGeom prst="rect">
            <a:avLst/>
          </a:prstGeom>
          <a:noFill/>
        </p:spPr>
        <p:txBody>
          <a:bodyPr wrap="square" lIns="45720" tIns="18288" rIns="45720" bIns="18288" anchor="ctr">
            <a:spAutoFit/>
          </a:bodyPr>
          <a:lstStyle/>
          <a:p>
            <a:pPr algn="ctr"/>
            <a:r>
              <a:rPr sz="1050" b="1" i="0">
                <a:solidFill>
                  <a:srgbClr val="7C4DDB"/>
                </a:solidFill>
                <a:latin typeface="Arial"/>
              </a:rPr>
              <a:t>PostgreSQL + pgvector</a:t>
            </a:r>
          </a:p>
          <a:p>
            <a:pPr algn="ctr"/>
            <a:r>
              <a:rPr sz="850" b="0" i="0">
                <a:solidFill>
                  <a:srgbClr val="333333"/>
                </a:solidFill>
                <a:latin typeface="Arial"/>
              </a:rPr>
              <a:t>business data · ML logs · chunks</a:t>
            </a:r>
          </a:p>
        </p:txBody>
      </p:sp>
      <p:sp>
        <p:nvSpPr>
          <p:cNvPr id="51" name="Rounded Rectangle 50"/>
          <p:cNvSpPr/>
          <p:nvPr/>
        </p:nvSpPr>
        <p:spPr>
          <a:xfrm>
            <a:off x="5486400" y="5870448"/>
            <a:ext cx="1600200" cy="530352"/>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5522976" y="5888736"/>
            <a:ext cx="1527048" cy="493775"/>
          </a:xfrm>
          <a:prstGeom prst="rect">
            <a:avLst/>
          </a:prstGeom>
          <a:noFill/>
        </p:spPr>
        <p:txBody>
          <a:bodyPr wrap="square" lIns="45720" tIns="18288" rIns="45720" bIns="18288" anchor="ctr">
            <a:spAutoFit/>
          </a:bodyPr>
          <a:lstStyle/>
          <a:p>
            <a:pPr algn="ctr"/>
            <a:r>
              <a:rPr sz="1050" b="1" i="0">
                <a:solidFill>
                  <a:srgbClr val="7C4DDB"/>
                </a:solidFill>
                <a:latin typeface="Arial"/>
              </a:rPr>
              <a:t>Object storage</a:t>
            </a:r>
          </a:p>
          <a:p>
            <a:pPr algn="ctr"/>
            <a:r>
              <a:rPr sz="850" b="0" i="0">
                <a:solidFill>
                  <a:srgbClr val="333333"/>
                </a:solidFill>
                <a:latin typeface="Arial"/>
              </a:rPr>
              <a:t>MinIO / S3</a:t>
            </a:r>
          </a:p>
        </p:txBody>
      </p:sp>
      <p:sp>
        <p:nvSpPr>
          <p:cNvPr id="53" name="Rounded Rectangle 52"/>
          <p:cNvSpPr/>
          <p:nvPr/>
        </p:nvSpPr>
        <p:spPr>
          <a:xfrm>
            <a:off x="7223760" y="5870448"/>
            <a:ext cx="1783080" cy="530352"/>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7260336" y="5888736"/>
            <a:ext cx="1709928" cy="493775"/>
          </a:xfrm>
          <a:prstGeom prst="rect">
            <a:avLst/>
          </a:prstGeom>
          <a:noFill/>
        </p:spPr>
        <p:txBody>
          <a:bodyPr wrap="square" lIns="45720" tIns="18288" rIns="45720" bIns="18288" anchor="ctr">
            <a:spAutoFit/>
          </a:bodyPr>
          <a:lstStyle/>
          <a:p>
            <a:pPr algn="ctr"/>
            <a:r>
              <a:rPr sz="1050" b="1" i="0">
                <a:solidFill>
                  <a:srgbClr val="7C4DDB"/>
                </a:solidFill>
                <a:latin typeface="Arial"/>
              </a:rPr>
              <a:t>Message broker</a:t>
            </a:r>
          </a:p>
          <a:p>
            <a:pPr algn="ctr"/>
            <a:r>
              <a:rPr sz="850" b="0" i="0">
                <a:solidFill>
                  <a:srgbClr val="333333"/>
                </a:solidFill>
                <a:latin typeface="Arial"/>
              </a:rPr>
              <a:t>RabbitMQ</a:t>
            </a:r>
          </a:p>
        </p:txBody>
      </p:sp>
      <p:cxnSp>
        <p:nvCxnSpPr>
          <p:cNvPr id="55" name="Connector 54"/>
          <p:cNvCxnSpPr/>
          <p:nvPr/>
        </p:nvCxnSpPr>
        <p:spPr>
          <a:xfrm>
            <a:off x="1828800" y="5285232"/>
            <a:ext cx="0" cy="585216"/>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4572000" y="5285232"/>
            <a:ext cx="0" cy="585216"/>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4645152" y="5358384"/>
            <a:ext cx="1005840" cy="201168"/>
          </a:xfrm>
          <a:prstGeom prst="rect">
            <a:avLst/>
          </a:prstGeom>
          <a:solidFill>
            <a:srgbClr val="FFFFFF"/>
          </a:solidFill>
        </p:spPr>
        <p:txBody>
          <a:bodyPr wrap="square" lIns="45720" tIns="18288" rIns="45720" bIns="18288" anchor="ctr">
            <a:spAutoFit/>
          </a:bodyPr>
          <a:lstStyle/>
          <a:p>
            <a:pPr algn="ctr"/>
            <a:r>
              <a:rPr sz="900" b="0" i="1">
                <a:solidFill>
                  <a:srgbClr val="7A7A7A"/>
                </a:solidFill>
                <a:latin typeface="Arial"/>
              </a:rPr>
              <a:t>SQL (vectors)</a:t>
            </a:r>
          </a:p>
        </p:txBody>
      </p:sp>
      <p:cxnSp>
        <p:nvCxnSpPr>
          <p:cNvPr id="58" name="Connector 57"/>
          <p:cNvCxnSpPr/>
          <p:nvPr/>
        </p:nvCxnSpPr>
        <p:spPr>
          <a:xfrm>
            <a:off x="8138160" y="5285232"/>
            <a:ext cx="0" cy="585216"/>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a:off x="548640" y="3566160"/>
            <a:ext cx="365760" cy="0"/>
          </a:xfrm>
          <a:prstGeom prst="line">
            <a:avLst/>
          </a:prstGeom>
          <a:ln w="22225">
            <a:solidFill>
              <a:srgbClr val="7C4DDB"/>
            </a:solidFill>
          </a:ln>
          <a:effectLst/>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548640" y="3566160"/>
            <a:ext cx="0" cy="2468880"/>
          </a:xfrm>
          <a:prstGeom prst="line">
            <a:avLst/>
          </a:prstGeom>
          <a:ln w="22225">
            <a:solidFill>
              <a:srgbClr val="7C4DDB"/>
            </a:solidFill>
          </a:ln>
          <a:effectLst/>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548640" y="6035040"/>
            <a:ext cx="365760" cy="0"/>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18288" y="4480560"/>
            <a:ext cx="868680" cy="548640"/>
          </a:xfrm>
          <a:prstGeom prst="rect">
            <a:avLst/>
          </a:prstGeom>
          <a:solidFill>
            <a:srgbClr val="FFFFFF"/>
          </a:solidFill>
        </p:spPr>
        <p:txBody>
          <a:bodyPr wrap="square" lIns="45720" tIns="18288" rIns="45720" bIns="18288" anchor="ctr">
            <a:spAutoFit/>
          </a:bodyPr>
          <a:lstStyle/>
          <a:p>
            <a:pPr algn="ctr"/>
            <a:r>
              <a:rPr sz="800" b="0" i="1">
                <a:solidFill>
                  <a:srgbClr val="7C4DDB"/>
                </a:solidFill>
                <a:latin typeface="Arial"/>
              </a:rPr>
              <a:t>SQL ·</a:t>
            </a:r>
          </a:p>
          <a:p>
            <a:pPr algn="ctr"/>
            <a:r>
              <a:rPr sz="800" b="0" i="1">
                <a:solidFill>
                  <a:srgbClr val="7C4DDB"/>
                </a:solidFill>
                <a:latin typeface="Arial"/>
              </a:rPr>
              <a:t>S3 API ·</a:t>
            </a:r>
          </a:p>
          <a:p>
            <a:pPr algn="ctr"/>
            <a:r>
              <a:rPr sz="800" b="0" i="1">
                <a:solidFill>
                  <a:srgbClr val="7C4DDB"/>
                </a:solidFill>
                <a:latin typeface="Arial"/>
              </a:rPr>
              <a:t>AMQP</a:t>
            </a:r>
          </a:p>
        </p:txBody>
      </p:sp>
      <p:sp>
        <p:nvSpPr>
          <p:cNvPr id="63" name="Rounded Rectangle 62"/>
          <p:cNvSpPr/>
          <p:nvPr/>
        </p:nvSpPr>
        <p:spPr>
          <a:xfrm>
            <a:off x="9555480" y="2743200"/>
            <a:ext cx="2240280" cy="2743200"/>
          </a:xfrm>
          <a:prstGeom prst="roundRect">
            <a:avLst>
              <a:gd name="adj" fmla="val 7000"/>
            </a:avLst>
          </a:prstGeom>
          <a:noFill/>
          <a:ln w="22225">
            <a:solidFill>
              <a:srgbClr val="7C4DD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9601200" y="2761488"/>
            <a:ext cx="2148840" cy="237744"/>
          </a:xfrm>
          <a:prstGeom prst="rect">
            <a:avLst/>
          </a:prstGeom>
          <a:noFill/>
        </p:spPr>
        <p:txBody>
          <a:bodyPr wrap="square" lIns="45720" tIns="18288" rIns="45720" bIns="18288" anchor="ctr">
            <a:spAutoFit/>
          </a:bodyPr>
          <a:lstStyle/>
          <a:p>
            <a:pPr algn="ctr"/>
            <a:r>
              <a:rPr sz="900" b="1" i="0" spc="100">
                <a:solidFill>
                  <a:srgbClr val="7C4DDB"/>
                </a:solidFill>
                <a:latin typeface="Arial"/>
              </a:rPr>
              <a:t>EXTERNAL SERVICES</a:t>
            </a:r>
          </a:p>
        </p:txBody>
      </p:sp>
      <p:sp>
        <p:nvSpPr>
          <p:cNvPr id="65" name="Rounded Rectangle 64"/>
          <p:cNvSpPr/>
          <p:nvPr/>
        </p:nvSpPr>
        <p:spPr>
          <a:xfrm>
            <a:off x="9692640" y="3108960"/>
            <a:ext cx="1965960" cy="54864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9729215" y="3127248"/>
            <a:ext cx="1892807" cy="512063"/>
          </a:xfrm>
          <a:prstGeom prst="rect">
            <a:avLst/>
          </a:prstGeom>
          <a:noFill/>
        </p:spPr>
        <p:txBody>
          <a:bodyPr wrap="square" lIns="45720" tIns="18288" rIns="45720" bIns="18288" anchor="ctr">
            <a:spAutoFit/>
          </a:bodyPr>
          <a:lstStyle/>
          <a:p>
            <a:pPr algn="ctr"/>
            <a:r>
              <a:rPr sz="1050" b="1" i="0">
                <a:solidFill>
                  <a:srgbClr val="7C4DDB"/>
                </a:solidFill>
                <a:latin typeface="Arial"/>
              </a:rPr>
              <a:t>Groq LLM API</a:t>
            </a:r>
          </a:p>
          <a:p>
            <a:pPr algn="ctr"/>
            <a:r>
              <a:rPr sz="850" b="0" i="0">
                <a:solidFill>
                  <a:srgbClr val="333333"/>
                </a:solidFill>
                <a:latin typeface="Arial"/>
              </a:rPr>
              <a:t>chat completions</a:t>
            </a:r>
          </a:p>
        </p:txBody>
      </p:sp>
      <p:sp>
        <p:nvSpPr>
          <p:cNvPr id="67" name="Rounded Rectangle 66"/>
          <p:cNvSpPr/>
          <p:nvPr/>
        </p:nvSpPr>
        <p:spPr>
          <a:xfrm>
            <a:off x="9692640" y="4709160"/>
            <a:ext cx="1965960" cy="54864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9729215" y="4727448"/>
            <a:ext cx="1892807" cy="512063"/>
          </a:xfrm>
          <a:prstGeom prst="rect">
            <a:avLst/>
          </a:prstGeom>
          <a:noFill/>
        </p:spPr>
        <p:txBody>
          <a:bodyPr wrap="square" lIns="45720" tIns="18288" rIns="45720" bIns="18288" anchor="ctr">
            <a:spAutoFit/>
          </a:bodyPr>
          <a:lstStyle/>
          <a:p>
            <a:pPr algn="ctr"/>
            <a:r>
              <a:rPr sz="1050" b="1" i="0">
                <a:solidFill>
                  <a:srgbClr val="7C4DDB"/>
                </a:solidFill>
                <a:latin typeface="Arial"/>
              </a:rPr>
              <a:t>SMTP server</a:t>
            </a:r>
          </a:p>
          <a:p>
            <a:pPr algn="ctr"/>
            <a:r>
              <a:rPr sz="850" b="0" i="0">
                <a:solidFill>
                  <a:srgbClr val="333333"/>
                </a:solidFill>
                <a:latin typeface="Arial"/>
              </a:rPr>
              <a:t>e-mail notifications</a:t>
            </a:r>
          </a:p>
        </p:txBody>
      </p:sp>
      <p:cxnSp>
        <p:nvCxnSpPr>
          <p:cNvPr id="69" name="Connector 68"/>
          <p:cNvCxnSpPr/>
          <p:nvPr/>
        </p:nvCxnSpPr>
        <p:spPr>
          <a:xfrm>
            <a:off x="9098280" y="3383280"/>
            <a:ext cx="594360" cy="0"/>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9134856" y="3163824"/>
            <a:ext cx="548640" cy="201168"/>
          </a:xfrm>
          <a:prstGeom prst="rect">
            <a:avLst/>
          </a:prstGeom>
          <a:solidFill>
            <a:srgbClr val="FFFFFF"/>
          </a:solidFill>
        </p:spPr>
        <p:txBody>
          <a:bodyPr wrap="square" lIns="45720" tIns="18288" rIns="45720" bIns="18288" anchor="ctr">
            <a:spAutoFit/>
          </a:bodyPr>
          <a:lstStyle/>
          <a:p>
            <a:pPr algn="ctr"/>
            <a:r>
              <a:rPr sz="800" b="0" i="1">
                <a:solidFill>
                  <a:srgbClr val="7A7A7A"/>
                </a:solidFill>
                <a:latin typeface="Arial"/>
              </a:rPr>
              <a:t>HTTPS</a:t>
            </a:r>
          </a:p>
        </p:txBody>
      </p:sp>
      <p:cxnSp>
        <p:nvCxnSpPr>
          <p:cNvPr id="71" name="Connector 70"/>
          <p:cNvCxnSpPr/>
          <p:nvPr/>
        </p:nvCxnSpPr>
        <p:spPr>
          <a:xfrm>
            <a:off x="9098280" y="4983480"/>
            <a:ext cx="594360" cy="0"/>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9134856" y="4754880"/>
            <a:ext cx="548640" cy="201168"/>
          </a:xfrm>
          <a:prstGeom prst="rect">
            <a:avLst/>
          </a:prstGeom>
          <a:solidFill>
            <a:srgbClr val="FFFFFF"/>
          </a:solidFill>
        </p:spPr>
        <p:txBody>
          <a:bodyPr wrap="square" lIns="45720" tIns="18288" rIns="45720" bIns="18288" anchor="ctr">
            <a:spAutoFit/>
          </a:bodyPr>
          <a:lstStyle/>
          <a:p>
            <a:pPr algn="ctr"/>
            <a:r>
              <a:rPr sz="800" b="0" i="1">
                <a:solidFill>
                  <a:srgbClr val="7A7A7A"/>
                </a:solidFill>
                <a:latin typeface="Arial"/>
              </a:rPr>
              <a:t>SMTP</a:t>
            </a:r>
          </a:p>
        </p:txBody>
      </p:sp>
      <p:sp>
        <p:nvSpPr>
          <p:cNvPr id="73" name="TextBox 72"/>
          <p:cNvSpPr txBox="1"/>
          <p:nvPr/>
        </p:nvSpPr>
        <p:spPr>
          <a:xfrm>
            <a:off x="9509760" y="5623560"/>
            <a:ext cx="2377440" cy="822960"/>
          </a:xfrm>
          <a:prstGeom prst="rect">
            <a:avLst/>
          </a:prstGeom>
          <a:noFill/>
        </p:spPr>
        <p:txBody>
          <a:bodyPr wrap="square" lIns="45720" tIns="18288" rIns="45720" bIns="18288" anchor="t">
            <a:spAutoFit/>
          </a:bodyPr>
          <a:lstStyle/>
          <a:p>
            <a:pPr algn="l"/>
            <a:r>
              <a:rPr sz="900" b="0" i="1">
                <a:solidFill>
                  <a:srgbClr val="7A7A7A"/>
                </a:solidFill>
                <a:latin typeface="Arial"/>
              </a:rPr>
              <a:t>Backend is the only caller of the ML and RAG services. RAG reads PostgreSQL only; ML reads model files only.</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Design: Logical Architecture</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2800" b="0" i="0">
                <a:solidFill>
                  <a:srgbClr val="0A1045"/>
                </a:solidFill>
                <a:latin typeface="Arial Black"/>
              </a:rPr>
              <a:t>Request Flow: Unified Machine Health</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20</a:t>
            </a:r>
          </a:p>
        </p:txBody>
      </p:sp>
      <p:sp>
        <p:nvSpPr>
          <p:cNvPr id="6" name="Rounded Rectangle 5"/>
          <p:cNvSpPr/>
          <p:nvPr/>
        </p:nvSpPr>
        <p:spPr>
          <a:xfrm>
            <a:off x="502920" y="1783080"/>
            <a:ext cx="3474720" cy="1417320"/>
          </a:xfrm>
          <a:prstGeom prst="roundRect">
            <a:avLst>
              <a:gd name="adj" fmla="val 12000"/>
            </a:avLst>
          </a:prstGeom>
          <a:noFill/>
          <a:ln w="25400">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40080" y="1600200"/>
            <a:ext cx="502920" cy="457200"/>
          </a:xfrm>
          <a:prstGeom prst="roundRect">
            <a:avLst>
              <a:gd name="adj" fmla="val 50000"/>
            </a:avLst>
          </a:prstGeom>
          <a:solidFill>
            <a:srgbClr val="D01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1600200"/>
            <a:ext cx="502920" cy="457200"/>
          </a:xfrm>
          <a:prstGeom prst="rect">
            <a:avLst/>
          </a:prstGeom>
          <a:noFill/>
        </p:spPr>
        <p:txBody>
          <a:bodyPr wrap="square" lIns="45720" tIns="18288" rIns="45720" bIns="18288" anchor="ctr">
            <a:spAutoFit/>
          </a:bodyPr>
          <a:lstStyle/>
          <a:p>
            <a:pPr algn="ctr"/>
            <a:r>
              <a:rPr sz="1600" b="1" i="0">
                <a:solidFill>
                  <a:srgbClr val="FFFFFF"/>
                </a:solidFill>
                <a:latin typeface="Arial"/>
              </a:rPr>
              <a:t>1</a:t>
            </a:r>
          </a:p>
        </p:txBody>
      </p:sp>
      <p:sp>
        <p:nvSpPr>
          <p:cNvPr id="9" name="TextBox 8"/>
          <p:cNvSpPr txBox="1"/>
          <p:nvPr/>
        </p:nvSpPr>
        <p:spPr>
          <a:xfrm>
            <a:off x="685800" y="2011680"/>
            <a:ext cx="3108960" cy="411480"/>
          </a:xfrm>
          <a:prstGeom prst="rect">
            <a:avLst/>
          </a:prstGeom>
          <a:noFill/>
        </p:spPr>
        <p:txBody>
          <a:bodyPr wrap="square" lIns="45720" tIns="18288" rIns="45720" bIns="18288" anchor="ctr">
            <a:spAutoFit/>
          </a:bodyPr>
          <a:lstStyle/>
          <a:p>
            <a:pPr algn="ctr"/>
            <a:r>
              <a:rPr sz="1500" b="1" i="0">
                <a:solidFill>
                  <a:srgbClr val="0A1045"/>
                </a:solidFill>
                <a:latin typeface="Arial"/>
              </a:rPr>
              <a:t>Frontend asks</a:t>
            </a:r>
          </a:p>
        </p:txBody>
      </p:sp>
      <p:sp>
        <p:nvSpPr>
          <p:cNvPr id="10" name="TextBox 9"/>
          <p:cNvSpPr txBox="1"/>
          <p:nvPr/>
        </p:nvSpPr>
        <p:spPr>
          <a:xfrm>
            <a:off x="685800" y="2423160"/>
            <a:ext cx="3108960" cy="731520"/>
          </a:xfrm>
          <a:prstGeom prst="rect">
            <a:avLst/>
          </a:prstGeom>
          <a:noFill/>
        </p:spPr>
        <p:txBody>
          <a:bodyPr wrap="square" lIns="45720" tIns="18288" rIns="45720" bIns="18288" anchor="t">
            <a:spAutoFit/>
          </a:bodyPr>
          <a:lstStyle/>
          <a:p>
            <a:pPr algn="ctr"/>
            <a:r>
              <a:rPr sz="1200" b="0" i="0">
                <a:solidFill>
                  <a:srgbClr val="000000"/>
                </a:solidFill>
                <a:latin typeface="Arial"/>
              </a:rPr>
              <a:t>GET /machines/{id}/unified-health</a:t>
            </a:r>
          </a:p>
        </p:txBody>
      </p:sp>
      <p:cxnSp>
        <p:nvCxnSpPr>
          <p:cNvPr id="11" name="Connector 10"/>
          <p:cNvCxnSpPr/>
          <p:nvPr/>
        </p:nvCxnSpPr>
        <p:spPr>
          <a:xfrm>
            <a:off x="4023360" y="2496312"/>
            <a:ext cx="27432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343400" y="1783080"/>
            <a:ext cx="3474720" cy="1417320"/>
          </a:xfrm>
          <a:prstGeom prst="roundRect">
            <a:avLst>
              <a:gd name="adj" fmla="val 12000"/>
            </a:avLst>
          </a:prstGeom>
          <a:noFill/>
          <a:ln w="25400">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4480560" y="1600200"/>
            <a:ext cx="502920" cy="457200"/>
          </a:xfrm>
          <a:prstGeom prst="roundRect">
            <a:avLst>
              <a:gd name="adj" fmla="val 50000"/>
            </a:avLst>
          </a:prstGeom>
          <a:solidFill>
            <a:srgbClr val="D01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480560" y="1600200"/>
            <a:ext cx="502920" cy="457200"/>
          </a:xfrm>
          <a:prstGeom prst="rect">
            <a:avLst/>
          </a:prstGeom>
          <a:noFill/>
        </p:spPr>
        <p:txBody>
          <a:bodyPr wrap="square" lIns="45720" tIns="18288" rIns="45720" bIns="18288" anchor="ctr">
            <a:spAutoFit/>
          </a:bodyPr>
          <a:lstStyle/>
          <a:p>
            <a:pPr algn="ctr"/>
            <a:r>
              <a:rPr sz="1600" b="1" i="0">
                <a:solidFill>
                  <a:srgbClr val="FFFFFF"/>
                </a:solidFill>
                <a:latin typeface="Arial"/>
              </a:rPr>
              <a:t>2</a:t>
            </a:r>
          </a:p>
        </p:txBody>
      </p:sp>
      <p:sp>
        <p:nvSpPr>
          <p:cNvPr id="15" name="TextBox 14"/>
          <p:cNvSpPr txBox="1"/>
          <p:nvPr/>
        </p:nvSpPr>
        <p:spPr>
          <a:xfrm>
            <a:off x="4526280" y="2011680"/>
            <a:ext cx="3108960" cy="411480"/>
          </a:xfrm>
          <a:prstGeom prst="rect">
            <a:avLst/>
          </a:prstGeom>
          <a:noFill/>
        </p:spPr>
        <p:txBody>
          <a:bodyPr wrap="square" lIns="45720" tIns="18288" rIns="45720" bIns="18288" anchor="ctr">
            <a:spAutoFit/>
          </a:bodyPr>
          <a:lstStyle/>
          <a:p>
            <a:pPr algn="ctr"/>
            <a:r>
              <a:rPr sz="1500" b="1" i="0">
                <a:solidFill>
                  <a:srgbClr val="0A1045"/>
                </a:solidFill>
                <a:latin typeface="Arial"/>
              </a:rPr>
              <a:t>Backend reads telemetry</a:t>
            </a:r>
          </a:p>
        </p:txBody>
      </p:sp>
      <p:sp>
        <p:nvSpPr>
          <p:cNvPr id="16" name="TextBox 15"/>
          <p:cNvSpPr txBox="1"/>
          <p:nvPr/>
        </p:nvSpPr>
        <p:spPr>
          <a:xfrm>
            <a:off x="4526280" y="2423160"/>
            <a:ext cx="3108960" cy="731520"/>
          </a:xfrm>
          <a:prstGeom prst="rect">
            <a:avLst/>
          </a:prstGeom>
          <a:noFill/>
        </p:spPr>
        <p:txBody>
          <a:bodyPr wrap="square" lIns="45720" tIns="18288" rIns="45720" bIns="18288" anchor="t">
            <a:spAutoFit/>
          </a:bodyPr>
          <a:lstStyle/>
          <a:p>
            <a:pPr algn="ctr"/>
            <a:r>
              <a:rPr sz="1200" b="0" i="0">
                <a:solidFill>
                  <a:srgbClr val="000000"/>
                </a:solidFill>
                <a:latin typeface="Arial"/>
              </a:rPr>
              <a:t>Latest real sensor data; none found → telemetry_available: false, stop</a:t>
            </a:r>
          </a:p>
        </p:txBody>
      </p:sp>
      <p:cxnSp>
        <p:nvCxnSpPr>
          <p:cNvPr id="17" name="Connector 16"/>
          <p:cNvCxnSpPr/>
          <p:nvPr/>
        </p:nvCxnSpPr>
        <p:spPr>
          <a:xfrm>
            <a:off x="7863840" y="2496312"/>
            <a:ext cx="27432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183880" y="1783080"/>
            <a:ext cx="3474720" cy="1417320"/>
          </a:xfrm>
          <a:prstGeom prst="roundRect">
            <a:avLst>
              <a:gd name="adj" fmla="val 12000"/>
            </a:avLst>
          </a:prstGeom>
          <a:noFill/>
          <a:ln w="25400">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8321040" y="1600200"/>
            <a:ext cx="502920" cy="457200"/>
          </a:xfrm>
          <a:prstGeom prst="roundRect">
            <a:avLst>
              <a:gd name="adj" fmla="val 50000"/>
            </a:avLst>
          </a:prstGeom>
          <a:solidFill>
            <a:srgbClr val="D01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321040" y="1600200"/>
            <a:ext cx="502920" cy="457200"/>
          </a:xfrm>
          <a:prstGeom prst="rect">
            <a:avLst/>
          </a:prstGeom>
          <a:noFill/>
        </p:spPr>
        <p:txBody>
          <a:bodyPr wrap="square" lIns="45720" tIns="18288" rIns="45720" bIns="18288" anchor="ctr">
            <a:spAutoFit/>
          </a:bodyPr>
          <a:lstStyle/>
          <a:p>
            <a:pPr algn="ctr"/>
            <a:r>
              <a:rPr sz="1600" b="1" i="0">
                <a:solidFill>
                  <a:srgbClr val="FFFFFF"/>
                </a:solidFill>
                <a:latin typeface="Arial"/>
              </a:rPr>
              <a:t>3</a:t>
            </a:r>
          </a:p>
        </p:txBody>
      </p:sp>
      <p:sp>
        <p:nvSpPr>
          <p:cNvPr id="21" name="TextBox 20"/>
          <p:cNvSpPr txBox="1"/>
          <p:nvPr/>
        </p:nvSpPr>
        <p:spPr>
          <a:xfrm>
            <a:off x="8366760" y="2011680"/>
            <a:ext cx="3108960" cy="411480"/>
          </a:xfrm>
          <a:prstGeom prst="rect">
            <a:avLst/>
          </a:prstGeom>
          <a:noFill/>
        </p:spPr>
        <p:txBody>
          <a:bodyPr wrap="square" lIns="45720" tIns="18288" rIns="45720" bIns="18288" anchor="ctr">
            <a:spAutoFit/>
          </a:bodyPr>
          <a:lstStyle/>
          <a:p>
            <a:pPr algn="ctr"/>
            <a:r>
              <a:rPr sz="1500" b="1" i="0">
                <a:solidFill>
                  <a:srgbClr val="0A1045"/>
                </a:solidFill>
                <a:latin typeface="Arial"/>
              </a:rPr>
              <a:t>ML microservice</a:t>
            </a:r>
          </a:p>
        </p:txBody>
      </p:sp>
      <p:sp>
        <p:nvSpPr>
          <p:cNvPr id="22" name="TextBox 21"/>
          <p:cNvSpPr txBox="1"/>
          <p:nvPr/>
        </p:nvSpPr>
        <p:spPr>
          <a:xfrm>
            <a:off x="8366760" y="2423160"/>
            <a:ext cx="3108960" cy="731520"/>
          </a:xfrm>
          <a:prstGeom prst="rect">
            <a:avLst/>
          </a:prstGeom>
          <a:noFill/>
        </p:spPr>
        <p:txBody>
          <a:bodyPr wrap="square" lIns="45720" tIns="18288" rIns="45720" bIns="18288" anchor="t">
            <a:spAutoFit/>
          </a:bodyPr>
          <a:lstStyle/>
          <a:p>
            <a:pPr algn="ctr"/>
            <a:r>
              <a:rPr sz="1200" b="0" i="0">
                <a:solidFill>
                  <a:srgbClr val="000000"/>
                </a:solidFill>
                <a:latin typeface="Arial"/>
              </a:rPr>
              <a:t>P1-P7 in parallel on the sensor snapshot</a:t>
            </a:r>
          </a:p>
        </p:txBody>
      </p:sp>
      <p:sp>
        <p:nvSpPr>
          <p:cNvPr id="23" name="Rounded Rectangle 22"/>
          <p:cNvSpPr/>
          <p:nvPr/>
        </p:nvSpPr>
        <p:spPr>
          <a:xfrm>
            <a:off x="502920" y="3611880"/>
            <a:ext cx="3474720" cy="1417320"/>
          </a:xfrm>
          <a:prstGeom prst="roundRect">
            <a:avLst>
              <a:gd name="adj" fmla="val 12000"/>
            </a:avLst>
          </a:prstGeom>
          <a:noFill/>
          <a:ln w="25400">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640080" y="3429000"/>
            <a:ext cx="502920" cy="457200"/>
          </a:xfrm>
          <a:prstGeom prst="roundRect">
            <a:avLst>
              <a:gd name="adj" fmla="val 50000"/>
            </a:avLst>
          </a:prstGeom>
          <a:solidFill>
            <a:srgbClr val="D01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40080" y="3429000"/>
            <a:ext cx="502920" cy="457200"/>
          </a:xfrm>
          <a:prstGeom prst="rect">
            <a:avLst/>
          </a:prstGeom>
          <a:noFill/>
        </p:spPr>
        <p:txBody>
          <a:bodyPr wrap="square" lIns="45720" tIns="18288" rIns="45720" bIns="18288" anchor="ctr">
            <a:spAutoFit/>
          </a:bodyPr>
          <a:lstStyle/>
          <a:p>
            <a:pPr algn="ctr"/>
            <a:r>
              <a:rPr sz="1600" b="1" i="0">
                <a:solidFill>
                  <a:srgbClr val="FFFFFF"/>
                </a:solidFill>
                <a:latin typeface="Arial"/>
              </a:rPr>
              <a:t>4</a:t>
            </a:r>
          </a:p>
        </p:txBody>
      </p:sp>
      <p:sp>
        <p:nvSpPr>
          <p:cNvPr id="26" name="TextBox 25"/>
          <p:cNvSpPr txBox="1"/>
          <p:nvPr/>
        </p:nvSpPr>
        <p:spPr>
          <a:xfrm>
            <a:off x="685800" y="3840480"/>
            <a:ext cx="3108960" cy="411480"/>
          </a:xfrm>
          <a:prstGeom prst="rect">
            <a:avLst/>
          </a:prstGeom>
          <a:noFill/>
        </p:spPr>
        <p:txBody>
          <a:bodyPr wrap="square" lIns="45720" tIns="18288" rIns="45720" bIns="18288" anchor="ctr">
            <a:spAutoFit/>
          </a:bodyPr>
          <a:lstStyle/>
          <a:p>
            <a:pPr algn="ctr"/>
            <a:r>
              <a:rPr sz="1500" b="1" i="0">
                <a:solidFill>
                  <a:srgbClr val="0A1045"/>
                </a:solidFill>
                <a:latin typeface="Arial"/>
              </a:rPr>
              <a:t>Wave 2 signals</a:t>
            </a:r>
          </a:p>
        </p:txBody>
      </p:sp>
      <p:sp>
        <p:nvSpPr>
          <p:cNvPr id="27" name="TextBox 26"/>
          <p:cNvSpPr txBox="1"/>
          <p:nvPr/>
        </p:nvSpPr>
        <p:spPr>
          <a:xfrm>
            <a:off x="685800" y="4251960"/>
            <a:ext cx="3108960" cy="731520"/>
          </a:xfrm>
          <a:prstGeom prst="rect">
            <a:avLst/>
          </a:prstGeom>
          <a:noFill/>
        </p:spPr>
        <p:txBody>
          <a:bodyPr wrap="square" lIns="45720" tIns="18288" rIns="45720" bIns="18288" anchor="t">
            <a:spAutoFit/>
          </a:bodyPr>
          <a:lstStyle/>
          <a:p>
            <a:pPr algn="ctr"/>
            <a:r>
              <a:rPr sz="1200" b="0" i="0">
                <a:solidFill>
                  <a:srgbClr val="000000"/>
                </a:solidFill>
                <a:latin typeface="Arial"/>
              </a:rPr>
              <a:t>Run concurrently on the telemetry history</a:t>
            </a:r>
          </a:p>
        </p:txBody>
      </p:sp>
      <p:cxnSp>
        <p:nvCxnSpPr>
          <p:cNvPr id="28" name="Connector 27"/>
          <p:cNvCxnSpPr/>
          <p:nvPr/>
        </p:nvCxnSpPr>
        <p:spPr>
          <a:xfrm>
            <a:off x="4023360" y="4325112"/>
            <a:ext cx="27432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4343400" y="3611880"/>
            <a:ext cx="3474720" cy="1417320"/>
          </a:xfrm>
          <a:prstGeom prst="roundRect">
            <a:avLst>
              <a:gd name="adj" fmla="val 12000"/>
            </a:avLst>
          </a:prstGeom>
          <a:noFill/>
          <a:ln w="25400">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ounded Rectangle 29"/>
          <p:cNvSpPr/>
          <p:nvPr/>
        </p:nvSpPr>
        <p:spPr>
          <a:xfrm>
            <a:off x="4480560" y="3429000"/>
            <a:ext cx="502920" cy="457200"/>
          </a:xfrm>
          <a:prstGeom prst="roundRect">
            <a:avLst>
              <a:gd name="adj" fmla="val 50000"/>
            </a:avLst>
          </a:prstGeom>
          <a:solidFill>
            <a:srgbClr val="D01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480560" y="3429000"/>
            <a:ext cx="502920" cy="457200"/>
          </a:xfrm>
          <a:prstGeom prst="rect">
            <a:avLst/>
          </a:prstGeom>
          <a:noFill/>
        </p:spPr>
        <p:txBody>
          <a:bodyPr wrap="square" lIns="45720" tIns="18288" rIns="45720" bIns="18288" anchor="ctr">
            <a:spAutoFit/>
          </a:bodyPr>
          <a:lstStyle/>
          <a:p>
            <a:pPr algn="ctr"/>
            <a:r>
              <a:rPr sz="1600" b="1" i="0">
                <a:solidFill>
                  <a:srgbClr val="FFFFFF"/>
                </a:solidFill>
                <a:latin typeface="Arial"/>
              </a:rPr>
              <a:t>5</a:t>
            </a:r>
          </a:p>
        </p:txBody>
      </p:sp>
      <p:sp>
        <p:nvSpPr>
          <p:cNvPr id="32" name="TextBox 31"/>
          <p:cNvSpPr txBox="1"/>
          <p:nvPr/>
        </p:nvSpPr>
        <p:spPr>
          <a:xfrm>
            <a:off x="4526280" y="3840480"/>
            <a:ext cx="3108960" cy="411480"/>
          </a:xfrm>
          <a:prstGeom prst="rect">
            <a:avLst/>
          </a:prstGeom>
          <a:noFill/>
        </p:spPr>
        <p:txBody>
          <a:bodyPr wrap="square" lIns="45720" tIns="18288" rIns="45720" bIns="18288" anchor="ctr">
            <a:spAutoFit/>
          </a:bodyPr>
          <a:lstStyle/>
          <a:p>
            <a:pPr algn="ctr"/>
            <a:r>
              <a:rPr sz="1500" b="1" i="0">
                <a:solidFill>
                  <a:srgbClr val="0A1045"/>
                </a:solidFill>
                <a:latin typeface="Arial"/>
              </a:rPr>
              <a:t>DST fusion</a:t>
            </a:r>
          </a:p>
        </p:txBody>
      </p:sp>
      <p:sp>
        <p:nvSpPr>
          <p:cNvPr id="33" name="TextBox 32"/>
          <p:cNvSpPr txBox="1"/>
          <p:nvPr/>
        </p:nvSpPr>
        <p:spPr>
          <a:xfrm>
            <a:off x="4526280" y="4251960"/>
            <a:ext cx="3108960" cy="731520"/>
          </a:xfrm>
          <a:prstGeom prst="rect">
            <a:avLst/>
          </a:prstGeom>
          <a:noFill/>
        </p:spPr>
        <p:txBody>
          <a:bodyPr wrap="square" lIns="45720" tIns="18288" rIns="45720" bIns="18288" anchor="t">
            <a:spAutoFit/>
          </a:bodyPr>
          <a:lstStyle/>
          <a:p>
            <a:pPr algn="ctr"/>
            <a:r>
              <a:rPr sz="1200" b="0" i="0">
                <a:solidFill>
                  <a:srgbClr val="000000"/>
                </a:solidFill>
                <a:latin typeface="Arial"/>
              </a:rPr>
              <a:t>One unified score and verdict</a:t>
            </a:r>
          </a:p>
        </p:txBody>
      </p:sp>
      <p:cxnSp>
        <p:nvCxnSpPr>
          <p:cNvPr id="34" name="Connector 33"/>
          <p:cNvCxnSpPr/>
          <p:nvPr/>
        </p:nvCxnSpPr>
        <p:spPr>
          <a:xfrm>
            <a:off x="7863840" y="4325112"/>
            <a:ext cx="27432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8183880" y="3611880"/>
            <a:ext cx="3474720" cy="1417320"/>
          </a:xfrm>
          <a:prstGeom prst="roundRect">
            <a:avLst>
              <a:gd name="adj" fmla="val 12000"/>
            </a:avLst>
          </a:prstGeom>
          <a:noFill/>
          <a:ln w="25400">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ounded Rectangle 35"/>
          <p:cNvSpPr/>
          <p:nvPr/>
        </p:nvSpPr>
        <p:spPr>
          <a:xfrm>
            <a:off x="8321040" y="3429000"/>
            <a:ext cx="502920" cy="457200"/>
          </a:xfrm>
          <a:prstGeom prst="roundRect">
            <a:avLst>
              <a:gd name="adj" fmla="val 50000"/>
            </a:avLst>
          </a:prstGeom>
          <a:solidFill>
            <a:srgbClr val="D01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8321040" y="3429000"/>
            <a:ext cx="502920" cy="457200"/>
          </a:xfrm>
          <a:prstGeom prst="rect">
            <a:avLst/>
          </a:prstGeom>
          <a:noFill/>
        </p:spPr>
        <p:txBody>
          <a:bodyPr wrap="square" lIns="45720" tIns="18288" rIns="45720" bIns="18288" anchor="ctr">
            <a:spAutoFit/>
          </a:bodyPr>
          <a:lstStyle/>
          <a:p>
            <a:pPr algn="ctr"/>
            <a:r>
              <a:rPr sz="1600" b="1" i="0">
                <a:solidFill>
                  <a:srgbClr val="FFFFFF"/>
                </a:solidFill>
                <a:latin typeface="Arial"/>
              </a:rPr>
              <a:t>6</a:t>
            </a:r>
          </a:p>
        </p:txBody>
      </p:sp>
      <p:sp>
        <p:nvSpPr>
          <p:cNvPr id="38" name="TextBox 37"/>
          <p:cNvSpPr txBox="1"/>
          <p:nvPr/>
        </p:nvSpPr>
        <p:spPr>
          <a:xfrm>
            <a:off x="8366760" y="3840480"/>
            <a:ext cx="3108960" cy="411480"/>
          </a:xfrm>
          <a:prstGeom prst="rect">
            <a:avLst/>
          </a:prstGeom>
          <a:noFill/>
        </p:spPr>
        <p:txBody>
          <a:bodyPr wrap="square" lIns="45720" tIns="18288" rIns="45720" bIns="18288" anchor="ctr">
            <a:spAutoFit/>
          </a:bodyPr>
          <a:lstStyle/>
          <a:p>
            <a:pPr algn="ctr"/>
            <a:r>
              <a:rPr sz="1500" b="1" i="0">
                <a:solidFill>
                  <a:srgbClr val="0A1045"/>
                </a:solidFill>
                <a:latin typeface="Arial"/>
              </a:rPr>
              <a:t>Log &amp; render</a:t>
            </a:r>
          </a:p>
        </p:txBody>
      </p:sp>
      <p:sp>
        <p:nvSpPr>
          <p:cNvPr id="39" name="TextBox 38"/>
          <p:cNvSpPr txBox="1"/>
          <p:nvPr/>
        </p:nvSpPr>
        <p:spPr>
          <a:xfrm>
            <a:off x="8366760" y="4251960"/>
            <a:ext cx="3108960" cy="731520"/>
          </a:xfrm>
          <a:prstGeom prst="rect">
            <a:avLst/>
          </a:prstGeom>
          <a:noFill/>
        </p:spPr>
        <p:txBody>
          <a:bodyPr wrap="square" lIns="45720" tIns="18288" rIns="45720" bIns="18288" anchor="t">
            <a:spAutoFit/>
          </a:bodyPr>
          <a:lstStyle/>
          <a:p>
            <a:pPr algn="ctr"/>
            <a:r>
              <a:rPr sz="1200" b="0" i="0">
                <a:solidFill>
                  <a:srgbClr val="000000"/>
                </a:solidFill>
                <a:latin typeface="Arial"/>
              </a:rPr>
              <a:t>Stored in ml_prediction_logs; panel updates</a:t>
            </a:r>
          </a:p>
        </p:txBody>
      </p:sp>
      <p:sp>
        <p:nvSpPr>
          <p:cNvPr id="40" name="Rounded Rectangle 39"/>
          <p:cNvSpPr/>
          <p:nvPr/>
        </p:nvSpPr>
        <p:spPr>
          <a:xfrm>
            <a:off x="502920" y="5486400"/>
            <a:ext cx="11155680" cy="731520"/>
          </a:xfrm>
          <a:prstGeom prst="roundRect">
            <a:avLst>
              <a:gd name="adj" fmla="val 12000"/>
            </a:avLst>
          </a:prstGeom>
          <a:noFill/>
          <a:ln w="2540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40080" y="5486400"/>
            <a:ext cx="10881360" cy="731520"/>
          </a:xfrm>
          <a:prstGeom prst="rect">
            <a:avLst/>
          </a:prstGeom>
          <a:noFill/>
        </p:spPr>
        <p:txBody>
          <a:bodyPr wrap="square" lIns="45720" tIns="18288" rIns="45720" bIns="18288" anchor="ctr">
            <a:spAutoFit/>
          </a:bodyPr>
          <a:lstStyle/>
          <a:p>
            <a:pPr algn="ctr"/>
            <a:r>
              <a:rPr sz="1400" b="1" i="0">
                <a:solidFill>
                  <a:srgbClr val="D0101A"/>
                </a:solidFill>
                <a:latin typeface="Arial"/>
              </a:rPr>
              <a:t>Graceful degradation: </a:t>
            </a:r>
            <a:r>
              <a:rPr sz="1400" b="0" i="0">
                <a:solidFill>
                  <a:srgbClr val="000000"/>
                </a:solidFill>
                <a:latin typeface="Arial"/>
              </a:rPr>
              <a:t>no telemetry on record never means a fabricated prediction; the platform falls back to a maintenance-history-only score.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Design: Physical Architecture</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2600" b="0" i="0">
                <a:solidFill>
                  <a:srgbClr val="0A1045"/>
                </a:solidFill>
                <a:latin typeface="Arial Black"/>
              </a:rPr>
              <a:t>Physical Architecture: Docker Compose Host</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22</a:t>
            </a:r>
          </a:p>
        </p:txBody>
      </p:sp>
      <p:sp>
        <p:nvSpPr>
          <p:cNvPr id="6" name="Rounded Rectangle 5"/>
          <p:cNvSpPr/>
          <p:nvPr/>
        </p:nvSpPr>
        <p:spPr>
          <a:xfrm>
            <a:off x="365760" y="2926080"/>
            <a:ext cx="1325880" cy="731520"/>
          </a:xfrm>
          <a:prstGeom prst="roundRect">
            <a:avLst>
              <a:gd name="adj" fmla="val 12000"/>
            </a:avLst>
          </a:prstGeom>
          <a:noFill/>
          <a:ln w="22225">
            <a:solidFill>
              <a:srgbClr val="2FA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02336" y="2944368"/>
            <a:ext cx="1252728" cy="694944"/>
          </a:xfrm>
          <a:prstGeom prst="rect">
            <a:avLst/>
          </a:prstGeom>
          <a:noFill/>
        </p:spPr>
        <p:txBody>
          <a:bodyPr wrap="square" lIns="45720" tIns="18288" rIns="45720" bIns="18288" anchor="ctr">
            <a:spAutoFit/>
          </a:bodyPr>
          <a:lstStyle/>
          <a:p>
            <a:pPr algn="ctr"/>
            <a:r>
              <a:rPr sz="1300" b="1" i="0">
                <a:solidFill>
                  <a:srgbClr val="2FA4E7"/>
                </a:solidFill>
                <a:latin typeface="Arial"/>
              </a:rPr>
              <a:t>Users</a:t>
            </a:r>
          </a:p>
          <a:p>
            <a:pPr algn="ctr"/>
            <a:r>
              <a:rPr sz="1000" b="0" i="0">
                <a:solidFill>
                  <a:srgbClr val="333333"/>
                </a:solidFill>
                <a:latin typeface="Arial"/>
              </a:rPr>
              <a:t>browser</a:t>
            </a:r>
          </a:p>
        </p:txBody>
      </p:sp>
      <p:cxnSp>
        <p:nvCxnSpPr>
          <p:cNvPr id="8" name="Connector 7"/>
          <p:cNvCxnSpPr/>
          <p:nvPr/>
        </p:nvCxnSpPr>
        <p:spPr>
          <a:xfrm>
            <a:off x="1691640" y="3291840"/>
            <a:ext cx="594360" cy="0"/>
          </a:xfrm>
          <a:prstGeom prst="line">
            <a:avLst/>
          </a:prstGeom>
          <a:ln w="22225">
            <a:solidFill>
              <a:srgbClr val="2FA4E7"/>
            </a:solidFill>
            <a:tailEnd type="triangle"/>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719072" y="3017520"/>
            <a:ext cx="411480" cy="201168"/>
          </a:xfrm>
          <a:prstGeom prst="rect">
            <a:avLst/>
          </a:prstGeom>
          <a:solidFill>
            <a:srgbClr val="FFFFFF"/>
          </a:solidFill>
        </p:spPr>
        <p:txBody>
          <a:bodyPr wrap="square" lIns="45720" tIns="18288" rIns="45720" bIns="18288" anchor="ctr">
            <a:spAutoFit/>
          </a:bodyPr>
          <a:lstStyle/>
          <a:p>
            <a:pPr algn="ctr"/>
            <a:r>
              <a:rPr sz="800" b="0" i="1">
                <a:solidFill>
                  <a:srgbClr val="7A7A7A"/>
                </a:solidFill>
                <a:latin typeface="Arial"/>
              </a:rPr>
              <a:t>HTTPS</a:t>
            </a:r>
          </a:p>
        </p:txBody>
      </p:sp>
      <p:sp>
        <p:nvSpPr>
          <p:cNvPr id="10" name="Rounded Rectangle 9"/>
          <p:cNvSpPr/>
          <p:nvPr/>
        </p:nvSpPr>
        <p:spPr>
          <a:xfrm>
            <a:off x="2148840" y="1417320"/>
            <a:ext cx="8092440" cy="5029200"/>
          </a:xfrm>
          <a:prstGeom prst="roundRect">
            <a:avLst>
              <a:gd name="adj" fmla="val 4000"/>
            </a:avLst>
          </a:prstGeom>
          <a:noFill/>
          <a:ln w="25400">
            <a:solidFill>
              <a:srgbClr val="5B524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240280" y="1435608"/>
            <a:ext cx="7863840" cy="256032"/>
          </a:xfrm>
          <a:prstGeom prst="rect">
            <a:avLst/>
          </a:prstGeom>
          <a:noFill/>
        </p:spPr>
        <p:txBody>
          <a:bodyPr wrap="square" lIns="45720" tIns="18288" rIns="45720" bIns="18288" anchor="ctr">
            <a:spAutoFit/>
          </a:bodyPr>
          <a:lstStyle/>
          <a:p>
            <a:pPr algn="l"/>
            <a:r>
              <a:rPr sz="900" b="1" i="0" spc="60">
                <a:solidFill>
                  <a:srgbClr val="5B5243"/>
                </a:solidFill>
                <a:latin typeface="Arial"/>
              </a:rPr>
              <a:t>DOCKER HOST: developer workstation (dev) or Azure VM (demo) · docker compose</a:t>
            </a:r>
          </a:p>
        </p:txBody>
      </p:sp>
      <p:sp>
        <p:nvSpPr>
          <p:cNvPr id="12" name="Rounded Rectangle 11"/>
          <p:cNvSpPr/>
          <p:nvPr/>
        </p:nvSpPr>
        <p:spPr>
          <a:xfrm>
            <a:off x="2286000" y="2743200"/>
            <a:ext cx="1371600" cy="914400"/>
          </a:xfrm>
          <a:prstGeom prst="roundRect">
            <a:avLst>
              <a:gd name="adj" fmla="val 12000"/>
            </a:avLst>
          </a:prstGeom>
          <a:noFill/>
          <a:ln w="2222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322576" y="2761488"/>
            <a:ext cx="1298448" cy="877824"/>
          </a:xfrm>
          <a:prstGeom prst="rect">
            <a:avLst/>
          </a:prstGeom>
          <a:noFill/>
        </p:spPr>
        <p:txBody>
          <a:bodyPr wrap="square" lIns="45720" tIns="18288" rIns="45720" bIns="18288" anchor="ctr">
            <a:spAutoFit/>
          </a:bodyPr>
          <a:lstStyle/>
          <a:p>
            <a:pPr algn="ctr"/>
            <a:r>
              <a:rPr sz="1200" b="1" i="0">
                <a:solidFill>
                  <a:srgbClr val="D0101A"/>
                </a:solidFill>
                <a:latin typeface="Arial"/>
              </a:rPr>
              <a:t>Caddy 2.8</a:t>
            </a:r>
          </a:p>
          <a:p>
            <a:pPr algn="ctr"/>
            <a:r>
              <a:rPr sz="900" b="0" i="0">
                <a:solidFill>
                  <a:srgbClr val="333333"/>
                </a:solidFill>
                <a:latin typeface="Arial"/>
              </a:rPr>
              <a:t>:80 / :443</a:t>
            </a:r>
          </a:p>
          <a:p>
            <a:pPr algn="ctr"/>
            <a:r>
              <a:rPr sz="900" b="0" i="0">
                <a:solidFill>
                  <a:srgbClr val="333333"/>
                </a:solidFill>
                <a:latin typeface="Arial"/>
              </a:rPr>
              <a:t>TLS (Let's Encrypt)</a:t>
            </a:r>
          </a:p>
          <a:p>
            <a:pPr algn="ctr"/>
            <a:r>
              <a:rPr sz="900" b="0" i="0">
                <a:solidFill>
                  <a:srgbClr val="333333"/>
                </a:solidFill>
                <a:latin typeface="Arial"/>
              </a:rPr>
              <a:t>prod overlay only</a:t>
            </a:r>
          </a:p>
        </p:txBody>
      </p:sp>
      <p:sp>
        <p:nvSpPr>
          <p:cNvPr id="14" name="TextBox 13"/>
          <p:cNvSpPr txBox="1"/>
          <p:nvPr/>
        </p:nvSpPr>
        <p:spPr>
          <a:xfrm>
            <a:off x="2240280" y="3749039"/>
            <a:ext cx="1554480" cy="868680"/>
          </a:xfrm>
          <a:prstGeom prst="rect">
            <a:avLst/>
          </a:prstGeom>
          <a:noFill/>
        </p:spPr>
        <p:txBody>
          <a:bodyPr wrap="square" lIns="45720" tIns="18288" rIns="45720" bIns="18288" anchor="ctr">
            <a:spAutoFit/>
          </a:bodyPr>
          <a:lstStyle/>
          <a:p>
            <a:pPr algn="l"/>
            <a:r>
              <a:rPr sz="850" b="0" i="0">
                <a:solidFill>
                  <a:srgbClr val="333333"/>
                </a:solidFill>
                <a:latin typeface="Arial"/>
              </a:rPr>
              <a:t>/  → frontend:80</a:t>
            </a:r>
          </a:p>
          <a:p>
            <a:pPr algn="l"/>
            <a:r>
              <a:rPr sz="850" b="0" i="0">
                <a:solidFill>
                  <a:srgbClr val="333333"/>
                </a:solidFill>
                <a:latin typeface="Arial"/>
              </a:rPr>
              <a:t>/api/* → backend:8000</a:t>
            </a:r>
          </a:p>
          <a:p>
            <a:pPr algn="l"/>
            <a:r>
              <a:rPr sz="850" b="0" i="0">
                <a:solidFill>
                  <a:srgbClr val="333333"/>
                </a:solidFill>
                <a:latin typeface="Arial"/>
              </a:rPr>
              <a:t>/grafana/* → grafana:3000</a:t>
            </a:r>
          </a:p>
        </p:txBody>
      </p:sp>
      <p:cxnSp>
        <p:nvCxnSpPr>
          <p:cNvPr id="15" name="Connector 14"/>
          <p:cNvCxnSpPr/>
          <p:nvPr/>
        </p:nvCxnSpPr>
        <p:spPr>
          <a:xfrm>
            <a:off x="3657600" y="3200400"/>
            <a:ext cx="320039" cy="0"/>
          </a:xfrm>
          <a:prstGeom prst="line">
            <a:avLst/>
          </a:prstGeom>
          <a:ln w="22225">
            <a:solidFill>
              <a:srgbClr val="D0101A"/>
            </a:solidFill>
            <a:tailEnd type="triangle"/>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3977639" y="1783080"/>
            <a:ext cx="6172200" cy="2788920"/>
          </a:xfrm>
          <a:prstGeom prst="roundRect">
            <a:avLst>
              <a:gd name="adj" fmla="val 5000"/>
            </a:avLst>
          </a:prstGeom>
          <a:noFill/>
          <a:ln w="25400">
            <a:solidFill>
              <a:srgbClr val="2FA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069080" y="1801368"/>
            <a:ext cx="5943600" cy="237744"/>
          </a:xfrm>
          <a:prstGeom prst="rect">
            <a:avLst/>
          </a:prstGeom>
          <a:noFill/>
        </p:spPr>
        <p:txBody>
          <a:bodyPr wrap="square" lIns="45720" tIns="18288" rIns="45720" bIns="18288" anchor="ctr">
            <a:spAutoFit/>
          </a:bodyPr>
          <a:lstStyle/>
          <a:p>
            <a:pPr algn="l"/>
            <a:r>
              <a:rPr sz="900" b="1" i="0">
                <a:solidFill>
                  <a:srgbClr val="2FA4E7"/>
                </a:solidFill>
                <a:latin typeface="Arial"/>
              </a:rPr>
              <a:t>asset_management_network (bridge): containers resolve each other by name</a:t>
            </a:r>
          </a:p>
        </p:txBody>
      </p:sp>
      <p:sp>
        <p:nvSpPr>
          <p:cNvPr id="18" name="Rounded Rectangle 17"/>
          <p:cNvSpPr/>
          <p:nvPr/>
        </p:nvSpPr>
        <p:spPr>
          <a:xfrm>
            <a:off x="4069080" y="2084831"/>
            <a:ext cx="1444752" cy="77724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105656" y="2103120"/>
            <a:ext cx="1371600" cy="740664"/>
          </a:xfrm>
          <a:prstGeom prst="rect">
            <a:avLst/>
          </a:prstGeom>
          <a:noFill/>
        </p:spPr>
        <p:txBody>
          <a:bodyPr wrap="square" lIns="45720" tIns="18288" rIns="45720" bIns="18288" anchor="ctr">
            <a:spAutoFit/>
          </a:bodyPr>
          <a:lstStyle/>
          <a:p>
            <a:pPr algn="ctr"/>
            <a:r>
              <a:rPr sz="1100" b="1" i="0">
                <a:solidFill>
                  <a:srgbClr val="0A1045"/>
                </a:solidFill>
                <a:latin typeface="Arial"/>
              </a:rPr>
              <a:t>frontend</a:t>
            </a:r>
          </a:p>
          <a:p>
            <a:pPr algn="ctr"/>
            <a:r>
              <a:rPr sz="850" b="0" i="0">
                <a:solidFill>
                  <a:srgbClr val="333333"/>
                </a:solidFill>
                <a:latin typeface="Arial"/>
              </a:rPr>
              <a:t>nginx, React SPA</a:t>
            </a:r>
          </a:p>
          <a:p>
            <a:pPr algn="ctr"/>
            <a:r>
              <a:rPr sz="850" b="0" i="0">
                <a:solidFill>
                  <a:srgbClr val="333333"/>
                </a:solidFill>
                <a:latin typeface="Arial"/>
              </a:rPr>
              <a:t>:80 (dev → :3000)</a:t>
            </a:r>
          </a:p>
        </p:txBody>
      </p:sp>
      <p:sp>
        <p:nvSpPr>
          <p:cNvPr id="20" name="Rounded Rectangle 19"/>
          <p:cNvSpPr/>
          <p:nvPr/>
        </p:nvSpPr>
        <p:spPr>
          <a:xfrm>
            <a:off x="5605272" y="2084831"/>
            <a:ext cx="1444752" cy="77724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641848" y="2103120"/>
            <a:ext cx="1371600" cy="740664"/>
          </a:xfrm>
          <a:prstGeom prst="rect">
            <a:avLst/>
          </a:prstGeom>
          <a:noFill/>
        </p:spPr>
        <p:txBody>
          <a:bodyPr wrap="square" lIns="45720" tIns="18288" rIns="45720" bIns="18288" anchor="ctr">
            <a:spAutoFit/>
          </a:bodyPr>
          <a:lstStyle/>
          <a:p>
            <a:pPr algn="ctr"/>
            <a:r>
              <a:rPr sz="1100" b="1" i="0">
                <a:solidFill>
                  <a:srgbClr val="0A1045"/>
                </a:solidFill>
                <a:latin typeface="Arial"/>
              </a:rPr>
              <a:t>backend</a:t>
            </a:r>
          </a:p>
          <a:p>
            <a:pPr algn="ctr"/>
            <a:r>
              <a:rPr sz="850" b="0" i="0">
                <a:solidFill>
                  <a:srgbClr val="333333"/>
                </a:solidFill>
                <a:latin typeface="Arial"/>
              </a:rPr>
              <a:t>FastAPI / uvicorn</a:t>
            </a:r>
          </a:p>
          <a:p>
            <a:pPr algn="ctr"/>
            <a:r>
              <a:rPr sz="850" b="0" i="0">
                <a:solidFill>
                  <a:srgbClr val="333333"/>
                </a:solidFill>
                <a:latin typeface="Arial"/>
              </a:rPr>
              <a:t>:8000</a:t>
            </a:r>
          </a:p>
        </p:txBody>
      </p:sp>
      <p:sp>
        <p:nvSpPr>
          <p:cNvPr id="22" name="Rounded Rectangle 21"/>
          <p:cNvSpPr/>
          <p:nvPr/>
        </p:nvSpPr>
        <p:spPr>
          <a:xfrm>
            <a:off x="7141464" y="2084831"/>
            <a:ext cx="1444752" cy="77724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178040" y="2103120"/>
            <a:ext cx="1371600" cy="740664"/>
          </a:xfrm>
          <a:prstGeom prst="rect">
            <a:avLst/>
          </a:prstGeom>
          <a:noFill/>
        </p:spPr>
        <p:txBody>
          <a:bodyPr wrap="square" lIns="45720" tIns="18288" rIns="45720" bIns="18288" anchor="ctr">
            <a:spAutoFit/>
          </a:bodyPr>
          <a:lstStyle/>
          <a:p>
            <a:pPr algn="ctr"/>
            <a:r>
              <a:rPr sz="1100" b="1" i="0">
                <a:solidFill>
                  <a:srgbClr val="0A1045"/>
                </a:solidFill>
                <a:latin typeface="Arial"/>
              </a:rPr>
              <a:t>ml-service</a:t>
            </a:r>
          </a:p>
          <a:p>
            <a:pPr algn="ctr"/>
            <a:r>
              <a:rPr sz="850" b="0" i="0">
                <a:solidFill>
                  <a:srgbClr val="333333"/>
                </a:solidFill>
                <a:latin typeface="Arial"/>
              </a:rPr>
              <a:t>FastAPI</a:t>
            </a:r>
          </a:p>
          <a:p>
            <a:pPr algn="ctr"/>
            <a:r>
              <a:rPr sz="850" b="0" i="0">
                <a:solidFill>
                  <a:srgbClr val="333333"/>
                </a:solidFill>
                <a:latin typeface="Arial"/>
              </a:rPr>
              <a:t>:8000 (dev → :8001)</a:t>
            </a:r>
          </a:p>
        </p:txBody>
      </p:sp>
      <p:sp>
        <p:nvSpPr>
          <p:cNvPr id="24" name="Rounded Rectangle 23"/>
          <p:cNvSpPr/>
          <p:nvPr/>
        </p:nvSpPr>
        <p:spPr>
          <a:xfrm>
            <a:off x="8677656" y="2084831"/>
            <a:ext cx="1444752" cy="77724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714232" y="2103120"/>
            <a:ext cx="1371600" cy="740664"/>
          </a:xfrm>
          <a:prstGeom prst="rect">
            <a:avLst/>
          </a:prstGeom>
          <a:noFill/>
        </p:spPr>
        <p:txBody>
          <a:bodyPr wrap="square" lIns="45720" tIns="18288" rIns="45720" bIns="18288" anchor="ctr">
            <a:spAutoFit/>
          </a:bodyPr>
          <a:lstStyle/>
          <a:p>
            <a:pPr algn="ctr"/>
            <a:r>
              <a:rPr sz="1100" b="1" i="0">
                <a:solidFill>
                  <a:srgbClr val="0A1045"/>
                </a:solidFill>
                <a:latin typeface="Arial"/>
              </a:rPr>
              <a:t>rag-service</a:t>
            </a:r>
          </a:p>
          <a:p>
            <a:pPr algn="ctr"/>
            <a:r>
              <a:rPr sz="850" b="0" i="0">
                <a:solidFill>
                  <a:srgbClr val="333333"/>
                </a:solidFill>
                <a:latin typeface="Arial"/>
              </a:rPr>
              <a:t>FastAPI + bge-m3</a:t>
            </a:r>
          </a:p>
          <a:p>
            <a:pPr algn="ctr"/>
            <a:r>
              <a:rPr sz="850" b="0" i="0">
                <a:solidFill>
                  <a:srgbClr val="333333"/>
                </a:solidFill>
                <a:latin typeface="Arial"/>
              </a:rPr>
              <a:t>:8003</a:t>
            </a:r>
          </a:p>
        </p:txBody>
      </p:sp>
      <p:sp>
        <p:nvSpPr>
          <p:cNvPr id="26" name="Rounded Rectangle 25"/>
          <p:cNvSpPr/>
          <p:nvPr/>
        </p:nvSpPr>
        <p:spPr>
          <a:xfrm>
            <a:off x="4069080" y="2953512"/>
            <a:ext cx="1444752" cy="77724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105656" y="2971800"/>
            <a:ext cx="1371600" cy="740664"/>
          </a:xfrm>
          <a:prstGeom prst="rect">
            <a:avLst/>
          </a:prstGeom>
          <a:noFill/>
        </p:spPr>
        <p:txBody>
          <a:bodyPr wrap="square" lIns="45720" tIns="18288" rIns="45720" bIns="18288" anchor="ctr">
            <a:spAutoFit/>
          </a:bodyPr>
          <a:lstStyle/>
          <a:p>
            <a:pPr algn="ctr"/>
            <a:r>
              <a:rPr sz="1100" b="1" i="0">
                <a:solidFill>
                  <a:srgbClr val="0A1045"/>
                </a:solidFill>
                <a:latin typeface="Arial"/>
              </a:rPr>
              <a:t>celery_worker</a:t>
            </a:r>
          </a:p>
          <a:p>
            <a:pPr algn="ctr"/>
            <a:r>
              <a:rPr sz="850" b="0" i="0">
                <a:solidFill>
                  <a:srgbClr val="333333"/>
                </a:solidFill>
                <a:latin typeface="Arial"/>
              </a:rPr>
              <a:t>backend image</a:t>
            </a:r>
          </a:p>
          <a:p>
            <a:pPr algn="ctr"/>
            <a:r>
              <a:rPr sz="850" b="0" i="0">
                <a:solidFill>
                  <a:srgbClr val="333333"/>
                </a:solidFill>
                <a:latin typeface="Arial"/>
              </a:rPr>
              <a:t>Celery worker</a:t>
            </a:r>
          </a:p>
        </p:txBody>
      </p:sp>
      <p:sp>
        <p:nvSpPr>
          <p:cNvPr id="28" name="Rounded Rectangle 27"/>
          <p:cNvSpPr/>
          <p:nvPr/>
        </p:nvSpPr>
        <p:spPr>
          <a:xfrm>
            <a:off x="5605272" y="2953512"/>
            <a:ext cx="1444752" cy="77724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641848" y="2971800"/>
            <a:ext cx="1371600" cy="740664"/>
          </a:xfrm>
          <a:prstGeom prst="rect">
            <a:avLst/>
          </a:prstGeom>
          <a:noFill/>
        </p:spPr>
        <p:txBody>
          <a:bodyPr wrap="square" lIns="45720" tIns="18288" rIns="45720" bIns="18288" anchor="ctr">
            <a:spAutoFit/>
          </a:bodyPr>
          <a:lstStyle/>
          <a:p>
            <a:pPr algn="ctr"/>
            <a:r>
              <a:rPr sz="1100" b="1" i="0">
                <a:solidFill>
                  <a:srgbClr val="0A1045"/>
                </a:solidFill>
                <a:latin typeface="Arial"/>
              </a:rPr>
              <a:t>celery_beat</a:t>
            </a:r>
          </a:p>
          <a:p>
            <a:pPr algn="ctr"/>
            <a:r>
              <a:rPr sz="850" b="0" i="0">
                <a:solidFill>
                  <a:srgbClr val="333333"/>
                </a:solidFill>
                <a:latin typeface="Arial"/>
              </a:rPr>
              <a:t>backend image</a:t>
            </a:r>
          </a:p>
          <a:p>
            <a:pPr algn="ctr"/>
            <a:r>
              <a:rPr sz="850" b="0" i="0">
                <a:solidFill>
                  <a:srgbClr val="333333"/>
                </a:solidFill>
                <a:latin typeface="Arial"/>
              </a:rPr>
              <a:t>Celery scheduler</a:t>
            </a:r>
          </a:p>
        </p:txBody>
      </p:sp>
      <p:sp>
        <p:nvSpPr>
          <p:cNvPr id="30" name="Rounded Rectangle 29"/>
          <p:cNvSpPr/>
          <p:nvPr/>
        </p:nvSpPr>
        <p:spPr>
          <a:xfrm>
            <a:off x="7141464" y="2953512"/>
            <a:ext cx="1444752" cy="77724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7178040" y="2971800"/>
            <a:ext cx="1371600" cy="740664"/>
          </a:xfrm>
          <a:prstGeom prst="rect">
            <a:avLst/>
          </a:prstGeom>
          <a:noFill/>
        </p:spPr>
        <p:txBody>
          <a:bodyPr wrap="square" lIns="45720" tIns="18288" rIns="45720" bIns="18288" anchor="ctr">
            <a:spAutoFit/>
          </a:bodyPr>
          <a:lstStyle/>
          <a:p>
            <a:pPr algn="ctr"/>
            <a:r>
              <a:rPr sz="1100" b="1" i="0">
                <a:solidFill>
                  <a:srgbClr val="0A1045"/>
                </a:solidFill>
                <a:latin typeface="Arial"/>
              </a:rPr>
              <a:t>rabbitmq</a:t>
            </a:r>
          </a:p>
          <a:p>
            <a:pPr algn="ctr"/>
            <a:r>
              <a:rPr sz="850" b="0" i="0">
                <a:solidFill>
                  <a:srgbClr val="333333"/>
                </a:solidFill>
                <a:latin typeface="Arial"/>
              </a:rPr>
              <a:t>AMQP :5672</a:t>
            </a:r>
          </a:p>
          <a:p>
            <a:pPr algn="ctr"/>
            <a:r>
              <a:rPr sz="850" b="0" i="0">
                <a:solidFill>
                  <a:srgbClr val="333333"/>
                </a:solidFill>
                <a:latin typeface="Arial"/>
              </a:rPr>
              <a:t>(mgmt :15672)</a:t>
            </a:r>
          </a:p>
        </p:txBody>
      </p:sp>
      <p:sp>
        <p:nvSpPr>
          <p:cNvPr id="32" name="Rounded Rectangle 31"/>
          <p:cNvSpPr/>
          <p:nvPr/>
        </p:nvSpPr>
        <p:spPr>
          <a:xfrm>
            <a:off x="8677656" y="2953512"/>
            <a:ext cx="1444752" cy="77724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714232" y="2971800"/>
            <a:ext cx="1371600" cy="740664"/>
          </a:xfrm>
          <a:prstGeom prst="rect">
            <a:avLst/>
          </a:prstGeom>
          <a:noFill/>
        </p:spPr>
        <p:txBody>
          <a:bodyPr wrap="square" lIns="45720" tIns="18288" rIns="45720" bIns="18288" anchor="ctr">
            <a:spAutoFit/>
          </a:bodyPr>
          <a:lstStyle/>
          <a:p>
            <a:pPr algn="ctr"/>
            <a:r>
              <a:rPr sz="1100" b="1" i="0">
                <a:solidFill>
                  <a:srgbClr val="0A1045"/>
                </a:solidFill>
                <a:latin typeface="Arial"/>
              </a:rPr>
              <a:t>minio</a:t>
            </a:r>
          </a:p>
          <a:p>
            <a:pPr algn="ctr"/>
            <a:r>
              <a:rPr sz="850" b="0" i="0">
                <a:solidFill>
                  <a:srgbClr val="333333"/>
                </a:solidFill>
                <a:latin typeface="Arial"/>
              </a:rPr>
              <a:t>S3 API :9000</a:t>
            </a:r>
          </a:p>
          <a:p>
            <a:pPr algn="ctr"/>
            <a:r>
              <a:rPr sz="850" b="0" i="0">
                <a:solidFill>
                  <a:srgbClr val="333333"/>
                </a:solidFill>
                <a:latin typeface="Arial"/>
              </a:rPr>
              <a:t>console :9001</a:t>
            </a:r>
          </a:p>
        </p:txBody>
      </p:sp>
      <p:sp>
        <p:nvSpPr>
          <p:cNvPr id="34" name="Rounded Rectangle 33"/>
          <p:cNvSpPr/>
          <p:nvPr/>
        </p:nvSpPr>
        <p:spPr>
          <a:xfrm>
            <a:off x="4069080" y="3822191"/>
            <a:ext cx="2980944" cy="658368"/>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105656" y="3840479"/>
            <a:ext cx="2907792" cy="621792"/>
          </a:xfrm>
          <a:prstGeom prst="rect">
            <a:avLst/>
          </a:prstGeom>
          <a:noFill/>
        </p:spPr>
        <p:txBody>
          <a:bodyPr wrap="square" lIns="45720" tIns="18288" rIns="45720" bIns="18288" anchor="ctr">
            <a:spAutoFit/>
          </a:bodyPr>
          <a:lstStyle/>
          <a:p>
            <a:pPr algn="ctr"/>
            <a:r>
              <a:rPr sz="1100" b="1" i="0">
                <a:solidFill>
                  <a:srgbClr val="7C4DDB"/>
                </a:solidFill>
                <a:latin typeface="Arial"/>
              </a:rPr>
              <a:t>postgres</a:t>
            </a:r>
          </a:p>
          <a:p>
            <a:pPr algn="ctr"/>
            <a:r>
              <a:rPr sz="850" b="0" i="0">
                <a:solidFill>
                  <a:srgbClr val="333333"/>
                </a:solidFill>
                <a:latin typeface="Arial"/>
              </a:rPr>
              <a:t>pgvector/pg15 :5432 · volume postgres_data</a:t>
            </a:r>
          </a:p>
        </p:txBody>
      </p:sp>
      <p:sp>
        <p:nvSpPr>
          <p:cNvPr id="36" name="Rounded Rectangle 35"/>
          <p:cNvSpPr/>
          <p:nvPr/>
        </p:nvSpPr>
        <p:spPr>
          <a:xfrm>
            <a:off x="7141464" y="3822191"/>
            <a:ext cx="1444752" cy="658368"/>
          </a:xfrm>
          <a:prstGeom prst="roundRect">
            <a:avLst>
              <a:gd name="adj" fmla="val 12000"/>
            </a:avLst>
          </a:prstGeom>
          <a:noFill/>
          <a:ln w="222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7178040" y="3840479"/>
            <a:ext cx="1371600" cy="621792"/>
          </a:xfrm>
          <a:prstGeom prst="rect">
            <a:avLst/>
          </a:prstGeom>
          <a:noFill/>
        </p:spPr>
        <p:txBody>
          <a:bodyPr wrap="square" lIns="45720" tIns="18288" rIns="45720" bIns="18288" anchor="ctr">
            <a:spAutoFit/>
          </a:bodyPr>
          <a:lstStyle/>
          <a:p>
            <a:pPr algn="ctr"/>
            <a:r>
              <a:rPr sz="1100" b="1" i="0">
                <a:solidFill>
                  <a:srgbClr val="7A7A7A"/>
                </a:solidFill>
                <a:latin typeface="Arial"/>
              </a:rPr>
              <a:t>pgadmin</a:t>
            </a:r>
          </a:p>
          <a:p>
            <a:pPr algn="ctr"/>
            <a:r>
              <a:rPr sz="850" b="0" i="0">
                <a:solidFill>
                  <a:srgbClr val="333333"/>
                </a:solidFill>
                <a:latin typeface="Arial"/>
              </a:rPr>
              <a:t>dev only, host :5050</a:t>
            </a:r>
          </a:p>
        </p:txBody>
      </p:sp>
      <p:sp>
        <p:nvSpPr>
          <p:cNvPr id="38" name="Rounded Rectangle 37"/>
          <p:cNvSpPr/>
          <p:nvPr/>
        </p:nvSpPr>
        <p:spPr>
          <a:xfrm>
            <a:off x="8677656" y="3822191"/>
            <a:ext cx="1444752" cy="658368"/>
          </a:xfrm>
          <a:prstGeom prst="roundRect">
            <a:avLst>
              <a:gd name="adj" fmla="val 12000"/>
            </a:avLst>
          </a:prstGeom>
          <a:noFill/>
          <a:ln w="22225">
            <a:solidFill>
              <a:srgbClr val="7C4DD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8714232" y="3840479"/>
            <a:ext cx="1371600" cy="621792"/>
          </a:xfrm>
          <a:prstGeom prst="rect">
            <a:avLst/>
          </a:prstGeom>
          <a:noFill/>
        </p:spPr>
        <p:txBody>
          <a:bodyPr wrap="square" lIns="45720" tIns="18288" rIns="45720" bIns="18288" anchor="ctr">
            <a:spAutoFit/>
          </a:bodyPr>
          <a:lstStyle/>
          <a:p>
            <a:pPr algn="ctr"/>
            <a:r>
              <a:rPr sz="1100" b="1" i="0">
                <a:solidFill>
                  <a:srgbClr val="7C4DDB"/>
                </a:solidFill>
                <a:latin typeface="Arial"/>
              </a:rPr>
              <a:t>models/*.pkl</a:t>
            </a:r>
          </a:p>
          <a:p>
            <a:pPr algn="ctr"/>
            <a:r>
              <a:rPr sz="850" b="0" i="0">
                <a:solidFill>
                  <a:srgbClr val="333333"/>
                </a:solidFill>
                <a:latin typeface="Arial"/>
              </a:rPr>
              <a:t>bind mount, read-only</a:t>
            </a:r>
          </a:p>
        </p:txBody>
      </p:sp>
      <p:sp>
        <p:nvSpPr>
          <p:cNvPr id="40" name="Rounded Rectangle 39"/>
          <p:cNvSpPr/>
          <p:nvPr/>
        </p:nvSpPr>
        <p:spPr>
          <a:xfrm>
            <a:off x="3977639" y="4709160"/>
            <a:ext cx="3017520" cy="914400"/>
          </a:xfrm>
          <a:prstGeom prst="roundRect">
            <a:avLst>
              <a:gd name="adj" fmla="val 6000"/>
            </a:avLst>
          </a:prstGeom>
          <a:noFill/>
          <a:ln w="25400">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069080" y="4727448"/>
            <a:ext cx="2834640" cy="237744"/>
          </a:xfrm>
          <a:prstGeom prst="rect">
            <a:avLst/>
          </a:prstGeom>
          <a:noFill/>
        </p:spPr>
        <p:txBody>
          <a:bodyPr wrap="square" lIns="45720" tIns="18288" rIns="45720" bIns="18288" anchor="ctr">
            <a:spAutoFit/>
          </a:bodyPr>
          <a:lstStyle/>
          <a:p>
            <a:pPr algn="l"/>
            <a:r>
              <a:rPr sz="850" b="1" i="0">
                <a:solidFill>
                  <a:srgbClr val="F39C2C"/>
                </a:solidFill>
                <a:latin typeface="Arial"/>
              </a:rPr>
              <a:t>monitoring_network (compose -f monitoring)</a:t>
            </a:r>
          </a:p>
        </p:txBody>
      </p:sp>
      <p:sp>
        <p:nvSpPr>
          <p:cNvPr id="42" name="TextBox 41"/>
          <p:cNvSpPr txBox="1"/>
          <p:nvPr/>
        </p:nvSpPr>
        <p:spPr>
          <a:xfrm>
            <a:off x="4069080" y="4983480"/>
            <a:ext cx="2834640" cy="640080"/>
          </a:xfrm>
          <a:prstGeom prst="rect">
            <a:avLst/>
          </a:prstGeom>
          <a:noFill/>
        </p:spPr>
        <p:txBody>
          <a:bodyPr wrap="square" lIns="45720" tIns="18288" rIns="45720" bIns="18288" anchor="ctr">
            <a:spAutoFit/>
          </a:bodyPr>
          <a:lstStyle/>
          <a:p>
            <a:pPr algn="l"/>
            <a:r>
              <a:rPr sz="950" b="0" i="0">
                <a:solidFill>
                  <a:srgbClr val="000000"/>
                </a:solidFill>
                <a:latin typeface="Arial"/>
              </a:rPr>
              <a:t>Prometheus :9095 · Pushgateway :9091</a:t>
            </a:r>
          </a:p>
          <a:p>
            <a:pPr algn="l"/>
            <a:r>
              <a:rPr sz="950" b="0" i="0">
                <a:solidFill>
                  <a:srgbClr val="000000"/>
                </a:solidFill>
                <a:latin typeface="Arial"/>
              </a:rPr>
              <a:t>Grafana :3001 · Trivy scanner</a:t>
            </a:r>
          </a:p>
        </p:txBody>
      </p:sp>
      <p:sp>
        <p:nvSpPr>
          <p:cNvPr id="43" name="Rounded Rectangle 42"/>
          <p:cNvSpPr/>
          <p:nvPr/>
        </p:nvSpPr>
        <p:spPr>
          <a:xfrm>
            <a:off x="7132320" y="4709160"/>
            <a:ext cx="3017520" cy="914400"/>
          </a:xfrm>
          <a:prstGeom prst="roundRect">
            <a:avLst>
              <a:gd name="adj" fmla="val 6000"/>
            </a:avLst>
          </a:prstGeom>
          <a:noFill/>
          <a:ln w="25400">
            <a:solidFill>
              <a:srgbClr val="7C4DD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7223760" y="4727448"/>
            <a:ext cx="2834640" cy="237744"/>
          </a:xfrm>
          <a:prstGeom prst="rect">
            <a:avLst/>
          </a:prstGeom>
          <a:noFill/>
        </p:spPr>
        <p:txBody>
          <a:bodyPr wrap="square" lIns="45720" tIns="18288" rIns="45720" bIns="18288" anchor="ctr">
            <a:spAutoFit/>
          </a:bodyPr>
          <a:lstStyle/>
          <a:p>
            <a:pPr algn="l"/>
            <a:r>
              <a:rPr sz="850" b="1" i="0">
                <a:solidFill>
                  <a:srgbClr val="7C4DDB"/>
                </a:solidFill>
                <a:latin typeface="Arial"/>
              </a:rPr>
              <a:t>on-demand stacks (own compose files)</a:t>
            </a:r>
          </a:p>
        </p:txBody>
      </p:sp>
      <p:sp>
        <p:nvSpPr>
          <p:cNvPr id="45" name="TextBox 44"/>
          <p:cNvSpPr txBox="1"/>
          <p:nvPr/>
        </p:nvSpPr>
        <p:spPr>
          <a:xfrm>
            <a:off x="7223760" y="4983480"/>
            <a:ext cx="2834640" cy="640080"/>
          </a:xfrm>
          <a:prstGeom prst="rect">
            <a:avLst/>
          </a:prstGeom>
          <a:noFill/>
        </p:spPr>
        <p:txBody>
          <a:bodyPr wrap="square" lIns="45720" tIns="18288" rIns="45720" bIns="18288" anchor="ctr">
            <a:spAutoFit/>
          </a:bodyPr>
          <a:lstStyle/>
          <a:p>
            <a:pPr algn="l"/>
            <a:r>
              <a:rPr sz="950" b="0" i="0">
                <a:solidFill>
                  <a:srgbClr val="000000"/>
                </a:solidFill>
                <a:latin typeface="Arial"/>
              </a:rPr>
              <a:t>SonarQube CE :9090 + Postgres 15</a:t>
            </a:r>
          </a:p>
          <a:p>
            <a:pPr algn="l"/>
            <a:r>
              <a:rPr sz="950" b="0" i="0">
                <a:solidFill>
                  <a:srgbClr val="000000"/>
                </a:solidFill>
                <a:latin typeface="Arial"/>
              </a:rPr>
              <a:t>Jupyter notebooks :8888 (offline ML research)</a:t>
            </a:r>
          </a:p>
        </p:txBody>
      </p:sp>
      <p:sp>
        <p:nvSpPr>
          <p:cNvPr id="46" name="Rounded Rectangle 45"/>
          <p:cNvSpPr/>
          <p:nvPr/>
        </p:nvSpPr>
        <p:spPr>
          <a:xfrm>
            <a:off x="2286000" y="5760720"/>
            <a:ext cx="7863840" cy="594360"/>
          </a:xfrm>
          <a:prstGeom prst="roundRect">
            <a:avLst>
              <a:gd name="adj" fmla="val 10000"/>
            </a:avLst>
          </a:prstGeom>
          <a:noFill/>
          <a:ln w="19050">
            <a:solidFill>
              <a:srgbClr val="8CC6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2377440" y="5760720"/>
            <a:ext cx="7680960" cy="594360"/>
          </a:xfrm>
          <a:prstGeom prst="rect">
            <a:avLst/>
          </a:prstGeom>
          <a:noFill/>
        </p:spPr>
        <p:txBody>
          <a:bodyPr wrap="square" lIns="45720" tIns="18288" rIns="45720" bIns="18288" anchor="ctr">
            <a:spAutoFit/>
          </a:bodyPr>
          <a:lstStyle/>
          <a:p>
            <a:pPr algn="ctr"/>
            <a:r>
              <a:rPr sz="1000" b="1" i="0">
                <a:solidFill>
                  <a:srgbClr val="8CC63F"/>
                </a:solidFill>
                <a:latin typeface="Arial"/>
              </a:rPr>
              <a:t>Prod overlay: </a:t>
            </a:r>
            <a:r>
              <a:rPr sz="1000" b="0" i="0">
                <a:solidFill>
                  <a:srgbClr val="000000"/>
                </a:solidFill>
                <a:latin typeface="Arial"/>
              </a:rPr>
              <a:t>every service un-published except Caddy; images pulled from the container registry (pull_policy: always).</a:t>
            </a:r>
          </a:p>
        </p:txBody>
      </p:sp>
      <p:sp>
        <p:nvSpPr>
          <p:cNvPr id="48" name="Rounded Rectangle 47"/>
          <p:cNvSpPr/>
          <p:nvPr/>
        </p:nvSpPr>
        <p:spPr>
          <a:xfrm>
            <a:off x="10561320" y="2011680"/>
            <a:ext cx="1463040" cy="86868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10597896" y="2029968"/>
            <a:ext cx="1389888" cy="832103"/>
          </a:xfrm>
          <a:prstGeom prst="rect">
            <a:avLst/>
          </a:prstGeom>
          <a:noFill/>
        </p:spPr>
        <p:txBody>
          <a:bodyPr wrap="square" lIns="45720" tIns="18288" rIns="45720" bIns="18288" anchor="ctr">
            <a:spAutoFit/>
          </a:bodyPr>
          <a:lstStyle/>
          <a:p>
            <a:pPr algn="ctr"/>
            <a:r>
              <a:rPr sz="1100" b="1" i="0">
                <a:solidFill>
                  <a:srgbClr val="7C4DDB"/>
                </a:solidFill>
                <a:latin typeface="Arial"/>
              </a:rPr>
              <a:t>Groq LLM API</a:t>
            </a:r>
          </a:p>
          <a:p>
            <a:pPr algn="ctr"/>
            <a:r>
              <a:rPr sz="900" b="0" i="0">
                <a:solidFill>
                  <a:srgbClr val="333333"/>
                </a:solidFill>
                <a:latin typeface="Arial"/>
              </a:rPr>
              <a:t>HTTPS 443</a:t>
            </a:r>
          </a:p>
          <a:p>
            <a:pPr algn="ctr"/>
            <a:r>
              <a:rPr sz="900" b="0" i="0">
                <a:solidFill>
                  <a:srgbClr val="333333"/>
                </a:solidFill>
                <a:latin typeface="Arial"/>
              </a:rPr>
              <a:t>from backend</a:t>
            </a:r>
          </a:p>
        </p:txBody>
      </p:sp>
      <p:sp>
        <p:nvSpPr>
          <p:cNvPr id="50" name="Rounded Rectangle 49"/>
          <p:cNvSpPr/>
          <p:nvPr/>
        </p:nvSpPr>
        <p:spPr>
          <a:xfrm>
            <a:off x="10561320" y="3154680"/>
            <a:ext cx="1463040" cy="86868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10597896" y="3172968"/>
            <a:ext cx="1389888" cy="832103"/>
          </a:xfrm>
          <a:prstGeom prst="rect">
            <a:avLst/>
          </a:prstGeom>
          <a:noFill/>
        </p:spPr>
        <p:txBody>
          <a:bodyPr wrap="square" lIns="45720" tIns="18288" rIns="45720" bIns="18288" anchor="ctr">
            <a:spAutoFit/>
          </a:bodyPr>
          <a:lstStyle/>
          <a:p>
            <a:pPr algn="ctr"/>
            <a:r>
              <a:rPr sz="1100" b="1" i="0">
                <a:solidFill>
                  <a:srgbClr val="7C4DDB"/>
                </a:solidFill>
                <a:latin typeface="Arial"/>
              </a:rPr>
              <a:t>SMTP (Gmail)</a:t>
            </a:r>
          </a:p>
          <a:p>
            <a:pPr algn="ctr"/>
            <a:r>
              <a:rPr sz="900" b="0" i="0">
                <a:solidFill>
                  <a:srgbClr val="333333"/>
                </a:solidFill>
                <a:latin typeface="Arial"/>
              </a:rPr>
              <a:t>:587</a:t>
            </a:r>
          </a:p>
          <a:p>
            <a:pPr algn="ctr"/>
            <a:r>
              <a:rPr sz="900" b="0" i="0">
                <a:solidFill>
                  <a:srgbClr val="333333"/>
                </a:solidFill>
                <a:latin typeface="Arial"/>
              </a:rPr>
              <a:t>from Celery</a:t>
            </a:r>
          </a:p>
        </p:txBody>
      </p:sp>
      <p:sp>
        <p:nvSpPr>
          <p:cNvPr id="52" name="Rounded Rectangle 51"/>
          <p:cNvSpPr/>
          <p:nvPr/>
        </p:nvSpPr>
        <p:spPr>
          <a:xfrm>
            <a:off x="10561320" y="4297680"/>
            <a:ext cx="1463040" cy="86868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10597896" y="4315968"/>
            <a:ext cx="1389888" cy="832103"/>
          </a:xfrm>
          <a:prstGeom prst="rect">
            <a:avLst/>
          </a:prstGeom>
          <a:noFill/>
        </p:spPr>
        <p:txBody>
          <a:bodyPr wrap="square" lIns="45720" tIns="18288" rIns="45720" bIns="18288" anchor="ctr">
            <a:spAutoFit/>
          </a:bodyPr>
          <a:lstStyle/>
          <a:p>
            <a:pPr algn="ctr"/>
            <a:r>
              <a:rPr sz="1100" b="1" i="0">
                <a:solidFill>
                  <a:srgbClr val="7C4DDB"/>
                </a:solidFill>
                <a:latin typeface="Arial"/>
              </a:rPr>
              <a:t>Container registry</a:t>
            </a:r>
          </a:p>
          <a:p>
            <a:pPr algn="ctr"/>
            <a:r>
              <a:rPr sz="900" b="0" i="0">
                <a:solidFill>
                  <a:srgbClr val="333333"/>
                </a:solidFill>
                <a:latin typeface="Arial"/>
              </a:rPr>
              <a:t>images for</a:t>
            </a:r>
          </a:p>
          <a:p>
            <a:pPr algn="ctr"/>
            <a:r>
              <a:rPr sz="900" b="0" i="0">
                <a:solidFill>
                  <a:srgbClr val="333333"/>
                </a:solidFill>
                <a:latin typeface="Arial"/>
              </a:rPr>
              <a:t>prod overlay</a:t>
            </a:r>
          </a:p>
        </p:txBody>
      </p:sp>
      <p:cxnSp>
        <p:nvCxnSpPr>
          <p:cNvPr id="54" name="Connector 53"/>
          <p:cNvCxnSpPr/>
          <p:nvPr/>
        </p:nvCxnSpPr>
        <p:spPr>
          <a:xfrm>
            <a:off x="10241280" y="2450592"/>
            <a:ext cx="320040" cy="0"/>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10241280" y="3593592"/>
            <a:ext cx="320040" cy="0"/>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a:off x="10241280" y="4736592"/>
            <a:ext cx="320040" cy="0"/>
          </a:xfrm>
          <a:prstGeom prst="line">
            <a:avLst/>
          </a:prstGeom>
          <a:ln w="22225">
            <a:solidFill>
              <a:srgbClr val="7C4DDB"/>
            </a:solidFill>
            <a:prstDash val="dash"/>
            <a:tailEnd type="triangle"/>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Design: Physical Architecture</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2600" b="0" i="0">
                <a:solidFill>
                  <a:srgbClr val="0A1045"/>
                </a:solidFill>
                <a:latin typeface="Arial Black"/>
              </a:rPr>
              <a:t>Physical Architecture: Production on Azure AKS</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24</a:t>
            </a:r>
          </a:p>
        </p:txBody>
      </p:sp>
      <p:sp>
        <p:nvSpPr>
          <p:cNvPr id="6" name="Rounded Rectangle 5"/>
          <p:cNvSpPr/>
          <p:nvPr/>
        </p:nvSpPr>
        <p:spPr>
          <a:xfrm>
            <a:off x="320040" y="2788920"/>
            <a:ext cx="1234440" cy="731520"/>
          </a:xfrm>
          <a:prstGeom prst="roundRect">
            <a:avLst>
              <a:gd name="adj" fmla="val 12000"/>
            </a:avLst>
          </a:prstGeom>
          <a:noFill/>
          <a:ln w="22225">
            <a:solidFill>
              <a:srgbClr val="2FA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56615" y="2807208"/>
            <a:ext cx="1161288" cy="694944"/>
          </a:xfrm>
          <a:prstGeom prst="rect">
            <a:avLst/>
          </a:prstGeom>
          <a:noFill/>
        </p:spPr>
        <p:txBody>
          <a:bodyPr wrap="square" lIns="45720" tIns="18288" rIns="45720" bIns="18288" anchor="ctr">
            <a:spAutoFit/>
          </a:bodyPr>
          <a:lstStyle/>
          <a:p>
            <a:pPr algn="ctr"/>
            <a:r>
              <a:rPr sz="1300" b="1" i="0">
                <a:solidFill>
                  <a:srgbClr val="2FA4E7"/>
                </a:solidFill>
                <a:latin typeface="Arial"/>
              </a:rPr>
              <a:t>Users</a:t>
            </a:r>
          </a:p>
          <a:p>
            <a:pPr algn="ctr"/>
            <a:r>
              <a:rPr sz="1000" b="0" i="0">
                <a:solidFill>
                  <a:srgbClr val="333333"/>
                </a:solidFill>
                <a:latin typeface="Arial"/>
              </a:rPr>
              <a:t>browser</a:t>
            </a:r>
          </a:p>
        </p:txBody>
      </p:sp>
      <p:cxnSp>
        <p:nvCxnSpPr>
          <p:cNvPr id="8" name="Connector 7"/>
          <p:cNvCxnSpPr/>
          <p:nvPr/>
        </p:nvCxnSpPr>
        <p:spPr>
          <a:xfrm>
            <a:off x="1554480" y="3154680"/>
            <a:ext cx="320039" cy="0"/>
          </a:xfrm>
          <a:prstGeom prst="line">
            <a:avLst/>
          </a:prstGeom>
          <a:ln w="22225">
            <a:solidFill>
              <a:srgbClr val="2FA4E7"/>
            </a:solidFill>
            <a:tailEnd type="triangle"/>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874519" y="2606040"/>
            <a:ext cx="1417320" cy="109728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911095" y="2624328"/>
            <a:ext cx="1344168" cy="1060704"/>
          </a:xfrm>
          <a:prstGeom prst="rect">
            <a:avLst/>
          </a:prstGeom>
          <a:noFill/>
        </p:spPr>
        <p:txBody>
          <a:bodyPr wrap="square" lIns="45720" tIns="18288" rIns="45720" bIns="18288" anchor="ctr">
            <a:spAutoFit/>
          </a:bodyPr>
          <a:lstStyle/>
          <a:p>
            <a:pPr algn="ctr"/>
            <a:r>
              <a:rPr sz="1200" b="1" i="0">
                <a:solidFill>
                  <a:srgbClr val="7C4DDB"/>
                </a:solidFill>
                <a:latin typeface="Arial"/>
              </a:rPr>
              <a:t>ngrok edge</a:t>
            </a:r>
          </a:p>
          <a:p>
            <a:pPr algn="ctr"/>
            <a:r>
              <a:rPr sz="950" b="0" i="0">
                <a:solidFill>
                  <a:srgbClr val="333333"/>
                </a:solidFill>
                <a:latin typeface="Arial"/>
              </a:rPr>
              <a:t>public HTTPS</a:t>
            </a:r>
          </a:p>
          <a:p>
            <a:pPr algn="ctr"/>
            <a:r>
              <a:rPr sz="950" b="0" i="0">
                <a:solidFill>
                  <a:srgbClr val="333333"/>
                </a:solidFill>
                <a:latin typeface="Arial"/>
              </a:rPr>
              <a:t>static domain</a:t>
            </a:r>
          </a:p>
        </p:txBody>
      </p:sp>
      <p:sp>
        <p:nvSpPr>
          <p:cNvPr id="11" name="Rounded Rectangle 10"/>
          <p:cNvSpPr/>
          <p:nvPr/>
        </p:nvSpPr>
        <p:spPr>
          <a:xfrm>
            <a:off x="3520440" y="1371600"/>
            <a:ext cx="8412480" cy="5074920"/>
          </a:xfrm>
          <a:prstGeom prst="roundRect">
            <a:avLst>
              <a:gd name="adj" fmla="val 3000"/>
            </a:avLst>
          </a:prstGeom>
          <a:noFill/>
          <a:ln w="25400">
            <a:solidFill>
              <a:srgbClr val="2FA4E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611880" y="1389888"/>
            <a:ext cx="8229600" cy="237744"/>
          </a:xfrm>
          <a:prstGeom prst="rect">
            <a:avLst/>
          </a:prstGeom>
          <a:noFill/>
        </p:spPr>
        <p:txBody>
          <a:bodyPr wrap="square" lIns="45720" tIns="18288" rIns="45720" bIns="18288" anchor="ctr">
            <a:spAutoFit/>
          </a:bodyPr>
          <a:lstStyle/>
          <a:p>
            <a:pPr algn="l"/>
            <a:r>
              <a:rPr sz="900" b="1" i="0" spc="60">
                <a:solidFill>
                  <a:srgbClr val="2FA4E7"/>
                </a:solidFill>
                <a:latin typeface="Arial"/>
              </a:rPr>
              <a:t>MICROSOFT AZURE: resource group eam-prod-rg · Poland Central</a:t>
            </a:r>
          </a:p>
        </p:txBody>
      </p:sp>
      <p:sp>
        <p:nvSpPr>
          <p:cNvPr id="13" name="Rounded Rectangle 12"/>
          <p:cNvSpPr/>
          <p:nvPr/>
        </p:nvSpPr>
        <p:spPr>
          <a:xfrm>
            <a:off x="3657600" y="1691640"/>
            <a:ext cx="4800600" cy="3840480"/>
          </a:xfrm>
          <a:prstGeom prst="roundRect">
            <a:avLst>
              <a:gd name="adj" fmla="val 4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730752" y="1709928"/>
            <a:ext cx="4663440" cy="228600"/>
          </a:xfrm>
          <a:prstGeom prst="rect">
            <a:avLst/>
          </a:prstGeom>
          <a:noFill/>
        </p:spPr>
        <p:txBody>
          <a:bodyPr wrap="square" lIns="45720" tIns="18288" rIns="45720" bIns="18288" anchor="ctr">
            <a:spAutoFit/>
          </a:bodyPr>
          <a:lstStyle/>
          <a:p>
            <a:pPr algn="l"/>
            <a:r>
              <a:rPr sz="850" b="1" i="0">
                <a:solidFill>
                  <a:srgbClr val="0B8CA8"/>
                </a:solidFill>
                <a:latin typeface="Arial"/>
              </a:rPr>
              <a:t>VNet 10.10.0.0/16 · AKS subnet 10.10.1.0/24</a:t>
            </a:r>
          </a:p>
        </p:txBody>
      </p:sp>
      <p:sp>
        <p:nvSpPr>
          <p:cNvPr id="15" name="Rounded Rectangle 14"/>
          <p:cNvSpPr/>
          <p:nvPr/>
        </p:nvSpPr>
        <p:spPr>
          <a:xfrm>
            <a:off x="3767328" y="1965960"/>
            <a:ext cx="4572000" cy="3474720"/>
          </a:xfrm>
          <a:prstGeom prst="roundRect">
            <a:avLst>
              <a:gd name="adj" fmla="val 4000"/>
            </a:avLst>
          </a:prstGeom>
          <a:noFill/>
          <a:ln w="25400">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840480" y="1984248"/>
            <a:ext cx="4434840" cy="228600"/>
          </a:xfrm>
          <a:prstGeom prst="rect">
            <a:avLst/>
          </a:prstGeom>
          <a:noFill/>
        </p:spPr>
        <p:txBody>
          <a:bodyPr wrap="square" lIns="45720" tIns="18288" rIns="45720" bIns="18288" anchor="ctr">
            <a:spAutoFit/>
          </a:bodyPr>
          <a:lstStyle/>
          <a:p>
            <a:pPr algn="l"/>
            <a:r>
              <a:rPr sz="850" b="1" i="0">
                <a:solidFill>
                  <a:srgbClr val="4FBF5F"/>
                </a:solidFill>
                <a:latin typeface="Arial"/>
              </a:rPr>
              <a:t>AKS cluster · Azure CNI + network policy · OIDC / workload identity</a:t>
            </a:r>
          </a:p>
        </p:txBody>
      </p:sp>
      <p:sp>
        <p:nvSpPr>
          <p:cNvPr id="17" name="Rounded Rectangle 16"/>
          <p:cNvSpPr/>
          <p:nvPr/>
        </p:nvSpPr>
        <p:spPr>
          <a:xfrm>
            <a:off x="3858768" y="2286000"/>
            <a:ext cx="4389120" cy="2194560"/>
          </a:xfrm>
          <a:prstGeom prst="roundRect">
            <a:avLst>
              <a:gd name="adj" fmla="val 5000"/>
            </a:avLst>
          </a:prstGeom>
          <a:noFill/>
          <a:ln w="1905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931920" y="2304288"/>
            <a:ext cx="4251960" cy="228600"/>
          </a:xfrm>
          <a:prstGeom prst="rect">
            <a:avLst/>
          </a:prstGeom>
          <a:noFill/>
        </p:spPr>
        <p:txBody>
          <a:bodyPr wrap="square" lIns="45720" tIns="18288" rIns="45720" bIns="18288" anchor="ctr">
            <a:spAutoFit/>
          </a:bodyPr>
          <a:lstStyle/>
          <a:p>
            <a:pPr algn="l"/>
            <a:r>
              <a:rPr sz="850" b="1" i="0">
                <a:solidFill>
                  <a:srgbClr val="0A1045"/>
                </a:solidFill>
                <a:latin typeface="Arial"/>
              </a:rPr>
              <a:t>namespaces eam-prod and eam-staging (same layout)</a:t>
            </a:r>
          </a:p>
        </p:txBody>
      </p:sp>
      <p:sp>
        <p:nvSpPr>
          <p:cNvPr id="19" name="Rounded Rectangle 18"/>
          <p:cNvSpPr/>
          <p:nvPr/>
        </p:nvSpPr>
        <p:spPr>
          <a:xfrm>
            <a:off x="3950208" y="2606040"/>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986784" y="2624328"/>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ngrok</a:t>
            </a:r>
          </a:p>
          <a:p>
            <a:pPr algn="ctr"/>
            <a:r>
              <a:rPr sz="800" b="0" i="0">
                <a:solidFill>
                  <a:srgbClr val="333333"/>
                </a:solidFill>
                <a:latin typeface="Arial"/>
              </a:rPr>
              <a:t>tunnel agent</a:t>
            </a:r>
          </a:p>
        </p:txBody>
      </p:sp>
      <p:sp>
        <p:nvSpPr>
          <p:cNvPr id="21" name="Rounded Rectangle 20"/>
          <p:cNvSpPr/>
          <p:nvPr/>
        </p:nvSpPr>
        <p:spPr>
          <a:xfrm>
            <a:off x="5394960" y="2606040"/>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431536" y="2624328"/>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frontend</a:t>
            </a:r>
          </a:p>
          <a:p>
            <a:pPr algn="ctr"/>
            <a:r>
              <a:rPr sz="800" b="0" i="0">
                <a:solidFill>
                  <a:srgbClr val="333333"/>
                </a:solidFill>
                <a:latin typeface="Arial"/>
              </a:rPr>
              <a:t>nginx :80</a:t>
            </a:r>
          </a:p>
        </p:txBody>
      </p:sp>
      <p:sp>
        <p:nvSpPr>
          <p:cNvPr id="23" name="Rounded Rectangle 22"/>
          <p:cNvSpPr/>
          <p:nvPr/>
        </p:nvSpPr>
        <p:spPr>
          <a:xfrm>
            <a:off x="6839712" y="2606040"/>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876288" y="2624328"/>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backend</a:t>
            </a:r>
          </a:p>
          <a:p>
            <a:pPr algn="ctr"/>
            <a:r>
              <a:rPr sz="800" b="0" i="0">
                <a:solidFill>
                  <a:srgbClr val="333333"/>
                </a:solidFill>
                <a:latin typeface="Arial"/>
              </a:rPr>
              <a:t>FastAPI :8000</a:t>
            </a:r>
          </a:p>
        </p:txBody>
      </p:sp>
      <p:sp>
        <p:nvSpPr>
          <p:cNvPr id="25" name="Rounded Rectangle 24"/>
          <p:cNvSpPr/>
          <p:nvPr/>
        </p:nvSpPr>
        <p:spPr>
          <a:xfrm>
            <a:off x="3950208" y="3218688"/>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3986784" y="3236976"/>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ml-service</a:t>
            </a:r>
          </a:p>
          <a:p>
            <a:pPr algn="ctr"/>
            <a:r>
              <a:rPr sz="800" b="0" i="0">
                <a:solidFill>
                  <a:srgbClr val="333333"/>
                </a:solidFill>
                <a:latin typeface="Arial"/>
              </a:rPr>
              <a:t>:8000</a:t>
            </a:r>
          </a:p>
        </p:txBody>
      </p:sp>
      <p:sp>
        <p:nvSpPr>
          <p:cNvPr id="27" name="Rounded Rectangle 26"/>
          <p:cNvSpPr/>
          <p:nvPr/>
        </p:nvSpPr>
        <p:spPr>
          <a:xfrm>
            <a:off x="5394960" y="3218688"/>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5431536" y="3236976"/>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rag-service</a:t>
            </a:r>
          </a:p>
          <a:p>
            <a:pPr algn="ctr"/>
            <a:r>
              <a:rPr sz="800" b="0" i="0">
                <a:solidFill>
                  <a:srgbClr val="333333"/>
                </a:solidFill>
                <a:latin typeface="Arial"/>
              </a:rPr>
              <a:t>:8003</a:t>
            </a:r>
          </a:p>
        </p:txBody>
      </p:sp>
      <p:sp>
        <p:nvSpPr>
          <p:cNvPr id="29" name="Rounded Rectangle 28"/>
          <p:cNvSpPr/>
          <p:nvPr/>
        </p:nvSpPr>
        <p:spPr>
          <a:xfrm>
            <a:off x="6839712" y="3218688"/>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876288" y="3236976"/>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celery-worker</a:t>
            </a:r>
          </a:p>
          <a:p>
            <a:pPr algn="ctr"/>
            <a:r>
              <a:rPr sz="800" b="0" i="0">
                <a:solidFill>
                  <a:srgbClr val="333333"/>
                </a:solidFill>
                <a:latin typeface="Arial"/>
              </a:rPr>
              <a:t>backend image</a:t>
            </a:r>
          </a:p>
        </p:txBody>
      </p:sp>
      <p:sp>
        <p:nvSpPr>
          <p:cNvPr id="31" name="Rounded Rectangle 30"/>
          <p:cNvSpPr/>
          <p:nvPr/>
        </p:nvSpPr>
        <p:spPr>
          <a:xfrm>
            <a:off x="3950208" y="3831336"/>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3986784" y="3849624"/>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celery-beat</a:t>
            </a:r>
          </a:p>
          <a:p>
            <a:pPr algn="ctr"/>
            <a:r>
              <a:rPr sz="800" b="0" i="0">
                <a:solidFill>
                  <a:srgbClr val="333333"/>
                </a:solidFill>
                <a:latin typeface="Arial"/>
              </a:rPr>
              <a:t>backend image</a:t>
            </a:r>
          </a:p>
        </p:txBody>
      </p:sp>
      <p:sp>
        <p:nvSpPr>
          <p:cNvPr id="33" name="Rounded Rectangle 32"/>
          <p:cNvSpPr/>
          <p:nvPr/>
        </p:nvSpPr>
        <p:spPr>
          <a:xfrm>
            <a:off x="5394960" y="3831336"/>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5431536" y="3849624"/>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rabbitmq</a:t>
            </a:r>
          </a:p>
          <a:p>
            <a:pPr algn="ctr"/>
            <a:r>
              <a:rPr sz="800" b="0" i="0">
                <a:solidFill>
                  <a:srgbClr val="333333"/>
                </a:solidFill>
                <a:latin typeface="Arial"/>
              </a:rPr>
              <a:t>:5672</a:t>
            </a:r>
          </a:p>
        </p:txBody>
      </p:sp>
      <p:sp>
        <p:nvSpPr>
          <p:cNvPr id="35" name="Rounded Rectangle 34"/>
          <p:cNvSpPr/>
          <p:nvPr/>
        </p:nvSpPr>
        <p:spPr>
          <a:xfrm>
            <a:off x="6839712" y="3831336"/>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876288" y="3849624"/>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minio</a:t>
            </a:r>
          </a:p>
          <a:p>
            <a:pPr algn="ctr"/>
            <a:r>
              <a:rPr sz="800" b="0" i="0">
                <a:solidFill>
                  <a:srgbClr val="333333"/>
                </a:solidFill>
                <a:latin typeface="Arial"/>
              </a:rPr>
              <a:t>:9000 · PVC 5Gi</a:t>
            </a:r>
          </a:p>
        </p:txBody>
      </p:sp>
      <p:sp>
        <p:nvSpPr>
          <p:cNvPr id="37" name="Rounded Rectangle 36"/>
          <p:cNvSpPr/>
          <p:nvPr/>
        </p:nvSpPr>
        <p:spPr>
          <a:xfrm>
            <a:off x="3858768" y="4572000"/>
            <a:ext cx="2148840" cy="731520"/>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3895344" y="4590288"/>
            <a:ext cx="2075688" cy="694944"/>
          </a:xfrm>
          <a:prstGeom prst="rect">
            <a:avLst/>
          </a:prstGeom>
          <a:noFill/>
        </p:spPr>
        <p:txBody>
          <a:bodyPr wrap="square" lIns="45720" tIns="18288" rIns="45720" bIns="18288" anchor="ctr">
            <a:spAutoFit/>
          </a:bodyPr>
          <a:lstStyle/>
          <a:p>
            <a:pPr algn="ctr"/>
            <a:r>
              <a:rPr sz="1000" b="1" i="0">
                <a:solidFill>
                  <a:srgbClr val="4FBF5F"/>
                </a:solidFill>
                <a:latin typeface="Arial"/>
              </a:rPr>
              <a:t>System node pool</a:t>
            </a:r>
          </a:p>
          <a:p>
            <a:pPr algn="ctr"/>
            <a:r>
              <a:rPr sz="850" b="0" i="0">
                <a:solidFill>
                  <a:srgbClr val="333333"/>
                </a:solidFill>
                <a:latin typeface="Arial"/>
              </a:rPr>
              <a:t>critical add-ons only</a:t>
            </a:r>
          </a:p>
        </p:txBody>
      </p:sp>
      <p:sp>
        <p:nvSpPr>
          <p:cNvPr id="39" name="Rounded Rectangle 38"/>
          <p:cNvSpPr/>
          <p:nvPr/>
        </p:nvSpPr>
        <p:spPr>
          <a:xfrm>
            <a:off x="6099048" y="4572000"/>
            <a:ext cx="2148840" cy="731520"/>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135624" y="4590288"/>
            <a:ext cx="2075688" cy="694944"/>
          </a:xfrm>
          <a:prstGeom prst="rect">
            <a:avLst/>
          </a:prstGeom>
          <a:noFill/>
        </p:spPr>
        <p:txBody>
          <a:bodyPr wrap="square" lIns="45720" tIns="18288" rIns="45720" bIns="18288" anchor="ctr">
            <a:spAutoFit/>
          </a:bodyPr>
          <a:lstStyle/>
          <a:p>
            <a:pPr algn="ctr"/>
            <a:r>
              <a:rPr sz="1000" b="1" i="0">
                <a:solidFill>
                  <a:srgbClr val="4FBF5F"/>
                </a:solidFill>
                <a:latin typeface="Arial"/>
              </a:rPr>
              <a:t>User node pool</a:t>
            </a:r>
          </a:p>
          <a:p>
            <a:pPr algn="ctr"/>
            <a:r>
              <a:rPr sz="850" b="0" i="0">
                <a:solidFill>
                  <a:srgbClr val="333333"/>
                </a:solidFill>
                <a:latin typeface="Arial"/>
              </a:rPr>
              <a:t>autoscale 2-4 · Standard_B2s_v2</a:t>
            </a:r>
          </a:p>
        </p:txBody>
      </p:sp>
      <p:sp>
        <p:nvSpPr>
          <p:cNvPr id="41" name="Rounded Rectangle 40"/>
          <p:cNvSpPr/>
          <p:nvPr/>
        </p:nvSpPr>
        <p:spPr>
          <a:xfrm>
            <a:off x="8823960" y="1737360"/>
            <a:ext cx="3017520" cy="105156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8860536" y="1755648"/>
            <a:ext cx="2944368" cy="1014983"/>
          </a:xfrm>
          <a:prstGeom prst="rect">
            <a:avLst/>
          </a:prstGeom>
          <a:noFill/>
        </p:spPr>
        <p:txBody>
          <a:bodyPr wrap="square" lIns="45720" tIns="18288" rIns="45720" bIns="18288" anchor="ctr">
            <a:spAutoFit/>
          </a:bodyPr>
          <a:lstStyle/>
          <a:p>
            <a:pPr algn="ctr"/>
            <a:r>
              <a:rPr sz="1100" b="1" i="0">
                <a:solidFill>
                  <a:srgbClr val="7C4DDB"/>
                </a:solidFill>
                <a:latin typeface="Arial"/>
              </a:rPr>
              <a:t>PostgreSQL Flexible Server 15</a:t>
            </a:r>
          </a:p>
          <a:p>
            <a:pPr algn="ctr"/>
            <a:r>
              <a:rPr sz="900" b="0" i="0">
                <a:solidFill>
                  <a:srgbClr val="333333"/>
                </a:solidFill>
                <a:latin typeface="Arial"/>
              </a:rPr>
              <a:t>pgvector + pg_trgm · burstable B2s</a:t>
            </a:r>
          </a:p>
          <a:p>
            <a:pPr algn="ctr"/>
            <a:r>
              <a:rPr sz="900" b="0" i="0">
                <a:solidFill>
                  <a:srgbClr val="333333"/>
                </a:solidFill>
                <a:latin typeface="Arial"/>
              </a:rPr>
              <a:t>DBs: asset_management / _prod</a:t>
            </a:r>
          </a:p>
        </p:txBody>
      </p:sp>
      <p:sp>
        <p:nvSpPr>
          <p:cNvPr id="43" name="Rounded Rectangle 42"/>
          <p:cNvSpPr/>
          <p:nvPr/>
        </p:nvSpPr>
        <p:spPr>
          <a:xfrm>
            <a:off x="8823960" y="2971800"/>
            <a:ext cx="3017520" cy="96012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8860536" y="2990088"/>
            <a:ext cx="2944368" cy="923544"/>
          </a:xfrm>
          <a:prstGeom prst="rect">
            <a:avLst/>
          </a:prstGeom>
          <a:noFill/>
        </p:spPr>
        <p:txBody>
          <a:bodyPr wrap="square" lIns="45720" tIns="18288" rIns="45720" bIns="18288" anchor="ctr">
            <a:spAutoFit/>
          </a:bodyPr>
          <a:lstStyle/>
          <a:p>
            <a:pPr algn="ctr"/>
            <a:r>
              <a:rPr sz="1100" b="1" i="0">
                <a:solidFill>
                  <a:srgbClr val="7C4DDB"/>
                </a:solidFill>
                <a:latin typeface="Arial"/>
              </a:rPr>
              <a:t>Azure Key Vault</a:t>
            </a:r>
          </a:p>
          <a:p>
            <a:pPr algn="ctr"/>
            <a:r>
              <a:rPr sz="900" b="0" i="0">
                <a:solidFill>
                  <a:srgbClr val="333333"/>
                </a:solidFill>
                <a:latin typeface="Arial"/>
              </a:rPr>
              <a:t>JWT · Groq · SMTP · DB password</a:t>
            </a:r>
          </a:p>
          <a:p>
            <a:pPr algn="ctr"/>
            <a:r>
              <a:rPr sz="900" b="0" i="0">
                <a:solidFill>
                  <a:srgbClr val="333333"/>
                </a:solidFill>
                <a:latin typeface="Arial"/>
              </a:rPr>
              <a:t>Secrets Store CSI driver</a:t>
            </a:r>
          </a:p>
        </p:txBody>
      </p:sp>
      <p:sp>
        <p:nvSpPr>
          <p:cNvPr id="45" name="Rounded Rectangle 44"/>
          <p:cNvSpPr/>
          <p:nvPr/>
        </p:nvSpPr>
        <p:spPr>
          <a:xfrm>
            <a:off x="8823960" y="4114800"/>
            <a:ext cx="3017520" cy="86868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8860536" y="4133087"/>
            <a:ext cx="2944368" cy="832103"/>
          </a:xfrm>
          <a:prstGeom prst="rect">
            <a:avLst/>
          </a:prstGeom>
          <a:noFill/>
        </p:spPr>
        <p:txBody>
          <a:bodyPr wrap="square" lIns="45720" tIns="18288" rIns="45720" bIns="18288" anchor="ctr">
            <a:spAutoFit/>
          </a:bodyPr>
          <a:lstStyle/>
          <a:p>
            <a:pPr algn="ctr"/>
            <a:r>
              <a:rPr sz="1100" b="1" i="0">
                <a:solidFill>
                  <a:srgbClr val="7C4DDB"/>
                </a:solidFill>
                <a:latin typeface="Arial"/>
              </a:rPr>
              <a:t>Azure Container Registry</a:t>
            </a:r>
          </a:p>
          <a:p>
            <a:pPr algn="ctr"/>
            <a:r>
              <a:rPr sz="900" b="0" i="0">
                <a:solidFill>
                  <a:srgbClr val="333333"/>
                </a:solidFill>
                <a:latin typeface="Arial"/>
              </a:rPr>
              <a:t>images pulled by kubelet identity (AcrPull)</a:t>
            </a:r>
          </a:p>
        </p:txBody>
      </p:sp>
      <p:cxnSp>
        <p:nvCxnSpPr>
          <p:cNvPr id="47" name="Connector 46"/>
          <p:cNvCxnSpPr/>
          <p:nvPr/>
        </p:nvCxnSpPr>
        <p:spPr>
          <a:xfrm>
            <a:off x="8339327" y="2286000"/>
            <a:ext cx="484633" cy="0"/>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8394192" y="2066543"/>
            <a:ext cx="457200" cy="201168"/>
          </a:xfrm>
          <a:prstGeom prst="rect">
            <a:avLst/>
          </a:prstGeom>
          <a:solidFill>
            <a:srgbClr val="FFFFFF"/>
          </a:solidFill>
        </p:spPr>
        <p:txBody>
          <a:bodyPr wrap="square" lIns="45720" tIns="18288" rIns="45720" bIns="18288" anchor="ctr">
            <a:spAutoFit/>
          </a:bodyPr>
          <a:lstStyle/>
          <a:p>
            <a:pPr algn="ctr"/>
            <a:r>
              <a:rPr sz="800" b="0" i="1">
                <a:solidFill>
                  <a:srgbClr val="7A7A7A"/>
                </a:solidFill>
                <a:latin typeface="Arial"/>
              </a:rPr>
              <a:t>5432</a:t>
            </a:r>
          </a:p>
        </p:txBody>
      </p:sp>
      <p:cxnSp>
        <p:nvCxnSpPr>
          <p:cNvPr id="49" name="Connector 48"/>
          <p:cNvCxnSpPr/>
          <p:nvPr/>
        </p:nvCxnSpPr>
        <p:spPr>
          <a:xfrm flipH="1">
            <a:off x="8339327" y="3456432"/>
            <a:ext cx="484633" cy="0"/>
          </a:xfrm>
          <a:prstGeom prst="line">
            <a:avLst/>
          </a:prstGeom>
          <a:ln w="22225">
            <a:solidFill>
              <a:srgbClr val="7C4DDB"/>
            </a:solidFill>
            <a:prstDash val="dash"/>
            <a:tailEnd type="triangle"/>
          </a:ln>
          <a:effectLst/>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8321040" y="3246120"/>
            <a:ext cx="548640" cy="201168"/>
          </a:xfrm>
          <a:prstGeom prst="rect">
            <a:avLst/>
          </a:prstGeom>
          <a:solidFill>
            <a:srgbClr val="FFFFFF"/>
          </a:solidFill>
        </p:spPr>
        <p:txBody>
          <a:bodyPr wrap="square" lIns="45720" tIns="18288" rIns="45720" bIns="18288" anchor="ctr">
            <a:spAutoFit/>
          </a:bodyPr>
          <a:lstStyle/>
          <a:p>
            <a:pPr algn="ctr"/>
            <a:r>
              <a:rPr sz="800" b="0" i="1">
                <a:solidFill>
                  <a:srgbClr val="7A7A7A"/>
                </a:solidFill>
                <a:latin typeface="Arial"/>
              </a:rPr>
              <a:t>secrets</a:t>
            </a:r>
          </a:p>
        </p:txBody>
      </p:sp>
      <p:cxnSp>
        <p:nvCxnSpPr>
          <p:cNvPr id="51" name="Connector 50"/>
          <p:cNvCxnSpPr/>
          <p:nvPr/>
        </p:nvCxnSpPr>
        <p:spPr>
          <a:xfrm flipH="1">
            <a:off x="8339327" y="4553712"/>
            <a:ext cx="484633" cy="0"/>
          </a:xfrm>
          <a:prstGeom prst="line">
            <a:avLst/>
          </a:prstGeom>
          <a:ln w="22225">
            <a:solidFill>
              <a:srgbClr val="7C4DDB"/>
            </a:solidFill>
            <a:prstDash val="dash"/>
            <a:tailEnd type="triangle"/>
          </a:ln>
          <a:effectLst/>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8321040" y="4343400"/>
            <a:ext cx="548640" cy="201168"/>
          </a:xfrm>
          <a:prstGeom prst="rect">
            <a:avLst/>
          </a:prstGeom>
          <a:solidFill>
            <a:srgbClr val="FFFFFF"/>
          </a:solidFill>
        </p:spPr>
        <p:txBody>
          <a:bodyPr wrap="square" lIns="45720" tIns="18288" rIns="45720" bIns="18288" anchor="ctr">
            <a:spAutoFit/>
          </a:bodyPr>
          <a:lstStyle/>
          <a:p>
            <a:pPr algn="ctr"/>
            <a:r>
              <a:rPr sz="800" b="0" i="1">
                <a:solidFill>
                  <a:srgbClr val="7A7A7A"/>
                </a:solidFill>
                <a:latin typeface="Arial"/>
              </a:rPr>
              <a:t>pull</a:t>
            </a:r>
          </a:p>
        </p:txBody>
      </p:sp>
      <p:cxnSp>
        <p:nvCxnSpPr>
          <p:cNvPr id="53" name="Connector 52"/>
          <p:cNvCxnSpPr/>
          <p:nvPr/>
        </p:nvCxnSpPr>
        <p:spPr>
          <a:xfrm flipV="1">
            <a:off x="3291840" y="2880360"/>
            <a:ext cx="658368" cy="274320"/>
          </a:xfrm>
          <a:prstGeom prst="line">
            <a:avLst/>
          </a:prstGeom>
          <a:ln w="22225">
            <a:solidFill>
              <a:srgbClr val="7C4DDB"/>
            </a:solidFill>
            <a:prstDash val="dash"/>
            <a:headEnd type="triangle"/>
            <a:tailEnd type="triangle"/>
          </a:ln>
          <a:effectLst/>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3063240" y="2578608"/>
            <a:ext cx="1325880" cy="201168"/>
          </a:xfrm>
          <a:prstGeom prst="rect">
            <a:avLst/>
          </a:prstGeom>
          <a:solidFill>
            <a:srgbClr val="FFFFFF"/>
          </a:solidFill>
        </p:spPr>
        <p:txBody>
          <a:bodyPr wrap="square" lIns="45720" tIns="18288" rIns="45720" bIns="18288" anchor="ctr">
            <a:spAutoFit/>
          </a:bodyPr>
          <a:lstStyle/>
          <a:p>
            <a:pPr algn="ctr"/>
            <a:r>
              <a:rPr sz="800" b="0" i="1">
                <a:solidFill>
                  <a:srgbClr val="7A7A7A"/>
                </a:solidFill>
                <a:latin typeface="Arial"/>
              </a:rPr>
              <a:t>tunnel (pod dials out)</a:t>
            </a:r>
          </a:p>
        </p:txBody>
      </p:sp>
      <p:sp>
        <p:nvSpPr>
          <p:cNvPr id="55" name="Rounded Rectangle 54"/>
          <p:cNvSpPr/>
          <p:nvPr/>
        </p:nvSpPr>
        <p:spPr>
          <a:xfrm>
            <a:off x="320040" y="4297680"/>
            <a:ext cx="2926080" cy="86868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356615" y="4315968"/>
            <a:ext cx="2852928" cy="832103"/>
          </a:xfrm>
          <a:prstGeom prst="rect">
            <a:avLst/>
          </a:prstGeom>
          <a:noFill/>
        </p:spPr>
        <p:txBody>
          <a:bodyPr wrap="square" lIns="45720" tIns="18288" rIns="45720" bIns="18288" anchor="ctr">
            <a:spAutoFit/>
          </a:bodyPr>
          <a:lstStyle/>
          <a:p>
            <a:pPr algn="ctr"/>
            <a:r>
              <a:rPr sz="1050" b="1" i="0">
                <a:solidFill>
                  <a:srgbClr val="7C4DDB"/>
                </a:solidFill>
                <a:latin typeface="Arial"/>
              </a:rPr>
              <a:t>Groq LLM API · SMTP</a:t>
            </a:r>
          </a:p>
          <a:p>
            <a:pPr algn="ctr"/>
            <a:r>
              <a:rPr sz="850" b="0" i="0">
                <a:solidFill>
                  <a:srgbClr val="333333"/>
                </a:solidFill>
                <a:latin typeface="Arial"/>
              </a:rPr>
              <a:t>HTTPS / SMTP egress via the AKS outbound IP</a:t>
            </a:r>
          </a:p>
        </p:txBody>
      </p:sp>
      <p:cxnSp>
        <p:nvCxnSpPr>
          <p:cNvPr id="57" name="Connector 56"/>
          <p:cNvCxnSpPr/>
          <p:nvPr/>
        </p:nvCxnSpPr>
        <p:spPr>
          <a:xfrm flipH="1">
            <a:off x="3246120" y="4709160"/>
            <a:ext cx="521208" cy="0"/>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320040" y="5349240"/>
            <a:ext cx="3017520" cy="1051560"/>
          </a:xfrm>
          <a:prstGeom prst="rect">
            <a:avLst/>
          </a:prstGeom>
          <a:noFill/>
        </p:spPr>
        <p:txBody>
          <a:bodyPr wrap="square" lIns="45720" tIns="18288" rIns="45720" bIns="18288" anchor="t">
            <a:spAutoFit/>
          </a:bodyPr>
          <a:lstStyle/>
          <a:p>
            <a:pPr algn="l"/>
            <a:r>
              <a:rPr sz="850" b="0" i="1">
                <a:solidFill>
                  <a:srgbClr val="7A7A7A"/>
                </a:solidFill>
                <a:latin typeface="Arial"/>
              </a:rPr>
              <a:t>Azure's inbound public Load Balancer is blocked at subscription level, so the ngrok pod dials out to its edge and relays public traffic to frontend:80 (nginx proxies /api to the backend).</a:t>
            </a:r>
          </a:p>
        </p:txBody>
      </p:sp>
      <p:sp>
        <p:nvSpPr>
          <p:cNvPr id="59" name="Rounded Rectangle 58"/>
          <p:cNvSpPr/>
          <p:nvPr/>
        </p:nvSpPr>
        <p:spPr>
          <a:xfrm>
            <a:off x="3657600" y="5669280"/>
            <a:ext cx="2651760" cy="685800"/>
          </a:xfrm>
          <a:prstGeom prst="roundRect">
            <a:avLst>
              <a:gd name="adj" fmla="val 12000"/>
            </a:avLst>
          </a:prstGeom>
          <a:noFill/>
          <a:ln w="2222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3694176" y="5687568"/>
            <a:ext cx="2578608" cy="649224"/>
          </a:xfrm>
          <a:prstGeom prst="rect">
            <a:avLst/>
          </a:prstGeom>
          <a:noFill/>
        </p:spPr>
        <p:txBody>
          <a:bodyPr wrap="square" lIns="45720" tIns="18288" rIns="45720" bIns="18288" anchor="ctr">
            <a:spAutoFit/>
          </a:bodyPr>
          <a:lstStyle/>
          <a:p>
            <a:pPr algn="ctr"/>
            <a:r>
              <a:rPr sz="1000" b="1" i="0">
                <a:solidFill>
                  <a:srgbClr val="F39C2C"/>
                </a:solidFill>
                <a:latin typeface="Arial"/>
              </a:rPr>
              <a:t>GitLab CI</a:t>
            </a:r>
          </a:p>
          <a:p>
            <a:pPr algn="ctr"/>
            <a:r>
              <a:rPr sz="800" b="0" i="0">
                <a:solidFill>
                  <a:srgbClr val="333333"/>
                </a:solidFill>
                <a:latin typeface="Arial"/>
              </a:rPr>
              <a:t>secret scan · SCA · SAST · SonarQube · build · Trivy · gate</a:t>
            </a:r>
          </a:p>
        </p:txBody>
      </p:sp>
      <p:sp>
        <p:nvSpPr>
          <p:cNvPr id="61" name="Rounded Rectangle 60"/>
          <p:cNvSpPr/>
          <p:nvPr/>
        </p:nvSpPr>
        <p:spPr>
          <a:xfrm>
            <a:off x="6400800" y="5669280"/>
            <a:ext cx="2651760" cy="685800"/>
          </a:xfrm>
          <a:prstGeom prst="roundRect">
            <a:avLst>
              <a:gd name="adj" fmla="val 12000"/>
            </a:avLst>
          </a:prstGeom>
          <a:noFill/>
          <a:ln w="2222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6437376" y="5687568"/>
            <a:ext cx="2578608" cy="649224"/>
          </a:xfrm>
          <a:prstGeom prst="rect">
            <a:avLst/>
          </a:prstGeom>
          <a:noFill/>
        </p:spPr>
        <p:txBody>
          <a:bodyPr wrap="square" lIns="45720" tIns="18288" rIns="45720" bIns="18288" anchor="ctr">
            <a:spAutoFit/>
          </a:bodyPr>
          <a:lstStyle/>
          <a:p>
            <a:pPr algn="ctr"/>
            <a:r>
              <a:rPr sz="1000" b="1" i="0">
                <a:solidFill>
                  <a:srgbClr val="F39C2C"/>
                </a:solidFill>
                <a:latin typeface="Arial"/>
              </a:rPr>
              <a:t>deploy-aks</a:t>
            </a:r>
          </a:p>
          <a:p>
            <a:pPr algn="ctr"/>
            <a:r>
              <a:rPr sz="800" b="0" i="0">
                <a:solidFill>
                  <a:srgbClr val="333333"/>
                </a:solidFill>
                <a:latin typeface="Arial"/>
              </a:rPr>
              <a:t>docker build → push to ACR → rollout restart</a:t>
            </a:r>
          </a:p>
        </p:txBody>
      </p:sp>
      <p:sp>
        <p:nvSpPr>
          <p:cNvPr id="63" name="Rounded Rectangle 62"/>
          <p:cNvSpPr/>
          <p:nvPr/>
        </p:nvSpPr>
        <p:spPr>
          <a:xfrm>
            <a:off x="9144000" y="5669280"/>
            <a:ext cx="2651760" cy="685800"/>
          </a:xfrm>
          <a:prstGeom prst="roundRect">
            <a:avLst>
              <a:gd name="adj" fmla="val 12000"/>
            </a:avLst>
          </a:prstGeom>
          <a:noFill/>
          <a:ln w="2222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9180576" y="5687568"/>
            <a:ext cx="2578608" cy="649224"/>
          </a:xfrm>
          <a:prstGeom prst="rect">
            <a:avLst/>
          </a:prstGeom>
          <a:noFill/>
        </p:spPr>
        <p:txBody>
          <a:bodyPr wrap="square" lIns="45720" tIns="18288" rIns="45720" bIns="18288" anchor="ctr">
            <a:spAutoFit/>
          </a:bodyPr>
          <a:lstStyle/>
          <a:p>
            <a:pPr algn="ctr"/>
            <a:r>
              <a:rPr sz="1000" b="1" i="0">
                <a:solidFill>
                  <a:srgbClr val="F39C2C"/>
                </a:solidFill>
                <a:latin typeface="Arial"/>
              </a:rPr>
              <a:t>Terraform + Helm</a:t>
            </a:r>
          </a:p>
          <a:p>
            <a:pPr algn="ctr"/>
            <a:r>
              <a:rPr sz="800" b="0" i="0">
                <a:solidFill>
                  <a:srgbClr val="333333"/>
                </a:solidFill>
                <a:latin typeface="Arial"/>
              </a:rPr>
              <a:t>Azure resources (state on HCP Terraform) · chart eam, values per env</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Implementation: DevSecOps</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000" b="0" i="0">
                <a:solidFill>
                  <a:srgbClr val="0A1045"/>
                </a:solidFill>
                <a:latin typeface="Arial Black"/>
              </a:rPr>
              <a:t>Security &amp; Quality Pipeline</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26</a:t>
            </a:r>
          </a:p>
        </p:txBody>
      </p:sp>
      <p:sp>
        <p:nvSpPr>
          <p:cNvPr id="6" name="Rounded Rectangle 5"/>
          <p:cNvSpPr/>
          <p:nvPr/>
        </p:nvSpPr>
        <p:spPr>
          <a:xfrm>
            <a:off x="411480" y="1691640"/>
            <a:ext cx="1783080" cy="15544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48056" y="1709928"/>
            <a:ext cx="1709928" cy="1517904"/>
          </a:xfrm>
          <a:prstGeom prst="rect">
            <a:avLst/>
          </a:prstGeom>
          <a:noFill/>
        </p:spPr>
        <p:txBody>
          <a:bodyPr wrap="square" lIns="45720" tIns="18288" rIns="45720" bIns="18288" anchor="ctr">
            <a:spAutoFit/>
          </a:bodyPr>
          <a:lstStyle/>
          <a:p>
            <a:pPr algn="ctr"/>
            <a:r>
              <a:rPr sz="1200" b="1" i="0">
                <a:solidFill>
                  <a:srgbClr val="0B8CA8"/>
                </a:solidFill>
                <a:latin typeface="Arial"/>
              </a:rPr>
              <a:t>1 · Gitleaks</a:t>
            </a:r>
          </a:p>
          <a:p>
            <a:pPr algn="ctr"/>
            <a:r>
              <a:rPr sz="1000" b="0" i="0">
                <a:solidFill>
                  <a:srgbClr val="333333"/>
                </a:solidFill>
                <a:latin typeface="Arial"/>
              </a:rPr>
              <a:t>Secret scanning</a:t>
            </a:r>
          </a:p>
          <a:p>
            <a:pPr algn="ctr"/>
            <a:r>
              <a:rPr sz="1000" b="0" i="0">
                <a:solidFill>
                  <a:srgbClr val="333333"/>
                </a:solidFill>
                <a:latin typeface="Arial"/>
              </a:rPr>
              <a:t>of git history</a:t>
            </a:r>
          </a:p>
        </p:txBody>
      </p:sp>
      <p:cxnSp>
        <p:nvCxnSpPr>
          <p:cNvPr id="8" name="Connector 7"/>
          <p:cNvCxnSpPr/>
          <p:nvPr/>
        </p:nvCxnSpPr>
        <p:spPr>
          <a:xfrm>
            <a:off x="2194560" y="2468880"/>
            <a:ext cx="137160" cy="0"/>
          </a:xfrm>
          <a:prstGeom prst="line">
            <a:avLst/>
          </a:prstGeom>
          <a:ln w="19050">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331720" y="1691640"/>
            <a:ext cx="1783080" cy="15544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368296" y="1709928"/>
            <a:ext cx="1709928" cy="1517904"/>
          </a:xfrm>
          <a:prstGeom prst="rect">
            <a:avLst/>
          </a:prstGeom>
          <a:noFill/>
        </p:spPr>
        <p:txBody>
          <a:bodyPr wrap="square" lIns="45720" tIns="18288" rIns="45720" bIns="18288" anchor="ctr">
            <a:spAutoFit/>
          </a:bodyPr>
          <a:lstStyle/>
          <a:p>
            <a:pPr algn="ctr"/>
            <a:r>
              <a:rPr sz="1200" b="1" i="0">
                <a:solidFill>
                  <a:srgbClr val="0B8CA8"/>
                </a:solidFill>
                <a:latin typeface="Arial"/>
              </a:rPr>
              <a:t>2 · SCA</a:t>
            </a:r>
          </a:p>
          <a:p>
            <a:pPr algn="ctr"/>
            <a:r>
              <a:rPr sz="1000" b="0" i="0">
                <a:solidFill>
                  <a:srgbClr val="333333"/>
                </a:solidFill>
                <a:latin typeface="Arial"/>
              </a:rPr>
              <a:t>pip-audit and</a:t>
            </a:r>
          </a:p>
          <a:p>
            <a:pPr algn="ctr"/>
            <a:r>
              <a:rPr sz="1000" b="0" i="0">
                <a:solidFill>
                  <a:srgbClr val="333333"/>
                </a:solidFill>
                <a:latin typeface="Arial"/>
              </a:rPr>
              <a:t>pnpm audit</a:t>
            </a:r>
          </a:p>
        </p:txBody>
      </p:sp>
      <p:cxnSp>
        <p:nvCxnSpPr>
          <p:cNvPr id="11" name="Connector 10"/>
          <p:cNvCxnSpPr/>
          <p:nvPr/>
        </p:nvCxnSpPr>
        <p:spPr>
          <a:xfrm>
            <a:off x="4114800" y="2468880"/>
            <a:ext cx="137160" cy="0"/>
          </a:xfrm>
          <a:prstGeom prst="line">
            <a:avLst/>
          </a:prstGeom>
          <a:ln w="19050">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251960" y="1691640"/>
            <a:ext cx="1783080" cy="15544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288536" y="1709928"/>
            <a:ext cx="1709928" cy="1517904"/>
          </a:xfrm>
          <a:prstGeom prst="rect">
            <a:avLst/>
          </a:prstGeom>
          <a:noFill/>
        </p:spPr>
        <p:txBody>
          <a:bodyPr wrap="square" lIns="45720" tIns="18288" rIns="45720" bIns="18288" anchor="ctr">
            <a:spAutoFit/>
          </a:bodyPr>
          <a:lstStyle/>
          <a:p>
            <a:pPr algn="ctr"/>
            <a:r>
              <a:rPr sz="1200" b="1" i="0">
                <a:solidFill>
                  <a:srgbClr val="0B8CA8"/>
                </a:solidFill>
                <a:latin typeface="Arial"/>
              </a:rPr>
              <a:t>3 · SAST</a:t>
            </a:r>
          </a:p>
          <a:p>
            <a:pPr algn="ctr"/>
            <a:r>
              <a:rPr sz="1000" b="0" i="0">
                <a:solidFill>
                  <a:srgbClr val="333333"/>
                </a:solidFill>
                <a:latin typeface="Arial"/>
              </a:rPr>
              <a:t>Semgrep rule sets</a:t>
            </a:r>
          </a:p>
          <a:p>
            <a:pPr algn="ctr"/>
            <a:r>
              <a:rPr sz="1000" b="0" i="0">
                <a:solidFill>
                  <a:srgbClr val="333333"/>
                </a:solidFill>
                <a:latin typeface="Arial"/>
              </a:rPr>
              <a:t>(auto, explicit, custom)</a:t>
            </a:r>
          </a:p>
        </p:txBody>
      </p:sp>
      <p:cxnSp>
        <p:nvCxnSpPr>
          <p:cNvPr id="14" name="Connector 13"/>
          <p:cNvCxnSpPr/>
          <p:nvPr/>
        </p:nvCxnSpPr>
        <p:spPr>
          <a:xfrm>
            <a:off x="6035040" y="2468880"/>
            <a:ext cx="137160" cy="0"/>
          </a:xfrm>
          <a:prstGeom prst="line">
            <a:avLst/>
          </a:prstGeom>
          <a:ln w="19050">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6172200" y="1691640"/>
            <a:ext cx="1783080" cy="15544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208776" y="1709928"/>
            <a:ext cx="1709928" cy="1517904"/>
          </a:xfrm>
          <a:prstGeom prst="rect">
            <a:avLst/>
          </a:prstGeom>
          <a:noFill/>
        </p:spPr>
        <p:txBody>
          <a:bodyPr wrap="square" lIns="45720" tIns="18288" rIns="45720" bIns="18288" anchor="ctr">
            <a:spAutoFit/>
          </a:bodyPr>
          <a:lstStyle/>
          <a:p>
            <a:pPr algn="ctr"/>
            <a:r>
              <a:rPr sz="1200" b="1" i="0">
                <a:solidFill>
                  <a:srgbClr val="0B8CA8"/>
                </a:solidFill>
                <a:latin typeface="Arial"/>
              </a:rPr>
              <a:t>4 · SonarQube</a:t>
            </a:r>
          </a:p>
          <a:p>
            <a:pPr algn="ctr"/>
            <a:r>
              <a:rPr sz="1000" b="0" i="0">
                <a:solidFill>
                  <a:srgbClr val="333333"/>
                </a:solidFill>
                <a:latin typeface="Arial"/>
              </a:rPr>
              <a:t>Static analysis</a:t>
            </a:r>
          </a:p>
          <a:p>
            <a:pPr algn="ctr"/>
            <a:r>
              <a:rPr sz="1000" b="0" i="0">
                <a:solidFill>
                  <a:srgbClr val="333333"/>
                </a:solidFill>
                <a:latin typeface="Arial"/>
              </a:rPr>
              <a:t>and hotspots</a:t>
            </a:r>
          </a:p>
        </p:txBody>
      </p:sp>
      <p:cxnSp>
        <p:nvCxnSpPr>
          <p:cNvPr id="17" name="Connector 16"/>
          <p:cNvCxnSpPr/>
          <p:nvPr/>
        </p:nvCxnSpPr>
        <p:spPr>
          <a:xfrm>
            <a:off x="7955280" y="2468880"/>
            <a:ext cx="137160" cy="0"/>
          </a:xfrm>
          <a:prstGeom prst="line">
            <a:avLst/>
          </a:prstGeom>
          <a:ln w="19050">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092440" y="1691640"/>
            <a:ext cx="1783080" cy="15544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129015" y="1709928"/>
            <a:ext cx="1709928" cy="1517904"/>
          </a:xfrm>
          <a:prstGeom prst="rect">
            <a:avLst/>
          </a:prstGeom>
          <a:noFill/>
        </p:spPr>
        <p:txBody>
          <a:bodyPr wrap="square" lIns="45720" tIns="18288" rIns="45720" bIns="18288" anchor="ctr">
            <a:spAutoFit/>
          </a:bodyPr>
          <a:lstStyle/>
          <a:p>
            <a:pPr algn="ctr"/>
            <a:r>
              <a:rPr sz="1200" b="1" i="0">
                <a:solidFill>
                  <a:srgbClr val="0B8CA8"/>
                </a:solidFill>
                <a:latin typeface="Arial"/>
              </a:rPr>
              <a:t>5 · Build + Trivy</a:t>
            </a:r>
          </a:p>
          <a:p>
            <a:pPr algn="ctr"/>
            <a:r>
              <a:rPr sz="1000" b="0" i="0">
                <a:solidFill>
                  <a:srgbClr val="333333"/>
                </a:solidFill>
                <a:latin typeface="Arial"/>
              </a:rPr>
              <a:t>Docker images</a:t>
            </a:r>
          </a:p>
          <a:p>
            <a:pPr algn="ctr"/>
            <a:r>
              <a:rPr sz="1000" b="0" i="0">
                <a:solidFill>
                  <a:srgbClr val="333333"/>
                </a:solidFill>
                <a:latin typeface="Arial"/>
              </a:rPr>
              <a:t>and IaC scan</a:t>
            </a:r>
          </a:p>
        </p:txBody>
      </p:sp>
      <p:cxnSp>
        <p:nvCxnSpPr>
          <p:cNvPr id="20" name="Connector 19"/>
          <p:cNvCxnSpPr/>
          <p:nvPr/>
        </p:nvCxnSpPr>
        <p:spPr>
          <a:xfrm>
            <a:off x="9875519" y="2468880"/>
            <a:ext cx="137161" cy="0"/>
          </a:xfrm>
          <a:prstGeom prst="line">
            <a:avLst/>
          </a:prstGeom>
          <a:ln w="19050">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10012680" y="1691640"/>
            <a:ext cx="1783080" cy="15544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0049255" y="1709928"/>
            <a:ext cx="1709928" cy="1517904"/>
          </a:xfrm>
          <a:prstGeom prst="rect">
            <a:avLst/>
          </a:prstGeom>
          <a:noFill/>
        </p:spPr>
        <p:txBody>
          <a:bodyPr wrap="square" lIns="45720" tIns="18288" rIns="45720" bIns="18288" anchor="ctr">
            <a:spAutoFit/>
          </a:bodyPr>
          <a:lstStyle/>
          <a:p>
            <a:pPr algn="ctr"/>
            <a:r>
              <a:rPr sz="1200" b="1" i="0">
                <a:solidFill>
                  <a:srgbClr val="0B8CA8"/>
                </a:solidFill>
                <a:latin typeface="Arial"/>
              </a:rPr>
              <a:t>6 · Quality gate</a:t>
            </a:r>
          </a:p>
          <a:p>
            <a:pPr algn="ctr"/>
            <a:r>
              <a:rPr sz="1000" b="0" i="0">
                <a:solidFill>
                  <a:srgbClr val="333333"/>
                </a:solidFill>
                <a:latin typeface="Arial"/>
              </a:rPr>
              <a:t>Final blocking</a:t>
            </a:r>
          </a:p>
          <a:p>
            <a:pPr algn="ctr"/>
            <a:r>
              <a:rPr sz="1000" b="0" i="0">
                <a:solidFill>
                  <a:srgbClr val="333333"/>
                </a:solidFill>
                <a:latin typeface="Arial"/>
              </a:rPr>
              <a:t>check</a:t>
            </a:r>
          </a:p>
        </p:txBody>
      </p:sp>
      <p:sp>
        <p:nvSpPr>
          <p:cNvPr id="23" name="Rounded Rectangle 22"/>
          <p:cNvSpPr/>
          <p:nvPr/>
        </p:nvSpPr>
        <p:spPr>
          <a:xfrm>
            <a:off x="411480" y="3520440"/>
            <a:ext cx="11338560" cy="566928"/>
          </a:xfrm>
          <a:prstGeom prst="roundRect">
            <a:avLst>
              <a:gd name="adj" fmla="val 12000"/>
            </a:avLst>
          </a:prstGeom>
          <a:noFill/>
          <a:ln w="2540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48640" y="3520440"/>
            <a:ext cx="11064240" cy="566928"/>
          </a:xfrm>
          <a:prstGeom prst="rect">
            <a:avLst/>
          </a:prstGeom>
          <a:noFill/>
        </p:spPr>
        <p:txBody>
          <a:bodyPr wrap="square" lIns="45720" tIns="18288" rIns="45720" bIns="18288" anchor="ctr">
            <a:spAutoFit/>
          </a:bodyPr>
          <a:lstStyle/>
          <a:p>
            <a:pPr algn="ctr"/>
            <a:r>
              <a:rPr sz="1200" b="1" i="0">
                <a:solidFill>
                  <a:srgbClr val="D0101A"/>
                </a:solidFill>
                <a:latin typeface="Arial"/>
              </a:rPr>
              <a:t>Blocking: </a:t>
            </a:r>
            <a:r>
              <a:rPr sz="1200" b="0" i="0">
                <a:solidFill>
                  <a:srgbClr val="000000"/>
                </a:solidFill>
                <a:latin typeface="Arial"/>
              </a:rPr>
              <a:t>stages 1-6.  </a:t>
            </a:r>
            <a:r>
              <a:rPr sz="1200" b="1" i="0">
                <a:solidFill>
                  <a:srgbClr val="000000"/>
                </a:solidFill>
                <a:latin typeface="Arial"/>
              </a:rPr>
              <a:t>Non-blocking: </a:t>
            </a:r>
            <a:r>
              <a:rPr sz="1200" b="0" i="0">
                <a:solidFill>
                  <a:srgbClr val="000000"/>
                </a:solidFill>
                <a:latin typeface="Arial"/>
              </a:rPr>
              <a:t>lint.  </a:t>
            </a:r>
            <a:r>
              <a:rPr sz="1200" b="1" i="0">
                <a:solidFill>
                  <a:srgbClr val="000000"/>
                </a:solidFill>
                <a:latin typeface="Arial"/>
              </a:rPr>
              <a:t>OWASP ZAP DAST </a:t>
            </a:r>
            <a:r>
              <a:rPr sz="1200" b="0" i="0">
                <a:solidFill>
                  <a:srgbClr val="000000"/>
                </a:solidFill>
                <a:latin typeface="Arial"/>
              </a:rPr>
              <a:t>logs in as all 4 roles and probes the running stack; results feed Grafana.</a:t>
            </a:r>
          </a:p>
        </p:txBody>
      </p:sp>
      <p:sp>
        <p:nvSpPr>
          <p:cNvPr id="25" name="Rounded Rectangle 24"/>
          <p:cNvSpPr/>
          <p:nvPr/>
        </p:nvSpPr>
        <p:spPr>
          <a:xfrm>
            <a:off x="822960" y="4434840"/>
            <a:ext cx="2560320" cy="1508760"/>
          </a:xfrm>
          <a:prstGeom prst="roundRect">
            <a:avLst>
              <a:gd name="adj" fmla="val 12000"/>
            </a:avLst>
          </a:prstGeom>
          <a:noFill/>
          <a:ln w="28575">
            <a:solidFill>
              <a:srgbClr val="8CC6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22960" y="4526280"/>
            <a:ext cx="2560320" cy="822960"/>
          </a:xfrm>
          <a:prstGeom prst="rect">
            <a:avLst/>
          </a:prstGeom>
          <a:noFill/>
        </p:spPr>
        <p:txBody>
          <a:bodyPr wrap="square" lIns="45720" tIns="18288" rIns="45720" bIns="18288" anchor="ctr">
            <a:spAutoFit/>
          </a:bodyPr>
          <a:lstStyle/>
          <a:p>
            <a:pPr algn="ctr"/>
            <a:r>
              <a:rPr sz="3400" b="0" i="0">
                <a:solidFill>
                  <a:srgbClr val="8CC63F"/>
                </a:solidFill>
                <a:latin typeface="Arial Black"/>
              </a:rPr>
              <a:t>0</a:t>
            </a:r>
          </a:p>
        </p:txBody>
      </p:sp>
      <p:sp>
        <p:nvSpPr>
          <p:cNvPr id="27" name="TextBox 26"/>
          <p:cNvSpPr txBox="1"/>
          <p:nvPr/>
        </p:nvSpPr>
        <p:spPr>
          <a:xfrm>
            <a:off x="822960" y="5349240"/>
            <a:ext cx="2560320" cy="502920"/>
          </a:xfrm>
          <a:prstGeom prst="rect">
            <a:avLst/>
          </a:prstGeom>
          <a:noFill/>
        </p:spPr>
        <p:txBody>
          <a:bodyPr wrap="square" lIns="45720" tIns="18288" rIns="45720" bIns="18288" anchor="ctr">
            <a:spAutoFit/>
          </a:bodyPr>
          <a:lstStyle/>
          <a:p>
            <a:pPr algn="ctr"/>
            <a:r>
              <a:rPr sz="1300" b="0" i="0">
                <a:solidFill>
                  <a:srgbClr val="000000"/>
                </a:solidFill>
                <a:latin typeface="Arial"/>
              </a:rPr>
              <a:t>new violations</a:t>
            </a:r>
          </a:p>
        </p:txBody>
      </p:sp>
      <p:sp>
        <p:nvSpPr>
          <p:cNvPr id="28" name="Rounded Rectangle 27"/>
          <p:cNvSpPr/>
          <p:nvPr/>
        </p:nvSpPr>
        <p:spPr>
          <a:xfrm>
            <a:off x="3657600" y="4434840"/>
            <a:ext cx="2560320" cy="1508760"/>
          </a:xfrm>
          <a:prstGeom prst="roundRect">
            <a:avLst>
              <a:gd name="adj" fmla="val 12000"/>
            </a:avLst>
          </a:prstGeom>
          <a:noFill/>
          <a:ln w="28575">
            <a:solidFill>
              <a:srgbClr val="8CC6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3657600" y="4526280"/>
            <a:ext cx="2560320" cy="822960"/>
          </a:xfrm>
          <a:prstGeom prst="rect">
            <a:avLst/>
          </a:prstGeom>
          <a:noFill/>
        </p:spPr>
        <p:txBody>
          <a:bodyPr wrap="square" lIns="45720" tIns="18288" rIns="45720" bIns="18288" anchor="ctr">
            <a:spAutoFit/>
          </a:bodyPr>
          <a:lstStyle/>
          <a:p>
            <a:pPr algn="ctr"/>
            <a:r>
              <a:rPr sz="3400" b="0" i="0">
                <a:solidFill>
                  <a:srgbClr val="8CC63F"/>
                </a:solidFill>
                <a:latin typeface="Arial Black"/>
              </a:rPr>
              <a:t>100%</a:t>
            </a:r>
          </a:p>
        </p:txBody>
      </p:sp>
      <p:sp>
        <p:nvSpPr>
          <p:cNvPr id="30" name="TextBox 29"/>
          <p:cNvSpPr txBox="1"/>
          <p:nvPr/>
        </p:nvSpPr>
        <p:spPr>
          <a:xfrm>
            <a:off x="3657600" y="5349240"/>
            <a:ext cx="2560320" cy="502920"/>
          </a:xfrm>
          <a:prstGeom prst="rect">
            <a:avLst/>
          </a:prstGeom>
          <a:noFill/>
        </p:spPr>
        <p:txBody>
          <a:bodyPr wrap="square" lIns="45720" tIns="18288" rIns="45720" bIns="18288" anchor="ctr">
            <a:spAutoFit/>
          </a:bodyPr>
          <a:lstStyle/>
          <a:p>
            <a:pPr algn="ctr"/>
            <a:r>
              <a:rPr sz="1300" b="0" i="0">
                <a:solidFill>
                  <a:srgbClr val="000000"/>
                </a:solidFill>
                <a:latin typeface="Arial"/>
              </a:rPr>
              <a:t>hotspots reviewed</a:t>
            </a:r>
          </a:p>
        </p:txBody>
      </p:sp>
      <p:sp>
        <p:nvSpPr>
          <p:cNvPr id="31" name="Rounded Rectangle 30"/>
          <p:cNvSpPr/>
          <p:nvPr/>
        </p:nvSpPr>
        <p:spPr>
          <a:xfrm>
            <a:off x="6492240" y="4434840"/>
            <a:ext cx="2560320" cy="1508760"/>
          </a:xfrm>
          <a:prstGeom prst="roundRect">
            <a:avLst>
              <a:gd name="adj" fmla="val 12000"/>
            </a:avLst>
          </a:prstGeom>
          <a:noFill/>
          <a:ln w="28575">
            <a:solidFill>
              <a:srgbClr val="8CC6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492240" y="4526280"/>
            <a:ext cx="2560320" cy="822960"/>
          </a:xfrm>
          <a:prstGeom prst="rect">
            <a:avLst/>
          </a:prstGeom>
          <a:noFill/>
        </p:spPr>
        <p:txBody>
          <a:bodyPr wrap="square" lIns="45720" tIns="18288" rIns="45720" bIns="18288" anchor="ctr">
            <a:spAutoFit/>
          </a:bodyPr>
          <a:lstStyle/>
          <a:p>
            <a:pPr algn="ctr"/>
            <a:r>
              <a:rPr sz="3400" b="0" i="0">
                <a:solidFill>
                  <a:srgbClr val="8CC63F"/>
                </a:solidFill>
                <a:latin typeface="Arial Black"/>
              </a:rPr>
              <a:t>2.6%</a:t>
            </a:r>
          </a:p>
        </p:txBody>
      </p:sp>
      <p:sp>
        <p:nvSpPr>
          <p:cNvPr id="33" name="TextBox 32"/>
          <p:cNvSpPr txBox="1"/>
          <p:nvPr/>
        </p:nvSpPr>
        <p:spPr>
          <a:xfrm>
            <a:off x="6492240" y="5349240"/>
            <a:ext cx="2560320" cy="502920"/>
          </a:xfrm>
          <a:prstGeom prst="rect">
            <a:avLst/>
          </a:prstGeom>
          <a:noFill/>
        </p:spPr>
        <p:txBody>
          <a:bodyPr wrap="square" lIns="45720" tIns="18288" rIns="45720" bIns="18288" anchor="ctr">
            <a:spAutoFit/>
          </a:bodyPr>
          <a:lstStyle/>
          <a:p>
            <a:pPr algn="ctr"/>
            <a:r>
              <a:rPr sz="1300" b="0" i="0">
                <a:solidFill>
                  <a:srgbClr val="000000"/>
                </a:solidFill>
                <a:latin typeface="Arial"/>
              </a:rPr>
              <a:t>duplication (was 10.3%)</a:t>
            </a:r>
          </a:p>
        </p:txBody>
      </p:sp>
      <p:sp>
        <p:nvSpPr>
          <p:cNvPr id="34" name="Rounded Rectangle 33"/>
          <p:cNvSpPr/>
          <p:nvPr/>
        </p:nvSpPr>
        <p:spPr>
          <a:xfrm>
            <a:off x="9326880" y="4434840"/>
            <a:ext cx="2560320" cy="1508760"/>
          </a:xfrm>
          <a:prstGeom prst="roundRect">
            <a:avLst>
              <a:gd name="adj" fmla="val 12000"/>
            </a:avLst>
          </a:prstGeom>
          <a:noFill/>
          <a:ln w="28575">
            <a:solidFill>
              <a:srgbClr val="8CC6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9326880" y="4526280"/>
            <a:ext cx="2560320" cy="822960"/>
          </a:xfrm>
          <a:prstGeom prst="rect">
            <a:avLst/>
          </a:prstGeom>
          <a:noFill/>
        </p:spPr>
        <p:txBody>
          <a:bodyPr wrap="square" lIns="45720" tIns="18288" rIns="45720" bIns="18288" anchor="ctr">
            <a:spAutoFit/>
          </a:bodyPr>
          <a:lstStyle/>
          <a:p>
            <a:pPr algn="ctr"/>
            <a:r>
              <a:rPr sz="3400" b="0" i="0">
                <a:solidFill>
                  <a:srgbClr val="8CC63F"/>
                </a:solidFill>
                <a:latin typeface="Arial Black"/>
              </a:rPr>
              <a:t>74.8%</a:t>
            </a:r>
          </a:p>
        </p:txBody>
      </p:sp>
      <p:sp>
        <p:nvSpPr>
          <p:cNvPr id="36" name="TextBox 35"/>
          <p:cNvSpPr txBox="1"/>
          <p:nvPr/>
        </p:nvSpPr>
        <p:spPr>
          <a:xfrm>
            <a:off x="9326880" y="5349240"/>
            <a:ext cx="2560320" cy="502920"/>
          </a:xfrm>
          <a:prstGeom prst="rect">
            <a:avLst/>
          </a:prstGeom>
          <a:noFill/>
        </p:spPr>
        <p:txBody>
          <a:bodyPr wrap="square" lIns="45720" tIns="18288" rIns="45720" bIns="18288" anchor="ctr">
            <a:spAutoFit/>
          </a:bodyPr>
          <a:lstStyle/>
          <a:p>
            <a:pPr algn="ctr"/>
            <a:r>
              <a:rPr sz="1300" b="0" i="0">
                <a:solidFill>
                  <a:srgbClr val="000000"/>
                </a:solidFill>
                <a:latin typeface="Arial"/>
              </a:rPr>
              <a:t>coverage (target 70%)</a:t>
            </a:r>
          </a:p>
        </p:txBody>
      </p:sp>
      <p:sp>
        <p:nvSpPr>
          <p:cNvPr id="37" name="TextBox 36"/>
          <p:cNvSpPr txBox="1"/>
          <p:nvPr/>
        </p:nvSpPr>
        <p:spPr>
          <a:xfrm>
            <a:off x="411480" y="6035040"/>
            <a:ext cx="11338560" cy="365760"/>
          </a:xfrm>
          <a:prstGeom prst="rect">
            <a:avLst/>
          </a:prstGeom>
          <a:noFill/>
        </p:spPr>
        <p:txBody>
          <a:bodyPr wrap="square" lIns="45720" tIns="18288" rIns="45720" bIns="18288" anchor="ctr">
            <a:spAutoFit/>
          </a:bodyPr>
          <a:lstStyle/>
          <a:p>
            <a:pPr algn="ctr"/>
            <a:r>
              <a:rPr sz="1200" b="0" i="1">
                <a:solidFill>
                  <a:srgbClr val="7A7A7A"/>
                </a:solidFill>
                <a:latin typeface="Arial"/>
              </a:rPr>
              <a:t>Quality gate: fully green on the EAMSagemCom project (branch Phase_2)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Implementation: DevSecOps</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000" b="0" i="0">
                <a:solidFill>
                  <a:srgbClr val="0A1045"/>
                </a:solidFill>
                <a:latin typeface="Arial Black"/>
              </a:rPr>
              <a:t>Security Pipeline: Live Evidence</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27</a:t>
            </a:r>
          </a:p>
        </p:txBody>
      </p:sp>
      <p:pic>
        <p:nvPicPr>
          <p:cNvPr id="6" name="Picture 5" descr="sonar.png"/>
          <p:cNvPicPr>
            <a:picLocks noChangeAspect="1"/>
          </p:cNvPicPr>
          <p:nvPr/>
        </p:nvPicPr>
        <p:blipFill>
          <a:blip r:embed="rId2"/>
          <a:stretch>
            <a:fillRect/>
          </a:stretch>
        </p:blipFill>
        <p:spPr>
          <a:xfrm>
            <a:off x="411480" y="1828800"/>
            <a:ext cx="3657600" cy="1859756"/>
          </a:xfrm>
          <a:prstGeom prst="rect">
            <a:avLst/>
          </a:prstGeom>
        </p:spPr>
      </p:pic>
      <p:sp>
        <p:nvSpPr>
          <p:cNvPr id="7" name="TextBox 6"/>
          <p:cNvSpPr txBox="1"/>
          <p:nvPr/>
        </p:nvSpPr>
        <p:spPr>
          <a:xfrm>
            <a:off x="411480" y="3840480"/>
            <a:ext cx="3657600" cy="365760"/>
          </a:xfrm>
          <a:prstGeom prst="rect">
            <a:avLst/>
          </a:prstGeom>
          <a:noFill/>
        </p:spPr>
        <p:txBody>
          <a:bodyPr wrap="square" lIns="45720" tIns="18288" rIns="45720" bIns="18288" anchor="ctr">
            <a:spAutoFit/>
          </a:bodyPr>
          <a:lstStyle/>
          <a:p>
            <a:pPr algn="ctr"/>
            <a:r>
              <a:rPr sz="1400" b="1" i="0">
                <a:solidFill>
                  <a:srgbClr val="0A1045"/>
                </a:solidFill>
                <a:latin typeface="Arial"/>
              </a:rPr>
              <a:t>SonarQube quality gate</a:t>
            </a:r>
          </a:p>
        </p:txBody>
      </p:sp>
      <p:pic>
        <p:nvPicPr>
          <p:cNvPr id="8" name="Picture 7" descr="trivy.png"/>
          <p:cNvPicPr>
            <a:picLocks noChangeAspect="1"/>
          </p:cNvPicPr>
          <p:nvPr/>
        </p:nvPicPr>
        <p:blipFill>
          <a:blip r:embed="rId3"/>
          <a:stretch>
            <a:fillRect/>
          </a:stretch>
        </p:blipFill>
        <p:spPr>
          <a:xfrm>
            <a:off x="4251960" y="1828800"/>
            <a:ext cx="3657600" cy="1845490"/>
          </a:xfrm>
          <a:prstGeom prst="rect">
            <a:avLst/>
          </a:prstGeom>
        </p:spPr>
      </p:pic>
      <p:sp>
        <p:nvSpPr>
          <p:cNvPr id="9" name="TextBox 8"/>
          <p:cNvSpPr txBox="1"/>
          <p:nvPr/>
        </p:nvSpPr>
        <p:spPr>
          <a:xfrm>
            <a:off x="4251960" y="3840480"/>
            <a:ext cx="3657600" cy="365760"/>
          </a:xfrm>
          <a:prstGeom prst="rect">
            <a:avLst/>
          </a:prstGeom>
          <a:noFill/>
        </p:spPr>
        <p:txBody>
          <a:bodyPr wrap="square" lIns="45720" tIns="18288" rIns="45720" bIns="18288" anchor="ctr">
            <a:spAutoFit/>
          </a:bodyPr>
          <a:lstStyle/>
          <a:p>
            <a:pPr algn="ctr"/>
            <a:r>
              <a:rPr sz="1400" b="1" i="0">
                <a:solidFill>
                  <a:srgbClr val="0A1045"/>
                </a:solidFill>
                <a:latin typeface="Arial"/>
              </a:rPr>
              <a:t>Trivy image scan</a:t>
            </a:r>
          </a:p>
        </p:txBody>
      </p:sp>
      <p:pic>
        <p:nvPicPr>
          <p:cNvPr id="10" name="Picture 9" descr="zap.png"/>
          <p:cNvPicPr>
            <a:picLocks noChangeAspect="1"/>
          </p:cNvPicPr>
          <p:nvPr/>
        </p:nvPicPr>
        <p:blipFill>
          <a:blip r:embed="rId4"/>
          <a:stretch>
            <a:fillRect/>
          </a:stretch>
        </p:blipFill>
        <p:spPr>
          <a:xfrm>
            <a:off x="8092440" y="1828800"/>
            <a:ext cx="3657600" cy="1828800"/>
          </a:xfrm>
          <a:prstGeom prst="rect">
            <a:avLst/>
          </a:prstGeom>
        </p:spPr>
      </p:pic>
      <p:sp>
        <p:nvSpPr>
          <p:cNvPr id="11" name="TextBox 10"/>
          <p:cNvSpPr txBox="1"/>
          <p:nvPr/>
        </p:nvSpPr>
        <p:spPr>
          <a:xfrm>
            <a:off x="8092440" y="3840480"/>
            <a:ext cx="3657600" cy="365760"/>
          </a:xfrm>
          <a:prstGeom prst="rect">
            <a:avLst/>
          </a:prstGeom>
          <a:noFill/>
        </p:spPr>
        <p:txBody>
          <a:bodyPr wrap="square" lIns="45720" tIns="18288" rIns="45720" bIns="18288" anchor="ctr">
            <a:spAutoFit/>
          </a:bodyPr>
          <a:lstStyle/>
          <a:p>
            <a:pPr algn="ctr"/>
            <a:r>
              <a:rPr sz="1400" b="1" i="0">
                <a:solidFill>
                  <a:srgbClr val="0A1045"/>
                </a:solidFill>
                <a:latin typeface="Arial"/>
              </a:rPr>
              <a:t>OWASP ZAP DAST</a:t>
            </a:r>
          </a:p>
        </p:txBody>
      </p:sp>
      <p:sp>
        <p:nvSpPr>
          <p:cNvPr id="12" name="TextBox 11"/>
          <p:cNvSpPr txBox="1"/>
          <p:nvPr/>
        </p:nvSpPr>
        <p:spPr>
          <a:xfrm>
            <a:off x="411480" y="4572000"/>
            <a:ext cx="11338560" cy="1280160"/>
          </a:xfrm>
          <a:prstGeom prst="rect">
            <a:avLst/>
          </a:prstGeom>
          <a:noFill/>
        </p:spPr>
        <p:txBody>
          <a:bodyPr wrap="square" lIns="45720" tIns="18288" rIns="45720" bIns="18288" anchor="ctr">
            <a:spAutoFit/>
          </a:bodyPr>
          <a:lstStyle/>
          <a:p>
            <a:pPr algn="ctr"/>
            <a:r>
              <a:rPr sz="1600" b="0" i="1">
                <a:solidFill>
                  <a:srgbClr val="000000"/>
                </a:solidFill>
                <a:latin typeface="Arial"/>
              </a:rPr>
              <a:t>Live dashboards from the running SonarQube and Grafana instances of this project, not mockups.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Implementation: Machine Learning</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000" b="0" i="0">
                <a:solidFill>
                  <a:srgbClr val="0A1045"/>
                </a:solidFill>
                <a:latin typeface="Arial Black"/>
              </a:rPr>
              <a:t>Machine Learning Pipeline</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28</a:t>
            </a:r>
          </a:p>
        </p:txBody>
      </p:sp>
      <p:sp>
        <p:nvSpPr>
          <p:cNvPr id="6" name="Rounded Rectangle 5"/>
          <p:cNvSpPr/>
          <p:nvPr/>
        </p:nvSpPr>
        <p:spPr>
          <a:xfrm>
            <a:off x="365760" y="1737360"/>
            <a:ext cx="1965960" cy="4023360"/>
          </a:xfrm>
          <a:prstGeom prst="roundRect">
            <a:avLst>
              <a:gd name="adj" fmla="val 12000"/>
            </a:avLst>
          </a:prstGeom>
          <a:noFill/>
          <a:ln w="22225">
            <a:solidFill>
              <a:srgbClr val="2FA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02336" y="1755648"/>
            <a:ext cx="1892807" cy="3986784"/>
          </a:xfrm>
          <a:prstGeom prst="rect">
            <a:avLst/>
          </a:prstGeom>
          <a:noFill/>
        </p:spPr>
        <p:txBody>
          <a:bodyPr wrap="square" lIns="45720" tIns="18288" rIns="45720" bIns="18288" anchor="ctr">
            <a:spAutoFit/>
          </a:bodyPr>
          <a:lstStyle/>
          <a:p>
            <a:pPr algn="ctr"/>
            <a:r>
              <a:rPr sz="1300" b="1" i="0" dirty="0">
                <a:solidFill>
                  <a:srgbClr val="2FA4E7"/>
                </a:solidFill>
                <a:latin typeface="Arial"/>
              </a:rPr>
              <a:t>Sensor telemetry</a:t>
            </a:r>
          </a:p>
          <a:p>
            <a:pPr algn="ctr"/>
            <a:r>
              <a:rPr sz="1100" b="0" i="0" dirty="0">
                <a:solidFill>
                  <a:srgbClr val="333333"/>
                </a:solidFill>
                <a:latin typeface="Arial"/>
              </a:rPr>
              <a:t>air temperature</a:t>
            </a:r>
          </a:p>
          <a:p>
            <a:pPr algn="ctr"/>
            <a:r>
              <a:rPr sz="1100" b="0" i="0" dirty="0">
                <a:solidFill>
                  <a:srgbClr val="333333"/>
                </a:solidFill>
                <a:latin typeface="Arial"/>
              </a:rPr>
              <a:t>process temperature</a:t>
            </a:r>
          </a:p>
          <a:p>
            <a:pPr algn="ctr"/>
            <a:r>
              <a:rPr sz="1100" b="0" i="0" dirty="0">
                <a:solidFill>
                  <a:srgbClr val="333333"/>
                </a:solidFill>
                <a:latin typeface="Arial"/>
              </a:rPr>
              <a:t>rotational speed</a:t>
            </a:r>
          </a:p>
          <a:p>
            <a:pPr algn="ctr"/>
            <a:r>
              <a:rPr sz="1100" b="0" i="0" dirty="0">
                <a:solidFill>
                  <a:srgbClr val="333333"/>
                </a:solidFill>
                <a:latin typeface="Arial"/>
              </a:rPr>
              <a:t>torque</a:t>
            </a:r>
          </a:p>
          <a:p>
            <a:pPr algn="ctr"/>
            <a:r>
              <a:rPr sz="1100" b="0" i="0" dirty="0">
                <a:solidFill>
                  <a:srgbClr val="333333"/>
                </a:solidFill>
                <a:latin typeface="Arial"/>
              </a:rPr>
              <a:t>tool wear</a:t>
            </a:r>
          </a:p>
        </p:txBody>
      </p:sp>
      <p:cxnSp>
        <p:nvCxnSpPr>
          <p:cNvPr id="8" name="Connector 7"/>
          <p:cNvCxnSpPr/>
          <p:nvPr/>
        </p:nvCxnSpPr>
        <p:spPr>
          <a:xfrm>
            <a:off x="2331720" y="3749039"/>
            <a:ext cx="32004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651760" y="3108960"/>
            <a:ext cx="1691640" cy="128016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688336" y="3127248"/>
            <a:ext cx="1618488" cy="1243584"/>
          </a:xfrm>
          <a:prstGeom prst="rect">
            <a:avLst/>
          </a:prstGeom>
          <a:noFill/>
        </p:spPr>
        <p:txBody>
          <a:bodyPr wrap="square" lIns="45720" tIns="18288" rIns="45720" bIns="18288" anchor="ctr">
            <a:spAutoFit/>
          </a:bodyPr>
          <a:lstStyle/>
          <a:p>
            <a:pPr algn="ctr"/>
            <a:r>
              <a:rPr sz="1200" b="1" i="0">
                <a:solidFill>
                  <a:srgbClr val="0A1045"/>
                </a:solidFill>
                <a:latin typeface="Arial"/>
              </a:rPr>
              <a:t>Feature pipeline</a:t>
            </a:r>
          </a:p>
          <a:p>
            <a:pPr algn="ctr"/>
            <a:r>
              <a:rPr sz="1000" b="0" i="0">
                <a:solidFill>
                  <a:srgbClr val="333333"/>
                </a:solidFill>
                <a:latin typeface="Arial"/>
              </a:rPr>
              <a:t>heat build-up and</a:t>
            </a:r>
          </a:p>
          <a:p>
            <a:pPr algn="ctr"/>
            <a:r>
              <a:rPr sz="1000" b="0" i="0">
                <a:solidFill>
                  <a:srgbClr val="333333"/>
                </a:solidFill>
                <a:latin typeface="Arial"/>
              </a:rPr>
              <a:t>workload</a:t>
            </a:r>
          </a:p>
        </p:txBody>
      </p:sp>
      <p:cxnSp>
        <p:nvCxnSpPr>
          <p:cNvPr id="11" name="Connector 10"/>
          <p:cNvCxnSpPr/>
          <p:nvPr/>
        </p:nvCxnSpPr>
        <p:spPr>
          <a:xfrm>
            <a:off x="4343400" y="3749039"/>
            <a:ext cx="32004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663440" y="1600200"/>
            <a:ext cx="3246120" cy="2103120"/>
          </a:xfrm>
          <a:prstGeom prst="roundRect">
            <a:avLst>
              <a:gd name="adj" fmla="val 6000"/>
            </a:avLst>
          </a:prstGeom>
          <a:noFill/>
          <a:ln w="2857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709160" y="1627632"/>
            <a:ext cx="3154680" cy="274320"/>
          </a:xfrm>
          <a:prstGeom prst="rect">
            <a:avLst/>
          </a:prstGeom>
          <a:noFill/>
        </p:spPr>
        <p:txBody>
          <a:bodyPr wrap="square" lIns="45720" tIns="18288" rIns="45720" bIns="18288" anchor="ctr">
            <a:spAutoFit/>
          </a:bodyPr>
          <a:lstStyle/>
          <a:p>
            <a:pPr algn="ctr"/>
            <a:r>
              <a:rPr sz="1200" b="1" i="0">
                <a:solidFill>
                  <a:srgbClr val="F39C2C"/>
                </a:solidFill>
                <a:latin typeface="Arial"/>
              </a:rPr>
              <a:t>7 models in parallel (P1-P7)</a:t>
            </a:r>
          </a:p>
        </p:txBody>
      </p:sp>
      <p:sp>
        <p:nvSpPr>
          <p:cNvPr id="14" name="TextBox 13"/>
          <p:cNvSpPr txBox="1"/>
          <p:nvPr/>
        </p:nvSpPr>
        <p:spPr>
          <a:xfrm>
            <a:off x="4754880" y="1920240"/>
            <a:ext cx="3017520" cy="246888"/>
          </a:xfrm>
          <a:prstGeom prst="rect">
            <a:avLst/>
          </a:prstGeom>
          <a:noFill/>
        </p:spPr>
        <p:txBody>
          <a:bodyPr wrap="square" lIns="45720" tIns="18288" rIns="45720" bIns="18288" anchor="ctr">
            <a:spAutoFit/>
          </a:bodyPr>
          <a:lstStyle/>
          <a:p>
            <a:pPr algn="l"/>
            <a:r>
              <a:rPr sz="1050" b="0" i="0" dirty="0">
                <a:solidFill>
                  <a:srgbClr val="000000"/>
                </a:solidFill>
                <a:latin typeface="Arial"/>
              </a:rPr>
              <a:t>P1 Failure chance</a:t>
            </a:r>
          </a:p>
        </p:txBody>
      </p:sp>
      <p:sp>
        <p:nvSpPr>
          <p:cNvPr id="15" name="TextBox 14"/>
          <p:cNvSpPr txBox="1"/>
          <p:nvPr/>
        </p:nvSpPr>
        <p:spPr>
          <a:xfrm>
            <a:off x="4754880" y="2167128"/>
            <a:ext cx="3017520" cy="246888"/>
          </a:xfrm>
          <a:prstGeom prst="rect">
            <a:avLst/>
          </a:prstGeom>
          <a:noFill/>
        </p:spPr>
        <p:txBody>
          <a:bodyPr wrap="square" lIns="45720" tIns="18288" rIns="45720" bIns="18288" anchor="ctr">
            <a:spAutoFit/>
          </a:bodyPr>
          <a:lstStyle/>
          <a:p>
            <a:pPr algn="l"/>
            <a:r>
              <a:rPr sz="1050" b="0" i="0">
                <a:solidFill>
                  <a:srgbClr val="000000"/>
                </a:solidFill>
                <a:latin typeface="Arial"/>
              </a:rPr>
              <a:t>P2 Failure type</a:t>
            </a:r>
          </a:p>
        </p:txBody>
      </p:sp>
      <p:sp>
        <p:nvSpPr>
          <p:cNvPr id="16" name="TextBox 15"/>
          <p:cNvSpPr txBox="1"/>
          <p:nvPr/>
        </p:nvSpPr>
        <p:spPr>
          <a:xfrm>
            <a:off x="4754880" y="2414016"/>
            <a:ext cx="3017520" cy="246888"/>
          </a:xfrm>
          <a:prstGeom prst="rect">
            <a:avLst/>
          </a:prstGeom>
          <a:noFill/>
        </p:spPr>
        <p:txBody>
          <a:bodyPr wrap="square" lIns="45720" tIns="18288" rIns="45720" bIns="18288" anchor="ctr">
            <a:spAutoFit/>
          </a:bodyPr>
          <a:lstStyle/>
          <a:p>
            <a:pPr algn="l"/>
            <a:r>
              <a:rPr sz="1050" b="0" i="0">
                <a:solidFill>
                  <a:srgbClr val="000000"/>
                </a:solidFill>
                <a:latin typeface="Arial"/>
              </a:rPr>
              <a:t>P3 Life left</a:t>
            </a:r>
          </a:p>
        </p:txBody>
      </p:sp>
      <p:sp>
        <p:nvSpPr>
          <p:cNvPr id="17" name="TextBox 16"/>
          <p:cNvSpPr txBox="1"/>
          <p:nvPr/>
        </p:nvSpPr>
        <p:spPr>
          <a:xfrm>
            <a:off x="4754880" y="2660904"/>
            <a:ext cx="3017520" cy="246888"/>
          </a:xfrm>
          <a:prstGeom prst="rect">
            <a:avLst/>
          </a:prstGeom>
          <a:noFill/>
        </p:spPr>
        <p:txBody>
          <a:bodyPr wrap="square" lIns="45720" tIns="18288" rIns="45720" bIns="18288" anchor="ctr">
            <a:spAutoFit/>
          </a:bodyPr>
          <a:lstStyle/>
          <a:p>
            <a:pPr algn="l"/>
            <a:r>
              <a:rPr sz="1050" b="0" i="0">
                <a:solidFill>
                  <a:srgbClr val="000000"/>
                </a:solidFill>
                <a:latin typeface="Arial"/>
              </a:rPr>
              <a:t>P4 Odd behavior</a:t>
            </a:r>
          </a:p>
        </p:txBody>
      </p:sp>
      <p:sp>
        <p:nvSpPr>
          <p:cNvPr id="18" name="TextBox 17"/>
          <p:cNvSpPr txBox="1"/>
          <p:nvPr/>
        </p:nvSpPr>
        <p:spPr>
          <a:xfrm>
            <a:off x="4754880" y="2907792"/>
            <a:ext cx="3017520" cy="246888"/>
          </a:xfrm>
          <a:prstGeom prst="rect">
            <a:avLst/>
          </a:prstGeom>
          <a:noFill/>
        </p:spPr>
        <p:txBody>
          <a:bodyPr wrap="square" lIns="45720" tIns="18288" rIns="45720" bIns="18288" anchor="ctr">
            <a:spAutoFit/>
          </a:bodyPr>
          <a:lstStyle/>
          <a:p>
            <a:pPr algn="l"/>
            <a:r>
              <a:rPr sz="1050" b="0" i="0">
                <a:solidFill>
                  <a:srgbClr val="000000"/>
                </a:solidFill>
                <a:latin typeface="Arial"/>
              </a:rPr>
              <a:t>P5 Urgency</a:t>
            </a:r>
          </a:p>
        </p:txBody>
      </p:sp>
      <p:sp>
        <p:nvSpPr>
          <p:cNvPr id="19" name="TextBox 18"/>
          <p:cNvSpPr txBox="1"/>
          <p:nvPr/>
        </p:nvSpPr>
        <p:spPr>
          <a:xfrm>
            <a:off x="4754880" y="3154680"/>
            <a:ext cx="3017520" cy="246888"/>
          </a:xfrm>
          <a:prstGeom prst="rect">
            <a:avLst/>
          </a:prstGeom>
          <a:noFill/>
        </p:spPr>
        <p:txBody>
          <a:bodyPr wrap="square" lIns="45720" tIns="18288" rIns="45720" bIns="18288" anchor="ctr">
            <a:spAutoFit/>
          </a:bodyPr>
          <a:lstStyle/>
          <a:p>
            <a:pPr algn="l"/>
            <a:r>
              <a:rPr sz="1050" b="0" i="0">
                <a:solidFill>
                  <a:srgbClr val="000000"/>
                </a:solidFill>
                <a:latin typeface="Arial"/>
              </a:rPr>
              <a:t>P6 Best timing</a:t>
            </a:r>
          </a:p>
        </p:txBody>
      </p:sp>
      <p:sp>
        <p:nvSpPr>
          <p:cNvPr id="20" name="TextBox 19"/>
          <p:cNvSpPr txBox="1"/>
          <p:nvPr/>
        </p:nvSpPr>
        <p:spPr>
          <a:xfrm>
            <a:off x="4754880" y="3401568"/>
            <a:ext cx="3017520" cy="246888"/>
          </a:xfrm>
          <a:prstGeom prst="rect">
            <a:avLst/>
          </a:prstGeom>
          <a:noFill/>
        </p:spPr>
        <p:txBody>
          <a:bodyPr wrap="square" lIns="45720" tIns="18288" rIns="45720" bIns="18288" anchor="ctr">
            <a:spAutoFit/>
          </a:bodyPr>
          <a:lstStyle/>
          <a:p>
            <a:pPr algn="l"/>
            <a:r>
              <a:rPr sz="1050" b="0" i="0">
                <a:solidFill>
                  <a:srgbClr val="000000"/>
                </a:solidFill>
                <a:latin typeface="Arial"/>
              </a:rPr>
              <a:t>P7 Parts needed</a:t>
            </a:r>
          </a:p>
        </p:txBody>
      </p:sp>
      <p:sp>
        <p:nvSpPr>
          <p:cNvPr id="21" name="Rounded Rectangle 20"/>
          <p:cNvSpPr/>
          <p:nvPr/>
        </p:nvSpPr>
        <p:spPr>
          <a:xfrm>
            <a:off x="4663440" y="3840480"/>
            <a:ext cx="3246120" cy="1920240"/>
          </a:xfrm>
          <a:prstGeom prst="roundRect">
            <a:avLst>
              <a:gd name="adj" fmla="val 6000"/>
            </a:avLst>
          </a:prstGeom>
          <a:noFill/>
          <a:ln w="2857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709160" y="3867912"/>
            <a:ext cx="3154680" cy="274320"/>
          </a:xfrm>
          <a:prstGeom prst="rect">
            <a:avLst/>
          </a:prstGeom>
          <a:noFill/>
        </p:spPr>
        <p:txBody>
          <a:bodyPr wrap="square" lIns="45720" tIns="18288" rIns="45720" bIns="18288" anchor="ctr">
            <a:spAutoFit/>
          </a:bodyPr>
          <a:lstStyle/>
          <a:p>
            <a:pPr algn="ctr"/>
            <a:r>
              <a:rPr sz="1200" b="1" i="0">
                <a:solidFill>
                  <a:srgbClr val="0B8CA8"/>
                </a:solidFill>
                <a:latin typeface="Arial"/>
              </a:rPr>
              <a:t>4 Wave 2 signals (history)</a:t>
            </a:r>
          </a:p>
        </p:txBody>
      </p:sp>
      <p:sp>
        <p:nvSpPr>
          <p:cNvPr id="23" name="TextBox 22"/>
          <p:cNvSpPr txBox="1"/>
          <p:nvPr/>
        </p:nvSpPr>
        <p:spPr>
          <a:xfrm>
            <a:off x="4754880" y="4187952"/>
            <a:ext cx="3108960" cy="365760"/>
          </a:xfrm>
          <a:prstGeom prst="rect">
            <a:avLst/>
          </a:prstGeom>
          <a:noFill/>
        </p:spPr>
        <p:txBody>
          <a:bodyPr wrap="square" lIns="45720" tIns="18288" rIns="45720" bIns="18288" anchor="ctr">
            <a:spAutoFit/>
          </a:bodyPr>
          <a:lstStyle/>
          <a:p>
            <a:pPr algn="l"/>
            <a:r>
              <a:rPr sz="1050" b="0" i="0">
                <a:solidFill>
                  <a:srgbClr val="000000"/>
                </a:solidFill>
                <a:latin typeface="Arial"/>
              </a:rPr>
              <a:t>PINN: keeps estimates realistic</a:t>
            </a:r>
          </a:p>
        </p:txBody>
      </p:sp>
      <p:sp>
        <p:nvSpPr>
          <p:cNvPr id="24" name="TextBox 23"/>
          <p:cNvSpPr txBox="1"/>
          <p:nvPr/>
        </p:nvSpPr>
        <p:spPr>
          <a:xfrm>
            <a:off x="4754880" y="4553712"/>
            <a:ext cx="3108960" cy="365760"/>
          </a:xfrm>
          <a:prstGeom prst="rect">
            <a:avLst/>
          </a:prstGeom>
          <a:noFill/>
        </p:spPr>
        <p:txBody>
          <a:bodyPr wrap="square" lIns="45720" tIns="18288" rIns="45720" bIns="18288" anchor="ctr">
            <a:spAutoFit/>
          </a:bodyPr>
          <a:lstStyle/>
          <a:p>
            <a:pPr algn="l"/>
            <a:r>
              <a:rPr sz="1050" b="0" i="0">
                <a:solidFill>
                  <a:srgbClr val="000000"/>
                </a:solidFill>
                <a:latin typeface="Arial"/>
              </a:rPr>
              <a:t>Cox PH: how long it can run</a:t>
            </a:r>
          </a:p>
        </p:txBody>
      </p:sp>
      <p:sp>
        <p:nvSpPr>
          <p:cNvPr id="25" name="TextBox 24"/>
          <p:cNvSpPr txBox="1"/>
          <p:nvPr/>
        </p:nvSpPr>
        <p:spPr>
          <a:xfrm>
            <a:off x="4754880" y="4919472"/>
            <a:ext cx="3108960" cy="365760"/>
          </a:xfrm>
          <a:prstGeom prst="rect">
            <a:avLst/>
          </a:prstGeom>
          <a:noFill/>
        </p:spPr>
        <p:txBody>
          <a:bodyPr wrap="square" lIns="45720" tIns="18288" rIns="45720" bIns="18288" anchor="ctr">
            <a:spAutoFit/>
          </a:bodyPr>
          <a:lstStyle/>
          <a:p>
            <a:pPr algn="l"/>
            <a:r>
              <a:rPr sz="1050" b="0" i="0">
                <a:solidFill>
                  <a:srgbClr val="000000"/>
                </a:solidFill>
                <a:latin typeface="Arial"/>
              </a:rPr>
              <a:t>Mahalanobis: off its own normal</a:t>
            </a:r>
          </a:p>
        </p:txBody>
      </p:sp>
      <p:sp>
        <p:nvSpPr>
          <p:cNvPr id="26" name="TextBox 25"/>
          <p:cNvSpPr txBox="1"/>
          <p:nvPr/>
        </p:nvSpPr>
        <p:spPr>
          <a:xfrm>
            <a:off x="4754880" y="5285232"/>
            <a:ext cx="3108960" cy="365760"/>
          </a:xfrm>
          <a:prstGeom prst="rect">
            <a:avLst/>
          </a:prstGeom>
          <a:noFill/>
        </p:spPr>
        <p:txBody>
          <a:bodyPr wrap="square" lIns="45720" tIns="18288" rIns="45720" bIns="18288" anchor="ctr">
            <a:spAutoFit/>
          </a:bodyPr>
          <a:lstStyle/>
          <a:p>
            <a:pPr algn="l"/>
            <a:r>
              <a:rPr sz="1050" b="0" i="0">
                <a:solidFill>
                  <a:srgbClr val="000000"/>
                </a:solidFill>
                <a:latin typeface="Arial"/>
              </a:rPr>
              <a:t>CUSUM + Kalman: slow decline</a:t>
            </a:r>
          </a:p>
        </p:txBody>
      </p:sp>
      <p:cxnSp>
        <p:nvCxnSpPr>
          <p:cNvPr id="27" name="Connector 26"/>
          <p:cNvCxnSpPr/>
          <p:nvPr/>
        </p:nvCxnSpPr>
        <p:spPr>
          <a:xfrm>
            <a:off x="7909560" y="2651760"/>
            <a:ext cx="365760" cy="91440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7909560" y="3931920"/>
            <a:ext cx="365760" cy="86868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8275320" y="3200400"/>
            <a:ext cx="1691640" cy="1097280"/>
          </a:xfrm>
          <a:prstGeom prst="roundRect">
            <a:avLst>
              <a:gd name="adj" fmla="val 12000"/>
            </a:avLst>
          </a:prstGeom>
          <a:noFill/>
          <a:ln w="2222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311896" y="3218688"/>
            <a:ext cx="1618488" cy="1060704"/>
          </a:xfrm>
          <a:prstGeom prst="rect">
            <a:avLst/>
          </a:prstGeom>
          <a:noFill/>
        </p:spPr>
        <p:txBody>
          <a:bodyPr wrap="square" lIns="45720" tIns="18288" rIns="45720" bIns="18288" anchor="ctr">
            <a:spAutoFit/>
          </a:bodyPr>
          <a:lstStyle/>
          <a:p>
            <a:pPr algn="ctr"/>
            <a:r>
              <a:rPr sz="1200" b="1" i="0">
                <a:solidFill>
                  <a:srgbClr val="D0101A"/>
                </a:solidFill>
                <a:latin typeface="Arial"/>
              </a:rPr>
              <a:t>DST fusion</a:t>
            </a:r>
          </a:p>
          <a:p>
            <a:pPr algn="ctr"/>
            <a:r>
              <a:rPr sz="950" b="0" i="0">
                <a:solidFill>
                  <a:srgbClr val="333333"/>
                </a:solidFill>
                <a:latin typeface="Arial"/>
              </a:rPr>
              <a:t>Dempster-Shafer;</a:t>
            </a:r>
          </a:p>
          <a:p>
            <a:pPr algn="ctr"/>
            <a:r>
              <a:rPr sz="950" b="0" i="0">
                <a:solidFill>
                  <a:srgbClr val="333333"/>
                </a:solidFill>
                <a:latin typeface="Arial"/>
              </a:rPr>
              <a:t>says 'not sure'</a:t>
            </a:r>
          </a:p>
          <a:p>
            <a:pPr algn="ctr"/>
            <a:r>
              <a:rPr sz="950" b="0" i="0">
                <a:solidFill>
                  <a:srgbClr val="333333"/>
                </a:solidFill>
                <a:latin typeface="Arial"/>
              </a:rPr>
              <a:t>on conflict</a:t>
            </a:r>
          </a:p>
        </p:txBody>
      </p:sp>
      <p:cxnSp>
        <p:nvCxnSpPr>
          <p:cNvPr id="31" name="Connector 30"/>
          <p:cNvCxnSpPr/>
          <p:nvPr/>
        </p:nvCxnSpPr>
        <p:spPr>
          <a:xfrm>
            <a:off x="9966960" y="3749039"/>
            <a:ext cx="27432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10241280" y="3017520"/>
            <a:ext cx="1600200" cy="1463040"/>
          </a:xfrm>
          <a:prstGeom prst="roundRect">
            <a:avLst>
              <a:gd name="adj" fmla="val 12000"/>
            </a:avLst>
          </a:prstGeom>
          <a:noFill/>
          <a:ln w="22225">
            <a:solidFill>
              <a:srgbClr val="8CC6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10277855" y="3035808"/>
            <a:ext cx="1527048" cy="1426464"/>
          </a:xfrm>
          <a:prstGeom prst="rect">
            <a:avLst/>
          </a:prstGeom>
          <a:noFill/>
        </p:spPr>
        <p:txBody>
          <a:bodyPr wrap="square" lIns="45720" tIns="18288" rIns="45720" bIns="18288" anchor="ctr">
            <a:spAutoFit/>
          </a:bodyPr>
          <a:lstStyle/>
          <a:p>
            <a:pPr algn="ctr"/>
            <a:r>
              <a:rPr sz="1200" b="1" i="0">
                <a:solidFill>
                  <a:srgbClr val="8CC63F"/>
                </a:solidFill>
                <a:latin typeface="Arial"/>
              </a:rPr>
              <a:t>Health score</a:t>
            </a:r>
          </a:p>
          <a:p>
            <a:pPr algn="ctr"/>
            <a:r>
              <a:rPr sz="1000" b="0" i="0">
                <a:solidFill>
                  <a:srgbClr val="333333"/>
                </a:solidFill>
                <a:latin typeface="Arial"/>
              </a:rPr>
              <a:t>0-100 +</a:t>
            </a:r>
          </a:p>
          <a:p>
            <a:pPr algn="ctr"/>
            <a:r>
              <a:rPr sz="1000" b="0" i="0">
                <a:solidFill>
                  <a:srgbClr val="333333"/>
                </a:solidFill>
                <a:latin typeface="Arial"/>
              </a:rPr>
              <a:t>plain-language</a:t>
            </a:r>
          </a:p>
          <a:p>
            <a:pPr algn="ctr"/>
            <a:r>
              <a:rPr sz="1000" b="0" i="0">
                <a:solidFill>
                  <a:srgbClr val="333333"/>
                </a:solidFill>
                <a:latin typeface="Arial"/>
              </a:rPr>
              <a:t>verdict</a:t>
            </a:r>
          </a:p>
        </p:txBody>
      </p:sp>
      <p:sp>
        <p:nvSpPr>
          <p:cNvPr id="34" name="TextBox 33"/>
          <p:cNvSpPr txBox="1"/>
          <p:nvPr/>
        </p:nvSpPr>
        <p:spPr>
          <a:xfrm>
            <a:off x="365760" y="5943600"/>
            <a:ext cx="11430000" cy="411480"/>
          </a:xfrm>
          <a:prstGeom prst="rect">
            <a:avLst/>
          </a:prstGeom>
          <a:noFill/>
        </p:spPr>
        <p:txBody>
          <a:bodyPr wrap="square" lIns="45720" tIns="18288" rIns="45720" bIns="18288" anchor="ctr">
            <a:spAutoFit/>
          </a:bodyPr>
          <a:lstStyle/>
          <a:p>
            <a:pPr algn="ctr"/>
            <a:r>
              <a:rPr sz="1200" b="0" i="1">
                <a:solidFill>
                  <a:srgbClr val="7A7A7A"/>
                </a:solidFill>
                <a:latin typeface="Arial"/>
              </a:rPr>
              <a:t>A score is shown only when the evidence is confident; every result is logged for audit and retraining.</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Implementation: Machine Learning</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2800" b="0" i="0">
                <a:solidFill>
                  <a:srgbClr val="0A1045"/>
                </a:solidFill>
                <a:latin typeface="Arial Black"/>
              </a:rPr>
              <a:t>Models &amp; Why They Were Chosen</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30</a:t>
            </a:r>
          </a:p>
        </p:txBody>
      </p:sp>
      <p:graphicFrame>
        <p:nvGraphicFramePr>
          <p:cNvPr id="6" name="Table 5"/>
          <p:cNvGraphicFramePr>
            <a:graphicFrameLocks noGrp="1"/>
          </p:cNvGraphicFramePr>
          <p:nvPr/>
        </p:nvGraphicFramePr>
        <p:xfrm>
          <a:off x="457200" y="1554480"/>
          <a:ext cx="11247120" cy="4754880"/>
        </p:xfrm>
        <a:graphic>
          <a:graphicData uri="http://schemas.openxmlformats.org/drawingml/2006/table">
            <a:tbl>
              <a:tblPr firstRow="1" bandRow="1">
                <a:tableStyleId>{5940675A-B579-460E-94D1-54222C63F5DA}</a:tableStyleId>
              </a:tblPr>
              <a:tblGrid>
                <a:gridCol w="22860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3200400">
                  <a:extLst>
                    <a:ext uri="{9D8B030D-6E8A-4147-A177-3AD203B41FA5}">
                      <a16:colId xmlns:a16="http://schemas.microsoft.com/office/drawing/2014/main" val="20003"/>
                    </a:ext>
                  </a:extLst>
                </a:gridCol>
              </a:tblGrid>
              <a:tr h="365760">
                <a:tc>
                  <a:txBody>
                    <a:bodyPr/>
                    <a:lstStyle/>
                    <a:p>
                      <a:pPr algn="ctr"/>
                      <a:r>
                        <a:rPr sz="1200" b="1" i="0">
                          <a:solidFill>
                            <a:srgbClr val="FFFFFF"/>
                          </a:solidFill>
                          <a:latin typeface="Arial"/>
                        </a:rPr>
                        <a:t>Problem</a:t>
                      </a:r>
                    </a:p>
                  </a:txBody>
                  <a:tcPr marL="54864" marR="54864" marT="18288" marB="18288" anchor="ctr">
                    <a:solidFill>
                      <a:srgbClr val="0A1045"/>
                    </a:solidFill>
                  </a:tcPr>
                </a:tc>
                <a:tc>
                  <a:txBody>
                    <a:bodyPr/>
                    <a:lstStyle/>
                    <a:p>
                      <a:pPr algn="ctr"/>
                      <a:r>
                        <a:rPr sz="1200" b="1" i="0">
                          <a:solidFill>
                            <a:srgbClr val="FFFFFF"/>
                          </a:solidFill>
                          <a:latin typeface="Arial"/>
                        </a:rPr>
                        <a:t>Model used</a:t>
                      </a:r>
                    </a:p>
                  </a:txBody>
                  <a:tcPr marL="54864" marR="54864" marT="18288" marB="18288" anchor="ctr">
                    <a:solidFill>
                      <a:srgbClr val="0A1045"/>
                    </a:solidFill>
                  </a:tcPr>
                </a:tc>
                <a:tc>
                  <a:txBody>
                    <a:bodyPr/>
                    <a:lstStyle/>
                    <a:p>
                      <a:pPr algn="ctr"/>
                      <a:r>
                        <a:rPr sz="1200" b="1" i="0">
                          <a:solidFill>
                            <a:srgbClr val="FFFFFF"/>
                          </a:solidFill>
                          <a:latin typeface="Arial"/>
                        </a:rPr>
                        <a:t>Alternatives considered</a:t>
                      </a:r>
                    </a:p>
                  </a:txBody>
                  <a:tcPr marL="54864" marR="54864" marT="18288" marB="18288" anchor="ctr">
                    <a:solidFill>
                      <a:srgbClr val="0A1045"/>
                    </a:solidFill>
                  </a:tcPr>
                </a:tc>
                <a:tc>
                  <a:txBody>
                    <a:bodyPr/>
                    <a:lstStyle/>
                    <a:p>
                      <a:pPr algn="ctr"/>
                      <a:r>
                        <a:rPr sz="1200" b="1" i="0">
                          <a:solidFill>
                            <a:srgbClr val="FFFFFF"/>
                          </a:solidFill>
                          <a:latin typeface="Arial"/>
                        </a:rPr>
                        <a:t>Why this one</a:t>
                      </a:r>
                    </a:p>
                  </a:txBody>
                  <a:tcPr marL="54864" marR="54864" marT="18288" marB="18288" anchor="ctr">
                    <a:solidFill>
                      <a:srgbClr val="0A1045"/>
                    </a:solidFill>
                  </a:tcPr>
                </a:tc>
                <a:extLst>
                  <a:ext uri="{0D108BD9-81ED-4DB2-BD59-A6C34878D82A}">
                    <a16:rowId xmlns:a16="http://schemas.microsoft.com/office/drawing/2014/main" val="10000"/>
                  </a:ext>
                </a:extLst>
              </a:tr>
              <a:tr h="365760">
                <a:tc>
                  <a:txBody>
                    <a:bodyPr/>
                    <a:lstStyle/>
                    <a:p>
                      <a:r>
                        <a:rPr sz="1200" b="1" i="0">
                          <a:solidFill>
                            <a:srgbClr val="000000"/>
                          </a:solidFill>
                          <a:latin typeface="Arial"/>
                        </a:rPr>
                        <a:t>P1 Failure probability</a:t>
                      </a:r>
                    </a:p>
                  </a:txBody>
                  <a:tcPr marL="54864" marR="54864" marT="18288" marB="18288" anchor="ctr"/>
                </a:tc>
                <a:tc>
                  <a:txBody>
                    <a:bodyPr/>
                    <a:lstStyle/>
                    <a:p>
                      <a:r>
                        <a:rPr sz="1200" b="0" i="0">
                          <a:solidFill>
                            <a:srgbClr val="000000"/>
                          </a:solidFill>
                          <a:latin typeface="Arial"/>
                        </a:rPr>
                        <a:t>XGBoost + SMOTE</a:t>
                      </a:r>
                    </a:p>
                  </a:txBody>
                  <a:tcPr marL="54864" marR="54864" marT="18288" marB="18288" anchor="ctr"/>
                </a:tc>
                <a:tc>
                  <a:txBody>
                    <a:bodyPr/>
                    <a:lstStyle/>
                    <a:p>
                      <a:r>
                        <a:rPr sz="1200" b="0" i="0">
                          <a:solidFill>
                            <a:srgbClr val="000000"/>
                          </a:solidFill>
                          <a:latin typeface="Arial"/>
                        </a:rPr>
                        <a:t>Random Forest, logistic regression</a:t>
                      </a:r>
                    </a:p>
                  </a:txBody>
                  <a:tcPr marL="54864" marR="54864" marT="18288" marB="18288" anchor="ctr"/>
                </a:tc>
                <a:tc>
                  <a:txBody>
                    <a:bodyPr/>
                    <a:lstStyle/>
                    <a:p>
                      <a:r>
                        <a:rPr sz="1200" b="0" i="0">
                          <a:solidFill>
                            <a:srgbClr val="000000"/>
                          </a:solidFill>
                          <a:latin typeface="Arial"/>
                        </a:rPr>
                        <a:t>Non-linear, imbalanced sensor data</a:t>
                      </a:r>
                    </a:p>
                  </a:txBody>
                  <a:tcPr marL="54864" marR="54864" marT="18288" marB="18288" anchor="ctr"/>
                </a:tc>
                <a:extLst>
                  <a:ext uri="{0D108BD9-81ED-4DB2-BD59-A6C34878D82A}">
                    <a16:rowId xmlns:a16="http://schemas.microsoft.com/office/drawing/2014/main" val="10001"/>
                  </a:ext>
                </a:extLst>
              </a:tr>
              <a:tr h="365760">
                <a:tc>
                  <a:txBody>
                    <a:bodyPr/>
                    <a:lstStyle/>
                    <a:p>
                      <a:r>
                        <a:rPr sz="1200" b="1" i="0">
                          <a:solidFill>
                            <a:srgbClr val="000000"/>
                          </a:solidFill>
                          <a:latin typeface="Arial"/>
                        </a:rPr>
                        <a:t>P2 Failure type</a:t>
                      </a:r>
                    </a:p>
                  </a:txBody>
                  <a:tcPr marL="54864" marR="54864" marT="18288" marB="18288" anchor="ctr"/>
                </a:tc>
                <a:tc>
                  <a:txBody>
                    <a:bodyPr/>
                    <a:lstStyle/>
                    <a:p>
                      <a:r>
                        <a:rPr sz="1200" b="0" i="0">
                          <a:solidFill>
                            <a:srgbClr val="000000"/>
                          </a:solidFill>
                          <a:latin typeface="Arial"/>
                        </a:rPr>
                        <a:t>Multi-output XGBoost</a:t>
                      </a:r>
                    </a:p>
                  </a:txBody>
                  <a:tcPr marL="54864" marR="54864" marT="18288" marB="18288" anchor="ctr"/>
                </a:tc>
                <a:tc>
                  <a:txBody>
                    <a:bodyPr/>
                    <a:lstStyle/>
                    <a:p>
                      <a:r>
                        <a:rPr sz="1200" b="0" i="0">
                          <a:solidFill>
                            <a:srgbClr val="000000"/>
                          </a:solidFill>
                          <a:latin typeface="Arial"/>
                        </a:rPr>
                        <a:t>Multi-output Random Forest</a:t>
                      </a:r>
                    </a:p>
                  </a:txBody>
                  <a:tcPr marL="54864" marR="54864" marT="18288" marB="18288" anchor="ctr"/>
                </a:tc>
                <a:tc>
                  <a:txBody>
                    <a:bodyPr/>
                    <a:lstStyle/>
                    <a:p>
                      <a:r>
                        <a:rPr sz="1200" b="0" i="0">
                          <a:solidFill>
                            <a:srgbClr val="000000"/>
                          </a:solidFill>
                          <a:latin typeface="Arial"/>
                        </a:rPr>
                        <a:t>Higher F1 on rare failure modes</a:t>
                      </a:r>
                    </a:p>
                  </a:txBody>
                  <a:tcPr marL="54864" marR="54864" marT="18288" marB="18288" anchor="ctr"/>
                </a:tc>
                <a:extLst>
                  <a:ext uri="{0D108BD9-81ED-4DB2-BD59-A6C34878D82A}">
                    <a16:rowId xmlns:a16="http://schemas.microsoft.com/office/drawing/2014/main" val="10002"/>
                  </a:ext>
                </a:extLst>
              </a:tr>
              <a:tr h="365760">
                <a:tc>
                  <a:txBody>
                    <a:bodyPr/>
                    <a:lstStyle/>
                    <a:p>
                      <a:r>
                        <a:rPr sz="1200" b="1" i="0">
                          <a:solidFill>
                            <a:srgbClr val="000000"/>
                          </a:solidFill>
                          <a:latin typeface="Arial"/>
                        </a:rPr>
                        <a:t>P3 Remaining life</a:t>
                      </a:r>
                    </a:p>
                  </a:txBody>
                  <a:tcPr marL="54864" marR="54864" marT="18288" marB="18288" anchor="ctr"/>
                </a:tc>
                <a:tc>
                  <a:txBody>
                    <a:bodyPr/>
                    <a:lstStyle/>
                    <a:p>
                      <a:r>
                        <a:rPr sz="1200" b="0" i="0">
                          <a:solidFill>
                            <a:srgbClr val="000000"/>
                          </a:solidFill>
                          <a:latin typeface="Arial"/>
                        </a:rPr>
                        <a:t>XGBoost + quantile heads</a:t>
                      </a:r>
                    </a:p>
                  </a:txBody>
                  <a:tcPr marL="54864" marR="54864" marT="18288" marB="18288" anchor="ctr"/>
                </a:tc>
                <a:tc>
                  <a:txBody>
                    <a:bodyPr/>
                    <a:lstStyle/>
                    <a:p>
                      <a:r>
                        <a:rPr sz="1200" b="0" i="0">
                          <a:solidFill>
                            <a:srgbClr val="000000"/>
                          </a:solidFill>
                          <a:latin typeface="Arial"/>
                        </a:rPr>
                        <a:t>Hand-coded linear regression</a:t>
                      </a:r>
                    </a:p>
                  </a:txBody>
                  <a:tcPr marL="54864" marR="54864" marT="18288" marB="18288" anchor="ctr"/>
                </a:tc>
                <a:tc>
                  <a:txBody>
                    <a:bodyPr/>
                    <a:lstStyle/>
                    <a:p>
                      <a:r>
                        <a:rPr sz="1200" b="0" i="0">
                          <a:solidFill>
                            <a:srgbClr val="000000"/>
                          </a:solidFill>
                          <a:latin typeface="Arial"/>
                        </a:rPr>
                        <a:t>Calibrated uncertainty range (MAE 14.95)</a:t>
                      </a:r>
                    </a:p>
                  </a:txBody>
                  <a:tcPr marL="54864" marR="54864" marT="18288" marB="18288" anchor="ctr"/>
                </a:tc>
                <a:extLst>
                  <a:ext uri="{0D108BD9-81ED-4DB2-BD59-A6C34878D82A}">
                    <a16:rowId xmlns:a16="http://schemas.microsoft.com/office/drawing/2014/main" val="10003"/>
                  </a:ext>
                </a:extLst>
              </a:tr>
              <a:tr h="365760">
                <a:tc>
                  <a:txBody>
                    <a:bodyPr/>
                    <a:lstStyle/>
                    <a:p>
                      <a:r>
                        <a:rPr sz="1200" b="1" i="0">
                          <a:solidFill>
                            <a:srgbClr val="000000"/>
                          </a:solidFill>
                          <a:latin typeface="Arial"/>
                        </a:rPr>
                        <a:t>P4 Anomaly</a:t>
                      </a:r>
                    </a:p>
                  </a:txBody>
                  <a:tcPr marL="54864" marR="54864" marT="18288" marB="18288" anchor="ctr"/>
                </a:tc>
                <a:tc>
                  <a:txBody>
                    <a:bodyPr/>
                    <a:lstStyle/>
                    <a:p>
                      <a:r>
                        <a:rPr sz="1200" b="0" i="0">
                          <a:solidFill>
                            <a:srgbClr val="000000"/>
                          </a:solidFill>
                          <a:latin typeface="Arial"/>
                        </a:rPr>
                        <a:t>4-method ensemble</a:t>
                      </a:r>
                    </a:p>
                  </a:txBody>
                  <a:tcPr marL="54864" marR="54864" marT="18288" marB="18288" anchor="ctr"/>
                </a:tc>
                <a:tc>
                  <a:txBody>
                    <a:bodyPr/>
                    <a:lstStyle/>
                    <a:p>
                      <a:r>
                        <a:rPr sz="1200" b="0" i="0">
                          <a:solidFill>
                            <a:srgbClr val="000000"/>
                          </a:solidFill>
                          <a:latin typeface="Arial"/>
                        </a:rPr>
                        <a:t>Isolation Forest or autoencoder alone</a:t>
                      </a:r>
                    </a:p>
                  </a:txBody>
                  <a:tcPr marL="54864" marR="54864" marT="18288" marB="18288" anchor="ctr"/>
                </a:tc>
                <a:tc>
                  <a:txBody>
                    <a:bodyPr/>
                    <a:lstStyle/>
                    <a:p>
                      <a:r>
                        <a:rPr sz="1200" b="0" i="0">
                          <a:solidFill>
                            <a:srgbClr val="000000"/>
                          </a:solidFill>
                          <a:latin typeface="Arial"/>
                        </a:rPr>
                        <a:t>Catches shapes a single method misses</a:t>
                      </a:r>
                    </a:p>
                  </a:txBody>
                  <a:tcPr marL="54864" marR="54864" marT="18288" marB="18288" anchor="ctr"/>
                </a:tc>
                <a:extLst>
                  <a:ext uri="{0D108BD9-81ED-4DB2-BD59-A6C34878D82A}">
                    <a16:rowId xmlns:a16="http://schemas.microsoft.com/office/drawing/2014/main" val="10004"/>
                  </a:ext>
                </a:extLst>
              </a:tr>
              <a:tr h="365760">
                <a:tc>
                  <a:txBody>
                    <a:bodyPr/>
                    <a:lstStyle/>
                    <a:p>
                      <a:r>
                        <a:rPr sz="1200" b="1" i="0">
                          <a:solidFill>
                            <a:srgbClr val="000000"/>
                          </a:solidFill>
                          <a:latin typeface="Arial"/>
                        </a:rPr>
                        <a:t>P5 Priority</a:t>
                      </a:r>
                    </a:p>
                  </a:txBody>
                  <a:tcPr marL="54864" marR="54864" marT="18288" marB="18288" anchor="ctr"/>
                </a:tc>
                <a:tc>
                  <a:txBody>
                    <a:bodyPr/>
                    <a:lstStyle/>
                    <a:p>
                      <a:r>
                        <a:rPr sz="1200" b="0" i="0">
                          <a:solidFill>
                            <a:srgbClr val="000000"/>
                          </a:solidFill>
                          <a:latin typeface="Arial"/>
                        </a:rPr>
                        <a:t>XGBoost multi-class</a:t>
                      </a:r>
                    </a:p>
                  </a:txBody>
                  <a:tcPr marL="54864" marR="54864" marT="18288" marB="18288" anchor="ctr"/>
                </a:tc>
                <a:tc>
                  <a:txBody>
                    <a:bodyPr/>
                    <a:lstStyle/>
                    <a:p>
                      <a:r>
                        <a:rPr sz="1200" b="0" i="0">
                          <a:solidFill>
                            <a:srgbClr val="000000"/>
                          </a:solidFill>
                          <a:latin typeface="Arial"/>
                        </a:rPr>
                        <a:t>Rule-based heuristic</a:t>
                      </a:r>
                    </a:p>
                  </a:txBody>
                  <a:tcPr marL="54864" marR="54864" marT="18288" marB="18288" anchor="ctr"/>
                </a:tc>
                <a:tc>
                  <a:txBody>
                    <a:bodyPr/>
                    <a:lstStyle/>
                    <a:p>
                      <a:r>
                        <a:rPr sz="1200" b="0" i="0">
                          <a:solidFill>
                            <a:srgbClr val="000000"/>
                          </a:solidFill>
                          <a:latin typeface="Arial"/>
                        </a:rPr>
                        <a:t>Learns patterns, not fixed thresholds</a:t>
                      </a:r>
                    </a:p>
                  </a:txBody>
                  <a:tcPr marL="54864" marR="54864" marT="18288" marB="18288" anchor="ctr"/>
                </a:tc>
                <a:extLst>
                  <a:ext uri="{0D108BD9-81ED-4DB2-BD59-A6C34878D82A}">
                    <a16:rowId xmlns:a16="http://schemas.microsoft.com/office/drawing/2014/main" val="10005"/>
                  </a:ext>
                </a:extLst>
              </a:tr>
              <a:tr h="365760">
                <a:tc>
                  <a:txBody>
                    <a:bodyPr/>
                    <a:lstStyle/>
                    <a:p>
                      <a:r>
                        <a:rPr sz="1200" b="1" i="0">
                          <a:solidFill>
                            <a:srgbClr val="000000"/>
                          </a:solidFill>
                          <a:latin typeface="Arial"/>
                        </a:rPr>
                        <a:t>P6 Schedule</a:t>
                      </a:r>
                    </a:p>
                  </a:txBody>
                  <a:tcPr marL="54864" marR="54864" marT="18288" marB="18288" anchor="ctr"/>
                </a:tc>
                <a:tc>
                  <a:txBody>
                    <a:bodyPr/>
                    <a:lstStyle/>
                    <a:p>
                      <a:r>
                        <a:rPr sz="1200" b="0" i="0">
                          <a:solidFill>
                            <a:srgbClr val="000000"/>
                          </a:solidFill>
                          <a:latin typeface="Arial"/>
                        </a:rPr>
                        <a:t>XGBoost classifier</a:t>
                      </a:r>
                    </a:p>
                  </a:txBody>
                  <a:tcPr marL="54864" marR="54864" marT="18288" marB="18288" anchor="ctr"/>
                </a:tc>
                <a:tc>
                  <a:txBody>
                    <a:bodyPr/>
                    <a:lstStyle/>
                    <a:p>
                      <a:r>
                        <a:rPr sz="1200" b="0" i="0">
                          <a:solidFill>
                            <a:srgbClr val="000000"/>
                          </a:solidFill>
                          <a:latin typeface="Arial"/>
                        </a:rPr>
                        <a:t>Prophet, ARIMA, LSTM</a:t>
                      </a:r>
                    </a:p>
                  </a:txBody>
                  <a:tcPr marL="54864" marR="54864" marT="18288" marB="18288" anchor="ctr"/>
                </a:tc>
                <a:tc>
                  <a:txBody>
                    <a:bodyPr/>
                    <a:lstStyle/>
                    <a:p>
                      <a:r>
                        <a:rPr sz="1200" b="0" i="0">
                          <a:solidFill>
                            <a:srgbClr val="000000"/>
                          </a:solidFill>
                          <a:latin typeface="Arial"/>
                        </a:rPr>
                        <a:t>Robust on sparse per-machine data</a:t>
                      </a:r>
                    </a:p>
                  </a:txBody>
                  <a:tcPr marL="54864" marR="54864" marT="18288" marB="18288" anchor="ctr"/>
                </a:tc>
                <a:extLst>
                  <a:ext uri="{0D108BD9-81ED-4DB2-BD59-A6C34878D82A}">
                    <a16:rowId xmlns:a16="http://schemas.microsoft.com/office/drawing/2014/main" val="10006"/>
                  </a:ext>
                </a:extLst>
              </a:tr>
              <a:tr h="365760">
                <a:tc>
                  <a:txBody>
                    <a:bodyPr/>
                    <a:lstStyle/>
                    <a:p>
                      <a:r>
                        <a:rPr sz="1200" b="1" i="0">
                          <a:solidFill>
                            <a:srgbClr val="000000"/>
                          </a:solidFill>
                          <a:latin typeface="Arial"/>
                        </a:rPr>
                        <a:t>P7 Parts demand</a:t>
                      </a:r>
                    </a:p>
                  </a:txBody>
                  <a:tcPr marL="54864" marR="54864" marT="18288" marB="18288" anchor="ctr"/>
                </a:tc>
                <a:tc>
                  <a:txBody>
                    <a:bodyPr/>
                    <a:lstStyle/>
                    <a:p>
                      <a:r>
                        <a:rPr sz="1200" b="0" i="0">
                          <a:solidFill>
                            <a:srgbClr val="000000"/>
                          </a:solidFill>
                          <a:latin typeface="Arial"/>
                        </a:rPr>
                        <a:t>Survival + Croston</a:t>
                      </a:r>
                    </a:p>
                  </a:txBody>
                  <a:tcPr marL="54864" marR="54864" marT="18288" marB="18288" anchor="ctr"/>
                </a:tc>
                <a:tc>
                  <a:txBody>
                    <a:bodyPr/>
                    <a:lstStyle/>
                    <a:p>
                      <a:r>
                        <a:rPr sz="1200" b="0" i="0">
                          <a:solidFill>
                            <a:srgbClr val="000000"/>
                          </a:solidFill>
                          <a:latin typeface="Arial"/>
                        </a:rPr>
                        <a:t>Reorder point, moving average</a:t>
                      </a:r>
                    </a:p>
                  </a:txBody>
                  <a:tcPr marL="54864" marR="54864" marT="18288" marB="18288" anchor="ctr"/>
                </a:tc>
                <a:tc>
                  <a:txBody>
                    <a:bodyPr/>
                    <a:lstStyle/>
                    <a:p>
                      <a:r>
                        <a:rPr sz="1200" b="0" i="0">
                          <a:solidFill>
                            <a:srgbClr val="000000"/>
                          </a:solidFill>
                          <a:latin typeface="Arial"/>
                        </a:rPr>
                        <a:t>Built for bursty, intermittent demand</a:t>
                      </a:r>
                    </a:p>
                  </a:txBody>
                  <a:tcPr marL="54864" marR="54864" marT="18288" marB="18288" anchor="ctr"/>
                </a:tc>
                <a:extLst>
                  <a:ext uri="{0D108BD9-81ED-4DB2-BD59-A6C34878D82A}">
                    <a16:rowId xmlns:a16="http://schemas.microsoft.com/office/drawing/2014/main" val="10007"/>
                  </a:ext>
                </a:extLst>
              </a:tr>
              <a:tr h="365760">
                <a:tc>
                  <a:txBody>
                    <a:bodyPr/>
                    <a:lstStyle/>
                    <a:p>
                      <a:r>
                        <a:rPr sz="1200" b="1" i="0">
                          <a:solidFill>
                            <a:srgbClr val="000000"/>
                          </a:solidFill>
                          <a:latin typeface="Arial"/>
                        </a:rPr>
                        <a:t>Wave 2: Realistic life</a:t>
                      </a:r>
                    </a:p>
                  </a:txBody>
                  <a:tcPr marL="54864" marR="54864" marT="18288" marB="18288" anchor="ctr"/>
                </a:tc>
                <a:tc>
                  <a:txBody>
                    <a:bodyPr/>
                    <a:lstStyle/>
                    <a:p>
                      <a:r>
                        <a:rPr sz="1200" b="0" i="0">
                          <a:solidFill>
                            <a:srgbClr val="000000"/>
                          </a:solidFill>
                          <a:latin typeface="Arial"/>
                        </a:rPr>
                        <a:t>PINN (physics-informed network)</a:t>
                      </a:r>
                    </a:p>
                  </a:txBody>
                  <a:tcPr marL="54864" marR="54864" marT="18288" marB="18288" anchor="ctr"/>
                </a:tc>
                <a:tc>
                  <a:txBody>
                    <a:bodyPr/>
                    <a:lstStyle/>
                    <a:p>
                      <a:r>
                        <a:rPr sz="1200" b="0" i="0">
                          <a:solidFill>
                            <a:srgbClr val="000000"/>
                          </a:solidFill>
                          <a:latin typeface="Arial"/>
                        </a:rPr>
                        <a:t>Purely data-driven network</a:t>
                      </a:r>
                    </a:p>
                  </a:txBody>
                  <a:tcPr marL="54864" marR="54864" marT="18288" marB="18288" anchor="ctr"/>
                </a:tc>
                <a:tc>
                  <a:txBody>
                    <a:bodyPr/>
                    <a:lstStyle/>
                    <a:p>
                      <a:r>
                        <a:rPr sz="1200" b="0" i="0">
                          <a:solidFill>
                            <a:srgbClr val="000000"/>
                          </a:solidFill>
                          <a:latin typeface="Arial"/>
                        </a:rPr>
                        <a:t>Physics rules out impossible estimates</a:t>
                      </a:r>
                    </a:p>
                  </a:txBody>
                  <a:tcPr marL="54864" marR="54864" marT="18288" marB="18288" anchor="ctr"/>
                </a:tc>
                <a:extLst>
                  <a:ext uri="{0D108BD9-81ED-4DB2-BD59-A6C34878D82A}">
                    <a16:rowId xmlns:a16="http://schemas.microsoft.com/office/drawing/2014/main" val="10101"/>
                  </a:ext>
                </a:extLst>
              </a:tr>
              <a:tr h="365760">
                <a:tc>
                  <a:txBody>
                    <a:bodyPr/>
                    <a:lstStyle/>
                    <a:p>
                      <a:r>
                        <a:rPr sz="1200" b="1" i="0">
                          <a:solidFill>
                            <a:srgbClr val="000000"/>
                          </a:solidFill>
                          <a:latin typeface="Arial"/>
                        </a:rPr>
                        <a:t>Wave 2: Time to failure</a:t>
                      </a:r>
                    </a:p>
                  </a:txBody>
                  <a:tcPr marL="54864" marR="54864" marT="18288" marB="18288" anchor="ctr"/>
                </a:tc>
                <a:tc>
                  <a:txBody>
                    <a:bodyPr/>
                    <a:lstStyle/>
                    <a:p>
                      <a:r>
                        <a:rPr sz="1200" b="0" i="0">
                          <a:solidFill>
                            <a:srgbClr val="000000"/>
                          </a:solidFill>
                          <a:latin typeface="Arial"/>
                        </a:rPr>
                        <a:t>Cox PH survival model</a:t>
                      </a:r>
                    </a:p>
                  </a:txBody>
                  <a:tcPr marL="54864" marR="54864" marT="18288" marB="18288" anchor="ctr"/>
                </a:tc>
                <a:tc>
                  <a:txBody>
                    <a:bodyPr/>
                    <a:lstStyle/>
                    <a:p>
                      <a:r>
                        <a:rPr sz="1200" b="0" i="0">
                          <a:solidFill>
                            <a:srgbClr val="000000"/>
                          </a:solidFill>
                          <a:latin typeface="Arial"/>
                        </a:rPr>
                        <a:t>Plain regression, Weibull AFT</a:t>
                      </a:r>
                    </a:p>
                  </a:txBody>
                  <a:tcPr marL="54864" marR="54864" marT="18288" marB="18288" anchor="ctr"/>
                </a:tc>
                <a:tc>
                  <a:txBody>
                    <a:bodyPr/>
                    <a:lstStyle/>
                    <a:p>
                      <a:r>
                        <a:rPr sz="1200" b="0" i="0">
                          <a:solidFill>
                            <a:srgbClr val="000000"/>
                          </a:solidFill>
                          <a:latin typeface="Arial"/>
                        </a:rPr>
                        <a:t>Handles running machines · C-index 0.712</a:t>
                      </a:r>
                    </a:p>
                  </a:txBody>
                  <a:tcPr marL="54864" marR="54864" marT="18288" marB="18288" anchor="ctr"/>
                </a:tc>
                <a:extLst>
                  <a:ext uri="{0D108BD9-81ED-4DB2-BD59-A6C34878D82A}">
                    <a16:rowId xmlns:a16="http://schemas.microsoft.com/office/drawing/2014/main" val="10102"/>
                  </a:ext>
                </a:extLst>
              </a:tr>
              <a:tr h="365760">
                <a:tc>
                  <a:txBody>
                    <a:bodyPr/>
                    <a:lstStyle/>
                    <a:p>
                      <a:r>
                        <a:rPr sz="1200" b="1" i="0">
                          <a:solidFill>
                            <a:srgbClr val="000000"/>
                          </a:solidFill>
                          <a:latin typeface="Arial"/>
                        </a:rPr>
                        <a:t>Wave 2: Off its normal</a:t>
                      </a:r>
                    </a:p>
                  </a:txBody>
                  <a:tcPr marL="54864" marR="54864" marT="18288" marB="18288" anchor="ctr"/>
                </a:tc>
                <a:tc>
                  <a:txBody>
                    <a:bodyPr/>
                    <a:lstStyle/>
                    <a:p>
                      <a:r>
                        <a:rPr sz="1200" b="0" i="0">
                          <a:solidFill>
                            <a:srgbClr val="000000"/>
                          </a:solidFill>
                          <a:latin typeface="Arial"/>
                        </a:rPr>
                        <a:t>Mahalanobis health index</a:t>
                      </a:r>
                    </a:p>
                  </a:txBody>
                  <a:tcPr marL="54864" marR="54864" marT="18288" marB="18288" anchor="ctr"/>
                </a:tc>
                <a:tc>
                  <a:txBody>
                    <a:bodyPr/>
                    <a:lstStyle/>
                    <a:p>
                      <a:r>
                        <a:rPr sz="1200" b="0" i="0">
                          <a:solidFill>
                            <a:srgbClr val="000000"/>
                          </a:solidFill>
                          <a:latin typeface="Arial"/>
                        </a:rPr>
                        <a:t>Fixed per-sensor thresholds</a:t>
                      </a:r>
                    </a:p>
                  </a:txBody>
                  <a:tcPr marL="54864" marR="54864" marT="18288" marB="18288" anchor="ctr"/>
                </a:tc>
                <a:tc>
                  <a:txBody>
                    <a:bodyPr/>
                    <a:lstStyle/>
                    <a:p>
                      <a:r>
                        <a:rPr sz="1200" b="0" i="0">
                          <a:solidFill>
                            <a:srgbClr val="000000"/>
                          </a:solidFill>
                          <a:latin typeface="Arial"/>
                        </a:rPr>
                        <a:t>Compares to the machine's own baseline</a:t>
                      </a:r>
                    </a:p>
                  </a:txBody>
                  <a:tcPr marL="54864" marR="54864" marT="18288" marB="18288" anchor="ctr"/>
                </a:tc>
                <a:extLst>
                  <a:ext uri="{0D108BD9-81ED-4DB2-BD59-A6C34878D82A}">
                    <a16:rowId xmlns:a16="http://schemas.microsoft.com/office/drawing/2014/main" val="10103"/>
                  </a:ext>
                </a:extLst>
              </a:tr>
              <a:tr h="365760">
                <a:tc>
                  <a:txBody>
                    <a:bodyPr/>
                    <a:lstStyle/>
                    <a:p>
                      <a:r>
                        <a:rPr sz="1200" b="1" i="0">
                          <a:solidFill>
                            <a:srgbClr val="000000"/>
                          </a:solidFill>
                          <a:latin typeface="Arial"/>
                        </a:rPr>
                        <a:t>Wave 2: Slow decline</a:t>
                      </a:r>
                    </a:p>
                  </a:txBody>
                  <a:tcPr marL="54864" marR="54864" marT="18288" marB="18288" anchor="ctr"/>
                </a:tc>
                <a:tc>
                  <a:txBody>
                    <a:bodyPr/>
                    <a:lstStyle/>
                    <a:p>
                      <a:r>
                        <a:rPr sz="1200" b="0" i="0">
                          <a:solidFill>
                            <a:srgbClr val="000000"/>
                          </a:solidFill>
                          <a:latin typeface="Arial"/>
                        </a:rPr>
                        <a:t>CUSUM + Kalman filter</a:t>
                      </a:r>
                    </a:p>
                  </a:txBody>
                  <a:tcPr marL="54864" marR="54864" marT="18288" marB="18288" anchor="ctr"/>
                </a:tc>
                <a:tc>
                  <a:txBody>
                    <a:bodyPr/>
                    <a:lstStyle/>
                    <a:p>
                      <a:r>
                        <a:rPr sz="1200" b="0" i="0">
                          <a:solidFill>
                            <a:srgbClr val="000000"/>
                          </a:solidFill>
                          <a:latin typeface="Arial"/>
                        </a:rPr>
                        <a:t>Single-snapshot thresholds</a:t>
                      </a:r>
                    </a:p>
                  </a:txBody>
                  <a:tcPr marL="54864" marR="54864" marT="18288" marB="18288" anchor="ctr"/>
                </a:tc>
                <a:tc>
                  <a:txBody>
                    <a:bodyPr/>
                    <a:lstStyle/>
                    <a:p>
                      <a:r>
                        <a:rPr sz="1200" b="0" i="0">
                          <a:solidFill>
                            <a:srgbClr val="000000"/>
                          </a:solidFill>
                          <a:latin typeface="Arial"/>
                        </a:rPr>
                        <a:t>Catches slow drift a snapshot misses</a:t>
                      </a:r>
                    </a:p>
                  </a:txBody>
                  <a:tcPr marL="54864" marR="54864" marT="18288" marB="18288" anchor="ctr"/>
                </a:tc>
                <a:extLst>
                  <a:ext uri="{0D108BD9-81ED-4DB2-BD59-A6C34878D82A}">
                    <a16:rowId xmlns:a16="http://schemas.microsoft.com/office/drawing/2014/main" val="10104"/>
                  </a:ext>
                </a:extLst>
              </a:tr>
              <a:tr h="365760">
                <a:tc>
                  <a:txBody>
                    <a:bodyPr/>
                    <a:lstStyle/>
                    <a:p>
                      <a:r>
                        <a:rPr sz="1200" b="1" i="0">
                          <a:solidFill>
                            <a:srgbClr val="000000"/>
                          </a:solidFill>
                          <a:latin typeface="Arial"/>
                        </a:rPr>
                        <a:t>Wave 2: Fusion</a:t>
                      </a:r>
                    </a:p>
                  </a:txBody>
                  <a:tcPr marL="54864" marR="54864" marT="18288" marB="18288" anchor="ctr"/>
                </a:tc>
                <a:tc>
                  <a:txBody>
                    <a:bodyPr/>
                    <a:lstStyle/>
                    <a:p>
                      <a:r>
                        <a:rPr sz="1200" b="0" i="0">
                          <a:solidFill>
                            <a:srgbClr val="000000"/>
                          </a:solidFill>
                          <a:latin typeface="Arial"/>
                        </a:rPr>
                        <a:t>Dempster-Shafer</a:t>
                      </a:r>
                    </a:p>
                  </a:txBody>
                  <a:tcPr marL="54864" marR="54864" marT="18288" marB="18288" anchor="ctr"/>
                </a:tc>
                <a:tc>
                  <a:txBody>
                    <a:bodyPr/>
                    <a:lstStyle/>
                    <a:p>
                      <a:r>
                        <a:rPr sz="1200" b="0" i="0">
                          <a:solidFill>
                            <a:srgbClr val="000000"/>
                          </a:solidFill>
                          <a:latin typeface="Arial"/>
                        </a:rPr>
                        <a:t>Weighted average, majority vote</a:t>
                      </a:r>
                    </a:p>
                  </a:txBody>
                  <a:tcPr marL="54864" marR="54864" marT="18288" marB="18288" anchor="ctr"/>
                </a:tc>
                <a:tc>
                  <a:txBody>
                    <a:bodyPr/>
                    <a:lstStyle/>
                    <a:p>
                      <a:r>
                        <a:rPr sz="1200" b="0" i="0">
                          <a:solidFill>
                            <a:srgbClr val="000000"/>
                          </a:solidFill>
                          <a:latin typeface="Arial"/>
                        </a:rPr>
                        <a:t>Reports uncertainty, no forced consensus</a:t>
                      </a:r>
                    </a:p>
                  </a:txBody>
                  <a:tcPr marL="54864" marR="54864" marT="18288" marB="18288" anchor="ctr"/>
                </a:tc>
                <a:extLst>
                  <a:ext uri="{0D108BD9-81ED-4DB2-BD59-A6C34878D82A}">
                    <a16:rowId xmlns:a16="http://schemas.microsoft.com/office/drawing/2014/main" val="10008"/>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Implementation: RAG Assistant</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000" b="0" i="0">
                <a:solidFill>
                  <a:srgbClr val="0A1045"/>
                </a:solidFill>
                <a:latin typeface="Arial Black"/>
              </a:rPr>
              <a:t>Conversational RAG Assistant</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31</a:t>
            </a:r>
          </a:p>
        </p:txBody>
      </p:sp>
      <p:sp>
        <p:nvSpPr>
          <p:cNvPr id="6" name="TextBox 5"/>
          <p:cNvSpPr txBox="1"/>
          <p:nvPr/>
        </p:nvSpPr>
        <p:spPr>
          <a:xfrm>
            <a:off x="457200" y="1554480"/>
            <a:ext cx="5486400" cy="365760"/>
          </a:xfrm>
          <a:prstGeom prst="rect">
            <a:avLst/>
          </a:prstGeom>
          <a:noFill/>
        </p:spPr>
        <p:txBody>
          <a:bodyPr wrap="square" lIns="45720" tIns="18288" rIns="45720" bIns="18288" anchor="ctr">
            <a:spAutoFit/>
          </a:bodyPr>
          <a:lstStyle/>
          <a:p>
            <a:pPr algn="l"/>
            <a:r>
              <a:rPr sz="1400" b="1" i="0">
                <a:solidFill>
                  <a:srgbClr val="D0101A"/>
                </a:solidFill>
                <a:latin typeface="Arial"/>
              </a:rPr>
              <a:t>Adding a document (admin, once per file)</a:t>
            </a:r>
          </a:p>
        </p:txBody>
      </p:sp>
      <p:sp>
        <p:nvSpPr>
          <p:cNvPr id="7" name="Rounded Rectangle 6"/>
          <p:cNvSpPr/>
          <p:nvPr/>
        </p:nvSpPr>
        <p:spPr>
          <a:xfrm>
            <a:off x="457200" y="1965960"/>
            <a:ext cx="2468880" cy="10972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93776" y="1984248"/>
            <a:ext cx="2395728" cy="1060704"/>
          </a:xfrm>
          <a:prstGeom prst="rect">
            <a:avLst/>
          </a:prstGeom>
          <a:noFill/>
        </p:spPr>
        <p:txBody>
          <a:bodyPr wrap="square" lIns="45720" tIns="18288" rIns="45720" bIns="18288" anchor="ctr">
            <a:spAutoFit/>
          </a:bodyPr>
          <a:lstStyle/>
          <a:p>
            <a:pPr algn="ctr"/>
            <a:r>
              <a:rPr sz="1400" b="1" i="0">
                <a:solidFill>
                  <a:srgbClr val="0B8CA8"/>
                </a:solidFill>
                <a:latin typeface="Arial"/>
              </a:rPr>
              <a:t>Upload</a:t>
            </a:r>
          </a:p>
          <a:p>
            <a:pPr algn="ctr"/>
            <a:r>
              <a:rPr sz="1050" b="0" i="0">
                <a:solidFill>
                  <a:srgbClr val="333333"/>
                </a:solidFill>
                <a:latin typeface="Arial"/>
              </a:rPr>
              <a:t>an admin adds a</a:t>
            </a:r>
          </a:p>
          <a:p>
            <a:pPr algn="ctr"/>
            <a:r>
              <a:rPr sz="1050" b="0" i="0">
                <a:solidFill>
                  <a:srgbClr val="333333"/>
                </a:solidFill>
                <a:latin typeface="Arial"/>
              </a:rPr>
              <a:t>technical manual</a:t>
            </a:r>
          </a:p>
        </p:txBody>
      </p:sp>
      <p:cxnSp>
        <p:nvCxnSpPr>
          <p:cNvPr id="9" name="Connector 8"/>
          <p:cNvCxnSpPr/>
          <p:nvPr/>
        </p:nvCxnSpPr>
        <p:spPr>
          <a:xfrm>
            <a:off x="2926080" y="2514600"/>
            <a:ext cx="36576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291840" y="1965960"/>
            <a:ext cx="2468880" cy="10972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328416" y="1984248"/>
            <a:ext cx="2395728" cy="1060704"/>
          </a:xfrm>
          <a:prstGeom prst="rect">
            <a:avLst/>
          </a:prstGeom>
          <a:noFill/>
        </p:spPr>
        <p:txBody>
          <a:bodyPr wrap="square" lIns="45720" tIns="18288" rIns="45720" bIns="18288" anchor="ctr">
            <a:spAutoFit/>
          </a:bodyPr>
          <a:lstStyle/>
          <a:p>
            <a:pPr algn="ctr"/>
            <a:r>
              <a:rPr sz="1400" b="1" i="0">
                <a:solidFill>
                  <a:srgbClr val="0B8CA8"/>
                </a:solidFill>
                <a:latin typeface="Arial"/>
              </a:rPr>
              <a:t>Safe copy</a:t>
            </a:r>
          </a:p>
          <a:p>
            <a:pPr algn="ctr"/>
            <a:r>
              <a:rPr sz="1050" b="0" i="0">
                <a:solidFill>
                  <a:srgbClr val="333333"/>
                </a:solidFill>
                <a:latin typeface="Arial"/>
              </a:rPr>
              <a:t>the original file is</a:t>
            </a:r>
          </a:p>
          <a:p>
            <a:pPr algn="ctr"/>
            <a:r>
              <a:rPr sz="1050" b="0" i="0">
                <a:solidFill>
                  <a:srgbClr val="333333"/>
                </a:solidFill>
                <a:latin typeface="Arial"/>
              </a:rPr>
              <a:t>saved first (MinIO)</a:t>
            </a:r>
          </a:p>
        </p:txBody>
      </p:sp>
      <p:cxnSp>
        <p:nvCxnSpPr>
          <p:cNvPr id="12" name="Connector 11"/>
          <p:cNvCxnSpPr/>
          <p:nvPr/>
        </p:nvCxnSpPr>
        <p:spPr>
          <a:xfrm>
            <a:off x="5760720" y="2514600"/>
            <a:ext cx="36576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6126480" y="1965960"/>
            <a:ext cx="2468880" cy="10972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163056" y="1984248"/>
            <a:ext cx="2395728" cy="1060704"/>
          </a:xfrm>
          <a:prstGeom prst="rect">
            <a:avLst/>
          </a:prstGeom>
          <a:noFill/>
        </p:spPr>
        <p:txBody>
          <a:bodyPr wrap="square" lIns="45720" tIns="18288" rIns="45720" bIns="18288" anchor="ctr">
            <a:spAutoFit/>
          </a:bodyPr>
          <a:lstStyle/>
          <a:p>
            <a:pPr algn="ctr"/>
            <a:r>
              <a:rPr sz="1400" b="1" i="0">
                <a:solidFill>
                  <a:srgbClr val="0B8CA8"/>
                </a:solidFill>
                <a:latin typeface="Arial"/>
              </a:rPr>
              <a:t>Cut &amp; index</a:t>
            </a:r>
          </a:p>
          <a:p>
            <a:pPr algn="ctr"/>
            <a:r>
              <a:rPr sz="1050" b="0" i="0">
                <a:solidFill>
                  <a:srgbClr val="333333"/>
                </a:solidFill>
                <a:latin typeface="Arial"/>
              </a:rPr>
              <a:t>split into short passages,</a:t>
            </a:r>
          </a:p>
          <a:p>
            <a:pPr algn="ctr"/>
            <a:r>
              <a:rPr sz="1050" b="0" i="0">
                <a:solidFill>
                  <a:srgbClr val="333333"/>
                </a:solidFill>
                <a:latin typeface="Arial"/>
              </a:rPr>
              <a:t>each given a meaning vector</a:t>
            </a:r>
          </a:p>
        </p:txBody>
      </p:sp>
      <p:cxnSp>
        <p:nvCxnSpPr>
          <p:cNvPr id="15" name="Connector 14"/>
          <p:cNvCxnSpPr/>
          <p:nvPr/>
        </p:nvCxnSpPr>
        <p:spPr>
          <a:xfrm>
            <a:off x="8595360" y="2514600"/>
            <a:ext cx="36576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8961120" y="1965960"/>
            <a:ext cx="2468880" cy="10972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997696" y="1984248"/>
            <a:ext cx="2395728" cy="1060704"/>
          </a:xfrm>
          <a:prstGeom prst="rect">
            <a:avLst/>
          </a:prstGeom>
          <a:noFill/>
        </p:spPr>
        <p:txBody>
          <a:bodyPr wrap="square" lIns="45720" tIns="18288" rIns="45720" bIns="18288" anchor="ctr">
            <a:spAutoFit/>
          </a:bodyPr>
          <a:lstStyle/>
          <a:p>
            <a:pPr algn="ctr"/>
            <a:r>
              <a:rPr sz="1400" b="1" i="0">
                <a:solidFill>
                  <a:srgbClr val="0B8CA8"/>
                </a:solidFill>
                <a:latin typeface="Arial"/>
              </a:rPr>
              <a:t>Searchable library</a:t>
            </a:r>
          </a:p>
          <a:p>
            <a:pPr algn="ctr"/>
            <a:r>
              <a:rPr sz="1050" b="0" i="0">
                <a:solidFill>
                  <a:srgbClr val="333333"/>
                </a:solidFill>
                <a:latin typeface="Arial"/>
              </a:rPr>
              <a:t>passages saved in</a:t>
            </a:r>
          </a:p>
          <a:p>
            <a:pPr algn="ctr"/>
            <a:r>
              <a:rPr sz="1050" b="0" i="0">
                <a:solidFill>
                  <a:srgbClr val="333333"/>
                </a:solidFill>
                <a:latin typeface="Arial"/>
              </a:rPr>
              <a:t>the database</a:t>
            </a:r>
          </a:p>
        </p:txBody>
      </p:sp>
      <p:sp>
        <p:nvSpPr>
          <p:cNvPr id="18" name="TextBox 17"/>
          <p:cNvSpPr txBox="1"/>
          <p:nvPr/>
        </p:nvSpPr>
        <p:spPr>
          <a:xfrm>
            <a:off x="457200" y="3429000"/>
            <a:ext cx="2240280" cy="365760"/>
          </a:xfrm>
          <a:prstGeom prst="rect">
            <a:avLst/>
          </a:prstGeom>
          <a:noFill/>
        </p:spPr>
        <p:txBody>
          <a:bodyPr wrap="square" lIns="45720" tIns="18288" rIns="45720" bIns="18288" anchor="ctr">
            <a:spAutoFit/>
          </a:bodyPr>
          <a:lstStyle/>
          <a:p>
            <a:pPr algn="l"/>
            <a:r>
              <a:rPr sz="1400" b="1" i="0">
                <a:solidFill>
                  <a:srgbClr val="D0101A"/>
                </a:solidFill>
                <a:latin typeface="Arial"/>
              </a:rPr>
              <a:t>Asking (each message)</a:t>
            </a:r>
          </a:p>
        </p:txBody>
      </p:sp>
      <p:sp>
        <p:nvSpPr>
          <p:cNvPr id="19" name="Rounded Rectangle 18"/>
          <p:cNvSpPr/>
          <p:nvPr/>
        </p:nvSpPr>
        <p:spPr>
          <a:xfrm>
            <a:off x="457200" y="3840480"/>
            <a:ext cx="1920240" cy="1188720"/>
          </a:xfrm>
          <a:prstGeom prst="roundRect">
            <a:avLst>
              <a:gd name="adj" fmla="val 12000"/>
            </a:avLst>
          </a:prstGeom>
          <a:noFill/>
          <a:ln w="22225">
            <a:solidFill>
              <a:srgbClr val="2FA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93776" y="3858768"/>
            <a:ext cx="1847088" cy="1152144"/>
          </a:xfrm>
          <a:prstGeom prst="rect">
            <a:avLst/>
          </a:prstGeom>
          <a:noFill/>
        </p:spPr>
        <p:txBody>
          <a:bodyPr wrap="square" lIns="45720" tIns="18288" rIns="45720" bIns="18288" anchor="ctr">
            <a:spAutoFit/>
          </a:bodyPr>
          <a:lstStyle/>
          <a:p>
            <a:pPr algn="ctr"/>
            <a:r>
              <a:rPr sz="1300" b="1" i="0">
                <a:solidFill>
                  <a:srgbClr val="2FA4E7"/>
                </a:solidFill>
                <a:latin typeface="Arial"/>
              </a:rPr>
              <a:t>Question</a:t>
            </a:r>
          </a:p>
          <a:p>
            <a:pPr algn="ctr"/>
            <a:r>
              <a:rPr sz="1050" b="0" i="0">
                <a:solidFill>
                  <a:srgbClr val="333333"/>
                </a:solidFill>
                <a:latin typeface="Arial"/>
              </a:rPr>
              <a:t>typed on a machine's page,</a:t>
            </a:r>
          </a:p>
          <a:p>
            <a:pPr algn="ctr"/>
            <a:r>
              <a:rPr sz="1050" b="0" i="0">
                <a:solidFill>
                  <a:srgbClr val="333333"/>
                </a:solidFill>
                <a:latin typeface="Arial"/>
              </a:rPr>
              <a:t>so we know which one</a:t>
            </a:r>
          </a:p>
        </p:txBody>
      </p:sp>
      <p:cxnSp>
        <p:nvCxnSpPr>
          <p:cNvPr id="21" name="Connector 20"/>
          <p:cNvCxnSpPr/>
          <p:nvPr/>
        </p:nvCxnSpPr>
        <p:spPr>
          <a:xfrm flipV="1">
            <a:off x="2377440" y="3794760"/>
            <a:ext cx="365760" cy="64008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377440" y="4434840"/>
            <a:ext cx="365760" cy="64008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2743200" y="3291840"/>
            <a:ext cx="2743200" cy="1005840"/>
          </a:xfrm>
          <a:prstGeom prst="roundRect">
            <a:avLst>
              <a:gd name="adj" fmla="val 12000"/>
            </a:avLst>
          </a:prstGeom>
          <a:noFill/>
          <a:ln w="2222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2779776" y="3310128"/>
            <a:ext cx="2670048" cy="969264"/>
          </a:xfrm>
          <a:prstGeom prst="rect">
            <a:avLst/>
          </a:prstGeom>
          <a:noFill/>
        </p:spPr>
        <p:txBody>
          <a:bodyPr wrap="square" lIns="45720" tIns="18288" rIns="45720" bIns="18288" anchor="ctr">
            <a:spAutoFit/>
          </a:bodyPr>
          <a:lstStyle/>
          <a:p>
            <a:pPr algn="ctr"/>
            <a:r>
              <a:rPr sz="1200" b="1" i="0">
                <a:solidFill>
                  <a:srgbClr val="F39C2C"/>
                </a:solidFill>
                <a:latin typeface="Arial"/>
              </a:rPr>
              <a:t>Find the right passages</a:t>
            </a:r>
          </a:p>
          <a:p>
            <a:pPr algn="ctr"/>
            <a:r>
              <a:rPr sz="1000" b="0" i="0">
                <a:solidFill>
                  <a:srgbClr val="333333"/>
                </a:solidFill>
                <a:latin typeface="Arial"/>
              </a:rPr>
              <a:t>search by words and by meaning,</a:t>
            </a:r>
          </a:p>
          <a:p>
            <a:pPr algn="ctr"/>
            <a:r>
              <a:rPr sz="1000" b="0" i="0">
                <a:solidFill>
                  <a:srgbClr val="333333"/>
                </a:solidFill>
                <a:latin typeface="Arial"/>
              </a:rPr>
              <a:t>keep the best ones</a:t>
            </a:r>
          </a:p>
        </p:txBody>
      </p:sp>
      <p:sp>
        <p:nvSpPr>
          <p:cNvPr id="25" name="Rounded Rectangle 24"/>
          <p:cNvSpPr/>
          <p:nvPr/>
        </p:nvSpPr>
        <p:spPr>
          <a:xfrm>
            <a:off x="2743200" y="4572000"/>
            <a:ext cx="2743200" cy="1005840"/>
          </a:xfrm>
          <a:prstGeom prst="roundRect">
            <a:avLst>
              <a:gd name="adj" fmla="val 12000"/>
            </a:avLst>
          </a:prstGeom>
          <a:noFill/>
          <a:ln w="2222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2779776" y="4590288"/>
            <a:ext cx="2670048" cy="969264"/>
          </a:xfrm>
          <a:prstGeom prst="rect">
            <a:avLst/>
          </a:prstGeom>
          <a:noFill/>
        </p:spPr>
        <p:txBody>
          <a:bodyPr wrap="square" lIns="45720" tIns="18288" rIns="45720" bIns="18288" anchor="ctr">
            <a:spAutoFit/>
          </a:bodyPr>
          <a:lstStyle/>
          <a:p>
            <a:pPr algn="ctr"/>
            <a:r>
              <a:rPr sz="1200" b="1" i="0">
                <a:solidFill>
                  <a:srgbClr val="F39C2C"/>
                </a:solidFill>
                <a:latin typeface="Arial"/>
              </a:rPr>
              <a:t>Machine's live health</a:t>
            </a:r>
          </a:p>
          <a:p>
            <a:pPr algn="ctr"/>
            <a:r>
              <a:rPr sz="1000" b="0" i="0">
                <a:solidFill>
                  <a:srgbClr val="333333"/>
                </a:solidFill>
                <a:latin typeface="Arial"/>
              </a:rPr>
              <a:t>score, risk, remaining life</a:t>
            </a:r>
          </a:p>
          <a:p>
            <a:pPr algn="ctr"/>
            <a:r>
              <a:rPr sz="1000" b="0" i="0">
                <a:solidFill>
                  <a:srgbClr val="333333"/>
                </a:solidFill>
                <a:latin typeface="Arial"/>
              </a:rPr>
              <a:t>and latest sensor readings</a:t>
            </a:r>
          </a:p>
        </p:txBody>
      </p:sp>
      <p:sp>
        <p:nvSpPr>
          <p:cNvPr id="27" name="TextBox 26"/>
          <p:cNvSpPr txBox="1"/>
          <p:nvPr/>
        </p:nvSpPr>
        <p:spPr>
          <a:xfrm>
            <a:off x="2880360" y="4315968"/>
            <a:ext cx="2560320" cy="237744"/>
          </a:xfrm>
          <a:prstGeom prst="rect">
            <a:avLst/>
          </a:prstGeom>
          <a:noFill/>
        </p:spPr>
        <p:txBody>
          <a:bodyPr wrap="square" lIns="45720" tIns="18288" rIns="45720" bIns="18288" anchor="ctr">
            <a:spAutoFit/>
          </a:bodyPr>
          <a:lstStyle/>
          <a:p>
            <a:pPr algn="ctr"/>
            <a:r>
              <a:rPr sz="900" b="0" i="1">
                <a:solidFill>
                  <a:srgbClr val="7A7A7A"/>
                </a:solidFill>
                <a:latin typeface="Arial"/>
              </a:rPr>
              <a:t>at the same time</a:t>
            </a:r>
          </a:p>
        </p:txBody>
      </p:sp>
      <p:cxnSp>
        <p:nvCxnSpPr>
          <p:cNvPr id="28" name="Connector 27"/>
          <p:cNvCxnSpPr/>
          <p:nvPr/>
        </p:nvCxnSpPr>
        <p:spPr>
          <a:xfrm>
            <a:off x="5486400" y="3794760"/>
            <a:ext cx="457200" cy="64008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5486400" y="4434840"/>
            <a:ext cx="457200" cy="64008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5943600" y="3840480"/>
            <a:ext cx="2286000" cy="118872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980176" y="3858768"/>
            <a:ext cx="2212848" cy="1152144"/>
          </a:xfrm>
          <a:prstGeom prst="rect">
            <a:avLst/>
          </a:prstGeom>
          <a:noFill/>
        </p:spPr>
        <p:txBody>
          <a:bodyPr wrap="square" lIns="45720" tIns="18288" rIns="45720" bIns="18288" anchor="ctr">
            <a:spAutoFit/>
          </a:bodyPr>
          <a:lstStyle/>
          <a:p>
            <a:pPr algn="ctr"/>
            <a:r>
              <a:rPr sz="1200" b="1" i="0">
                <a:solidFill>
                  <a:srgbClr val="7C4DDB"/>
                </a:solidFill>
                <a:latin typeface="Arial"/>
              </a:rPr>
              <a:t>Write the answer</a:t>
            </a:r>
          </a:p>
          <a:p>
            <a:pPr algn="ctr"/>
            <a:r>
              <a:rPr sz="1000" b="0" i="0">
                <a:solidFill>
                  <a:srgbClr val="333333"/>
                </a:solidFill>
                <a:latin typeface="Arial"/>
              </a:rPr>
              <a:t>the AI model (Groq) gets the</a:t>
            </a:r>
          </a:p>
          <a:p>
            <a:pPr algn="ctr"/>
            <a:r>
              <a:rPr sz="1000" b="0" i="0">
                <a:solidFill>
                  <a:srgbClr val="333333"/>
                </a:solidFill>
                <a:latin typeface="Arial"/>
              </a:rPr>
              <a:t>passages + live machine status</a:t>
            </a:r>
          </a:p>
        </p:txBody>
      </p:sp>
      <p:cxnSp>
        <p:nvCxnSpPr>
          <p:cNvPr id="32" name="Connector 31"/>
          <p:cNvCxnSpPr/>
          <p:nvPr/>
        </p:nvCxnSpPr>
        <p:spPr>
          <a:xfrm>
            <a:off x="8229600" y="4434840"/>
            <a:ext cx="36576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8595360" y="3840480"/>
            <a:ext cx="3108960" cy="1188720"/>
          </a:xfrm>
          <a:prstGeom prst="roundRect">
            <a:avLst>
              <a:gd name="adj" fmla="val 12000"/>
            </a:avLst>
          </a:prstGeom>
          <a:noFill/>
          <a:ln w="22225">
            <a:solidFill>
              <a:srgbClr val="8CC6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631936" y="3858768"/>
            <a:ext cx="3035808" cy="1152144"/>
          </a:xfrm>
          <a:prstGeom prst="rect">
            <a:avLst/>
          </a:prstGeom>
          <a:noFill/>
        </p:spPr>
        <p:txBody>
          <a:bodyPr wrap="square" lIns="45720" tIns="18288" rIns="45720" bIns="18288" anchor="ctr">
            <a:spAutoFit/>
          </a:bodyPr>
          <a:lstStyle/>
          <a:p>
            <a:pPr algn="ctr"/>
            <a:r>
              <a:rPr sz="1200" b="1" i="0">
                <a:solidFill>
                  <a:srgbClr val="8CC63F"/>
                </a:solidFill>
                <a:latin typeface="Arial"/>
              </a:rPr>
              <a:t>Grounded answer</a:t>
            </a:r>
          </a:p>
          <a:p>
            <a:pPr algn="ctr"/>
            <a:r>
              <a:rPr sz="1000" b="0" i="0">
                <a:solidFill>
                  <a:srgbClr val="333333"/>
                </a:solidFill>
                <a:latin typeface="Arial"/>
              </a:rPr>
              <a:t>based on the manuals and on</a:t>
            </a:r>
          </a:p>
          <a:p>
            <a:pPr algn="ctr"/>
            <a:r>
              <a:rPr sz="1000" b="0" i="0">
                <a:solidFill>
                  <a:srgbClr val="333333"/>
                </a:solidFill>
                <a:latin typeface="Arial"/>
              </a:rPr>
              <a:t>what the machine is doing now</a:t>
            </a:r>
          </a:p>
        </p:txBody>
      </p:sp>
      <p:sp>
        <p:nvSpPr>
          <p:cNvPr id="35" name="TextBox 34"/>
          <p:cNvSpPr txBox="1"/>
          <p:nvPr/>
        </p:nvSpPr>
        <p:spPr>
          <a:xfrm>
            <a:off x="457200" y="5760720"/>
            <a:ext cx="11247120" cy="548640"/>
          </a:xfrm>
          <a:prstGeom prst="rect">
            <a:avLst/>
          </a:prstGeom>
          <a:noFill/>
        </p:spPr>
        <p:txBody>
          <a:bodyPr wrap="square" lIns="45720" tIns="18288" rIns="45720" bIns="18288" anchor="ctr">
            <a:spAutoFit/>
          </a:bodyPr>
          <a:lstStyle/>
          <a:p>
            <a:pPr algn="ctr"/>
            <a:r>
              <a:rPr sz="1200" b="0" i="1">
                <a:solidFill>
                  <a:srgbClr val="7A7A7A"/>
                </a:solidFill>
                <a:latin typeface="Arial"/>
              </a:rPr>
              <a:t>If the ML service is down, the assistant still answers, using a simpler rule-based health score.</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03. Requirements &amp; Analysis</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Use Case Diagram</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33</a:t>
            </a:r>
          </a:p>
        </p:txBody>
      </p:sp>
      <p:pic>
        <p:nvPicPr>
          <p:cNvPr id="6" name="Picture 5" descr="usecase.png"/>
          <p:cNvPicPr>
            <a:picLocks noChangeAspect="1"/>
          </p:cNvPicPr>
          <p:nvPr/>
        </p:nvPicPr>
        <p:blipFill>
          <a:blip r:embed="rId2"/>
          <a:stretch>
            <a:fillRect/>
          </a:stretch>
        </p:blipFill>
        <p:spPr>
          <a:xfrm>
            <a:off x="4031918" y="1463040"/>
            <a:ext cx="3636660" cy="4937760"/>
          </a:xfrm>
          <a:prstGeom prst="rect">
            <a:avLst/>
          </a:prstGeom>
        </p:spPr>
      </p:pic>
    </p:spTree>
    <p:extLst>
      <p:ext uri="{BB962C8B-B14F-4D97-AF65-F5344CB8AC3E}">
        <p14:creationId xmlns:p14="http://schemas.microsoft.com/office/powerpoint/2010/main" val="124305207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Design: Data Model</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292608" y="146188"/>
            <a:ext cx="11274552" cy="685800"/>
          </a:xfrm>
          <a:prstGeom prst="rect">
            <a:avLst/>
          </a:prstGeom>
          <a:noFill/>
        </p:spPr>
        <p:txBody>
          <a:bodyPr wrap="square" lIns="45720" tIns="18288" rIns="45720" bIns="18288" anchor="ctr">
            <a:spAutoFit/>
          </a:bodyPr>
          <a:lstStyle/>
          <a:p>
            <a:pPr algn="ctr"/>
            <a:r>
              <a:rPr sz="3200" b="0" i="0" dirty="0">
                <a:solidFill>
                  <a:srgbClr val="0A1045"/>
                </a:solidFill>
                <a:latin typeface="Arial Black"/>
              </a:rPr>
              <a:t>Class Diagram</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34</a:t>
            </a:r>
          </a:p>
        </p:txBody>
      </p:sp>
      <p:pic>
        <p:nvPicPr>
          <p:cNvPr id="6" name="Picture 5" descr="class.png"/>
          <p:cNvPicPr>
            <a:picLocks noChangeAspect="1"/>
          </p:cNvPicPr>
          <p:nvPr/>
        </p:nvPicPr>
        <p:blipFill>
          <a:blip r:embed="rId2"/>
          <a:stretch>
            <a:fillRect/>
          </a:stretch>
        </p:blipFill>
        <p:spPr>
          <a:xfrm>
            <a:off x="1291473" y="823308"/>
            <a:ext cx="10275687" cy="6053326"/>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Connector 1"/>
          <p:cNvCxnSpPr/>
          <p:nvPr/>
        </p:nvCxnSpPr>
        <p:spPr>
          <a:xfrm>
            <a:off x="3657600" y="0"/>
            <a:ext cx="0" cy="685800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069080" y="1463040"/>
            <a:ext cx="7680960" cy="4023360"/>
          </a:xfrm>
          <a:prstGeom prst="rect">
            <a:avLst/>
          </a:prstGeom>
          <a:noFill/>
        </p:spPr>
        <p:txBody>
          <a:bodyPr wrap="square" lIns="45720" tIns="18288" rIns="45720" bIns="18288" anchor="ctr">
            <a:spAutoFit/>
          </a:bodyPr>
          <a:lstStyle/>
          <a:p>
            <a:pPr algn="l"/>
            <a:r>
              <a:rPr sz="4800" b="0" i="0">
                <a:solidFill>
                  <a:srgbClr val="000000"/>
                </a:solidFill>
                <a:latin typeface="Arial Black"/>
              </a:rPr>
              <a:t>05</a:t>
            </a:r>
          </a:p>
          <a:p>
            <a:pPr algn="l"/>
            <a:r>
              <a:rPr sz="4800" b="0" i="0">
                <a:solidFill>
                  <a:srgbClr val="000000"/>
                </a:solidFill>
                <a:latin typeface="Arial Black"/>
              </a:rPr>
              <a:t>Demo</a:t>
            </a:r>
          </a:p>
        </p:txBody>
      </p:sp>
      <p:sp>
        <p:nvSpPr>
          <p:cNvPr id="4" name="TextBox 3"/>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35</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05. Demo</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000" b="0" i="0">
                <a:solidFill>
                  <a:srgbClr val="0A1045"/>
                </a:solidFill>
                <a:latin typeface="Arial Black"/>
              </a:rPr>
              <a:t>Live Walkthrough of the Nine Areas</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36</a:t>
            </a:r>
          </a:p>
        </p:txBody>
      </p:sp>
      <p:sp>
        <p:nvSpPr>
          <p:cNvPr id="6" name="Rounded Rectangle 5"/>
          <p:cNvSpPr/>
          <p:nvPr/>
        </p:nvSpPr>
        <p:spPr>
          <a:xfrm>
            <a:off x="731520" y="16916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16916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1</a:t>
            </a:r>
          </a:p>
        </p:txBody>
      </p:sp>
      <p:sp>
        <p:nvSpPr>
          <p:cNvPr id="8" name="TextBox 7"/>
          <p:cNvSpPr txBox="1"/>
          <p:nvPr/>
        </p:nvSpPr>
        <p:spPr>
          <a:xfrm>
            <a:off x="1371600" y="16916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Authentication &amp; authorization</a:t>
            </a:r>
          </a:p>
        </p:txBody>
      </p:sp>
      <p:sp>
        <p:nvSpPr>
          <p:cNvPr id="9" name="Rounded Rectangle 8"/>
          <p:cNvSpPr/>
          <p:nvPr/>
        </p:nvSpPr>
        <p:spPr>
          <a:xfrm>
            <a:off x="731520" y="26060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22960" y="26060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2</a:t>
            </a:r>
          </a:p>
        </p:txBody>
      </p:sp>
      <p:sp>
        <p:nvSpPr>
          <p:cNvPr id="11" name="TextBox 10"/>
          <p:cNvSpPr txBox="1"/>
          <p:nvPr/>
        </p:nvSpPr>
        <p:spPr>
          <a:xfrm>
            <a:off x="1371600" y="26060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Machine management</a:t>
            </a:r>
          </a:p>
        </p:txBody>
      </p:sp>
      <p:sp>
        <p:nvSpPr>
          <p:cNvPr id="12" name="Rounded Rectangle 11"/>
          <p:cNvSpPr/>
          <p:nvPr/>
        </p:nvSpPr>
        <p:spPr>
          <a:xfrm>
            <a:off x="731520" y="35204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2960" y="35204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3</a:t>
            </a:r>
          </a:p>
        </p:txBody>
      </p:sp>
      <p:sp>
        <p:nvSpPr>
          <p:cNvPr id="14" name="TextBox 13"/>
          <p:cNvSpPr txBox="1"/>
          <p:nvPr/>
        </p:nvSpPr>
        <p:spPr>
          <a:xfrm>
            <a:off x="1371600" y="35204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Order management</a:t>
            </a:r>
          </a:p>
        </p:txBody>
      </p:sp>
      <p:sp>
        <p:nvSpPr>
          <p:cNvPr id="15" name="Rounded Rectangle 14"/>
          <p:cNvSpPr/>
          <p:nvPr/>
        </p:nvSpPr>
        <p:spPr>
          <a:xfrm>
            <a:off x="4480559" y="16916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571999" y="16916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4</a:t>
            </a:r>
          </a:p>
        </p:txBody>
      </p:sp>
      <p:sp>
        <p:nvSpPr>
          <p:cNvPr id="17" name="TextBox 16"/>
          <p:cNvSpPr txBox="1"/>
          <p:nvPr/>
        </p:nvSpPr>
        <p:spPr>
          <a:xfrm>
            <a:off x="5120640" y="16916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Scheduling</a:t>
            </a:r>
          </a:p>
        </p:txBody>
      </p:sp>
      <p:sp>
        <p:nvSpPr>
          <p:cNvPr id="18" name="Rounded Rectangle 17"/>
          <p:cNvSpPr/>
          <p:nvPr/>
        </p:nvSpPr>
        <p:spPr>
          <a:xfrm>
            <a:off x="4480559" y="26060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71999" y="26060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5</a:t>
            </a:r>
          </a:p>
        </p:txBody>
      </p:sp>
      <p:sp>
        <p:nvSpPr>
          <p:cNvPr id="20" name="TextBox 19"/>
          <p:cNvSpPr txBox="1"/>
          <p:nvPr/>
        </p:nvSpPr>
        <p:spPr>
          <a:xfrm>
            <a:off x="5120640" y="26060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ML predictions (P1-P7)</a:t>
            </a:r>
          </a:p>
        </p:txBody>
      </p:sp>
      <p:sp>
        <p:nvSpPr>
          <p:cNvPr id="21" name="Rounded Rectangle 20"/>
          <p:cNvSpPr/>
          <p:nvPr/>
        </p:nvSpPr>
        <p:spPr>
          <a:xfrm>
            <a:off x="4480559" y="35204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571999" y="35204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6</a:t>
            </a:r>
          </a:p>
        </p:txBody>
      </p:sp>
      <p:sp>
        <p:nvSpPr>
          <p:cNvPr id="23" name="TextBox 22"/>
          <p:cNvSpPr txBox="1"/>
          <p:nvPr/>
        </p:nvSpPr>
        <p:spPr>
          <a:xfrm>
            <a:off x="5120640" y="35204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Alerts &amp; notifications</a:t>
            </a:r>
          </a:p>
        </p:txBody>
      </p:sp>
      <p:sp>
        <p:nvSpPr>
          <p:cNvPr id="24" name="Rounded Rectangle 23"/>
          <p:cNvSpPr/>
          <p:nvPr/>
        </p:nvSpPr>
        <p:spPr>
          <a:xfrm>
            <a:off x="8229600" y="16916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321040" y="16916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7</a:t>
            </a:r>
          </a:p>
        </p:txBody>
      </p:sp>
      <p:sp>
        <p:nvSpPr>
          <p:cNvPr id="26" name="TextBox 25"/>
          <p:cNvSpPr txBox="1"/>
          <p:nvPr/>
        </p:nvSpPr>
        <p:spPr>
          <a:xfrm>
            <a:off x="8869680" y="16916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Conversational assistant</a:t>
            </a:r>
          </a:p>
        </p:txBody>
      </p:sp>
      <p:sp>
        <p:nvSpPr>
          <p:cNvPr id="27" name="Rounded Rectangle 26"/>
          <p:cNvSpPr/>
          <p:nvPr/>
        </p:nvSpPr>
        <p:spPr>
          <a:xfrm>
            <a:off x="8229600" y="26060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321040" y="26060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8</a:t>
            </a:r>
          </a:p>
        </p:txBody>
      </p:sp>
      <p:sp>
        <p:nvSpPr>
          <p:cNvPr id="29" name="TextBox 28"/>
          <p:cNvSpPr txBox="1"/>
          <p:nvPr/>
        </p:nvSpPr>
        <p:spPr>
          <a:xfrm>
            <a:off x="8869680" y="26060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Dashboards</a:t>
            </a:r>
          </a:p>
        </p:txBody>
      </p:sp>
      <p:sp>
        <p:nvSpPr>
          <p:cNvPr id="30" name="Rounded Rectangle 29"/>
          <p:cNvSpPr/>
          <p:nvPr/>
        </p:nvSpPr>
        <p:spPr>
          <a:xfrm>
            <a:off x="8229600" y="35204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321040" y="35204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9</a:t>
            </a:r>
          </a:p>
        </p:txBody>
      </p:sp>
      <p:sp>
        <p:nvSpPr>
          <p:cNvPr id="32" name="TextBox 31"/>
          <p:cNvSpPr txBox="1"/>
          <p:nvPr/>
        </p:nvSpPr>
        <p:spPr>
          <a:xfrm>
            <a:off x="8869680" y="35204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Archiving &amp; traceability</a:t>
            </a:r>
          </a:p>
        </p:txBody>
      </p:sp>
      <p:sp>
        <p:nvSpPr>
          <p:cNvPr id="33" name="Rounded Rectangle 32"/>
          <p:cNvSpPr/>
          <p:nvPr/>
        </p:nvSpPr>
        <p:spPr>
          <a:xfrm>
            <a:off x="2926080" y="4754880"/>
            <a:ext cx="6309360" cy="1188720"/>
          </a:xfrm>
          <a:prstGeom prst="roundRect">
            <a:avLst>
              <a:gd name="adj" fmla="val 20000"/>
            </a:avLst>
          </a:prstGeom>
          <a:noFill/>
          <a:ln w="3810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2926080" y="4754880"/>
            <a:ext cx="6309360" cy="1188720"/>
          </a:xfrm>
          <a:prstGeom prst="rect">
            <a:avLst/>
          </a:prstGeom>
          <a:noFill/>
        </p:spPr>
        <p:txBody>
          <a:bodyPr wrap="square" lIns="45720" tIns="18288" rIns="45720" bIns="18288" anchor="ctr">
            <a:spAutoFit/>
          </a:bodyPr>
          <a:lstStyle/>
          <a:p>
            <a:pPr algn="ctr"/>
            <a:r>
              <a:rPr sz="2400" b="1" i="0">
                <a:solidFill>
                  <a:srgbClr val="D0101A"/>
                </a:solidFill>
                <a:latin typeface="Arial"/>
              </a:rPr>
              <a:t>▶  Narrated demo video</a:t>
            </a:r>
          </a:p>
          <a:p>
            <a:pPr algn="ctr"/>
            <a:r>
              <a:rPr sz="1400" b="0" i="0">
                <a:solidFill>
                  <a:srgbClr val="000000"/>
                </a:solidFill>
                <a:latin typeface="Arial"/>
              </a:rPr>
              <a:t>end-to-end · all four roles · 6:47</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Connector 1"/>
          <p:cNvCxnSpPr/>
          <p:nvPr/>
        </p:nvCxnSpPr>
        <p:spPr>
          <a:xfrm>
            <a:off x="3657600" y="0"/>
            <a:ext cx="0" cy="685800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069080" y="1463040"/>
            <a:ext cx="7680960" cy="4023360"/>
          </a:xfrm>
          <a:prstGeom prst="rect">
            <a:avLst/>
          </a:prstGeom>
          <a:noFill/>
        </p:spPr>
        <p:txBody>
          <a:bodyPr wrap="square" lIns="45720" tIns="18288" rIns="45720" bIns="18288" anchor="ctr">
            <a:spAutoFit/>
          </a:bodyPr>
          <a:lstStyle/>
          <a:p>
            <a:pPr algn="l"/>
            <a:r>
              <a:rPr sz="4800" b="0" i="0">
                <a:solidFill>
                  <a:srgbClr val="000000"/>
                </a:solidFill>
                <a:latin typeface="Arial Black"/>
              </a:rPr>
              <a:t>06</a:t>
            </a:r>
          </a:p>
          <a:p>
            <a:pPr algn="l"/>
            <a:r>
              <a:rPr sz="4800" b="0" i="0">
                <a:solidFill>
                  <a:srgbClr val="000000"/>
                </a:solidFill>
                <a:latin typeface="Arial Black"/>
              </a:rPr>
              <a:t>Conclusion</a:t>
            </a:r>
          </a:p>
          <a:p>
            <a:pPr algn="l"/>
            <a:r>
              <a:rPr sz="4800" b="0" i="0">
                <a:solidFill>
                  <a:srgbClr val="000000"/>
                </a:solidFill>
                <a:latin typeface="Arial Black"/>
              </a:rPr>
              <a:t>&amp; Perspectives</a:t>
            </a:r>
          </a:p>
        </p:txBody>
      </p:sp>
      <p:sp>
        <p:nvSpPr>
          <p:cNvPr id="4" name="TextBox 3"/>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37</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06. Conclusion</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endParaRP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38</a:t>
            </a:r>
          </a:p>
        </p:txBody>
      </p:sp>
      <p:sp>
        <p:nvSpPr>
          <p:cNvPr id="6" name="TextBox 5"/>
          <p:cNvSpPr txBox="1"/>
          <p:nvPr/>
        </p:nvSpPr>
        <p:spPr>
          <a:xfrm>
            <a:off x="822960" y="1554480"/>
            <a:ext cx="10515600" cy="1554480"/>
          </a:xfrm>
          <a:prstGeom prst="rect">
            <a:avLst/>
          </a:prstGeom>
          <a:noFill/>
        </p:spPr>
        <p:txBody>
          <a:bodyPr wrap="square" lIns="45720" tIns="18288" rIns="45720" bIns="18288" anchor="ctr">
            <a:spAutoFit/>
          </a:bodyPr>
          <a:lstStyle/>
          <a:p>
            <a:pPr algn="ctr"/>
            <a:r>
              <a:rPr sz="2600" b="0" i="0">
                <a:solidFill>
                  <a:srgbClr val="000000"/>
                </a:solidFill>
                <a:latin typeface="Arial Black"/>
              </a:rPr>
              <a:t>A complete maintenance platform with honest AI predictions, secured and ready to run on Azure</a:t>
            </a:r>
          </a:p>
        </p:txBody>
      </p:sp>
      <p:sp>
        <p:nvSpPr>
          <p:cNvPr id="7" name="Rounded Rectangle 6"/>
          <p:cNvSpPr/>
          <p:nvPr/>
        </p:nvSpPr>
        <p:spPr>
          <a:xfrm>
            <a:off x="1463040" y="3246120"/>
            <a:ext cx="9235440" cy="621792"/>
          </a:xfrm>
          <a:prstGeom prst="roundRect">
            <a:avLst>
              <a:gd name="adj" fmla="val 50000"/>
            </a:avLst>
          </a:prstGeom>
          <a:noFill/>
          <a:ln w="2857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737360" y="3246120"/>
            <a:ext cx="8778240" cy="621792"/>
          </a:xfrm>
          <a:prstGeom prst="rect">
            <a:avLst/>
          </a:prstGeom>
          <a:noFill/>
        </p:spPr>
        <p:txBody>
          <a:bodyPr wrap="square" lIns="45720" tIns="18288" rIns="45720" bIns="18288" anchor="ctr">
            <a:spAutoFit/>
          </a:bodyPr>
          <a:lstStyle/>
          <a:p>
            <a:pPr algn="l"/>
            <a:r>
              <a:rPr sz="1400" b="1" i="0">
                <a:solidFill>
                  <a:srgbClr val="000000"/>
                </a:solidFill>
                <a:latin typeface="Arial"/>
              </a:rPr>
              <a:t>→  One platform for daily maintenance work, 7 prediction models and an AI assistant</a:t>
            </a:r>
          </a:p>
        </p:txBody>
      </p:sp>
      <p:sp>
        <p:nvSpPr>
          <p:cNvPr id="9" name="Rounded Rectangle 8"/>
          <p:cNvSpPr/>
          <p:nvPr/>
        </p:nvSpPr>
        <p:spPr>
          <a:xfrm>
            <a:off x="1463040" y="4023359"/>
            <a:ext cx="9235440" cy="621792"/>
          </a:xfrm>
          <a:prstGeom prst="roundRect">
            <a:avLst>
              <a:gd name="adj" fmla="val 50000"/>
            </a:avLst>
          </a:prstGeom>
          <a:noFill/>
          <a:ln w="2857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737360" y="4023359"/>
            <a:ext cx="8778240" cy="621792"/>
          </a:xfrm>
          <a:prstGeom prst="rect">
            <a:avLst/>
          </a:prstGeom>
          <a:noFill/>
        </p:spPr>
        <p:txBody>
          <a:bodyPr wrap="square" lIns="45720" tIns="18288" rIns="45720" bIns="18288" anchor="ctr">
            <a:spAutoFit/>
          </a:bodyPr>
          <a:lstStyle/>
          <a:p>
            <a:pPr algn="l"/>
            <a:r>
              <a:rPr sz="1400" b="1" i="0">
                <a:solidFill>
                  <a:srgbClr val="000000"/>
                </a:solidFill>
                <a:latin typeface="Arial"/>
              </a:rPr>
              <a:t>→  Every feature was specified, planned, built, then tested, and each step is traceable</a:t>
            </a:r>
          </a:p>
        </p:txBody>
      </p:sp>
      <p:sp>
        <p:nvSpPr>
          <p:cNvPr id="11" name="Rounded Rectangle 10"/>
          <p:cNvSpPr/>
          <p:nvPr/>
        </p:nvSpPr>
        <p:spPr>
          <a:xfrm>
            <a:off x="1463040" y="4800600"/>
            <a:ext cx="9235440" cy="621792"/>
          </a:xfrm>
          <a:prstGeom prst="roundRect">
            <a:avLst>
              <a:gd name="adj" fmla="val 50000"/>
            </a:avLst>
          </a:prstGeom>
          <a:noFill/>
          <a:ln w="2857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737360" y="4800600"/>
            <a:ext cx="8778240" cy="621792"/>
          </a:xfrm>
          <a:prstGeom prst="rect">
            <a:avLst/>
          </a:prstGeom>
          <a:noFill/>
        </p:spPr>
        <p:txBody>
          <a:bodyPr wrap="square" lIns="45720" tIns="18288" rIns="45720" bIns="18288" anchor="ctr">
            <a:spAutoFit/>
          </a:bodyPr>
          <a:lstStyle/>
          <a:p>
            <a:pPr algn="l"/>
            <a:r>
              <a:rPr sz="1400" b="1" i="0">
                <a:solidFill>
                  <a:srgbClr val="000000"/>
                </a:solidFill>
                <a:latin typeface="Arial"/>
              </a:rPr>
              <a:t>→  Honest results: models whose scores looked too good were flagged, not hidden</a:t>
            </a:r>
          </a:p>
        </p:txBody>
      </p:sp>
      <p:sp>
        <p:nvSpPr>
          <p:cNvPr id="13" name="Rounded Rectangle 12"/>
          <p:cNvSpPr/>
          <p:nvPr/>
        </p:nvSpPr>
        <p:spPr>
          <a:xfrm>
            <a:off x="1463040" y="5577840"/>
            <a:ext cx="9235440" cy="621792"/>
          </a:xfrm>
          <a:prstGeom prst="roundRect">
            <a:avLst>
              <a:gd name="adj" fmla="val 50000"/>
            </a:avLst>
          </a:prstGeom>
          <a:noFill/>
          <a:ln w="2857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737360" y="5577840"/>
            <a:ext cx="8778240" cy="621792"/>
          </a:xfrm>
          <a:prstGeom prst="rect">
            <a:avLst/>
          </a:prstGeom>
          <a:noFill/>
        </p:spPr>
        <p:txBody>
          <a:bodyPr wrap="square" lIns="45720" tIns="18288" rIns="45720" bIns="18288" anchor="ctr">
            <a:spAutoFit/>
          </a:bodyPr>
          <a:lstStyle/>
          <a:p>
            <a:pPr algn="l"/>
            <a:r>
              <a:rPr sz="1400" b="1" i="0">
                <a:solidFill>
                  <a:srgbClr val="000000"/>
                </a:solidFill>
                <a:latin typeface="Arial"/>
              </a:rPr>
              <a:t>→  Every code change passes 6 security checks; test and live copies run on Azure</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06. Perspectives</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endParaRP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39</a:t>
            </a:r>
          </a:p>
        </p:txBody>
      </p:sp>
      <p:sp>
        <p:nvSpPr>
          <p:cNvPr id="6" name="Oval 5"/>
          <p:cNvSpPr/>
          <p:nvPr/>
        </p:nvSpPr>
        <p:spPr>
          <a:xfrm>
            <a:off x="4023360" y="2103120"/>
            <a:ext cx="4114800" cy="4114800"/>
          </a:xfrm>
          <a:prstGeom prst="ellipse">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4754880" y="2834640"/>
            <a:ext cx="2651760" cy="26517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754880" y="2834640"/>
            <a:ext cx="2651760" cy="2651760"/>
          </a:xfrm>
          <a:prstGeom prst="rect">
            <a:avLst/>
          </a:prstGeom>
          <a:noFill/>
        </p:spPr>
        <p:txBody>
          <a:bodyPr wrap="square" lIns="45720" tIns="18288" rIns="45720" bIns="18288" anchor="ctr">
            <a:spAutoFit/>
          </a:bodyPr>
          <a:lstStyle/>
          <a:p>
            <a:pPr algn="ctr"/>
            <a:r>
              <a:rPr sz="2600" b="0" i="0">
                <a:solidFill>
                  <a:srgbClr val="0A1045"/>
                </a:solidFill>
                <a:latin typeface="Arial Black"/>
              </a:rPr>
              <a:t>What's</a:t>
            </a:r>
          </a:p>
          <a:p>
            <a:pPr algn="ctr"/>
            <a:r>
              <a:rPr sz="2600" b="0" i="0">
                <a:solidFill>
                  <a:srgbClr val="0A1045"/>
                </a:solidFill>
                <a:latin typeface="Arial Black"/>
              </a:rPr>
              <a:t>Next?</a:t>
            </a:r>
          </a:p>
        </p:txBody>
      </p:sp>
      <p:sp>
        <p:nvSpPr>
          <p:cNvPr id="9" name="Hexagon 8"/>
          <p:cNvSpPr/>
          <p:nvPr/>
        </p:nvSpPr>
        <p:spPr>
          <a:xfrm>
            <a:off x="457200" y="1600200"/>
            <a:ext cx="3611880" cy="1143000"/>
          </a:xfrm>
          <a:prstGeom prst="hexagon">
            <a:avLst/>
          </a:prstGeom>
          <a:noFill/>
          <a:ln w="2857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14400" y="1600200"/>
            <a:ext cx="2743200" cy="1143000"/>
          </a:xfrm>
          <a:prstGeom prst="rect">
            <a:avLst/>
          </a:prstGeom>
          <a:noFill/>
        </p:spPr>
        <p:txBody>
          <a:bodyPr wrap="square" lIns="45720" tIns="18288" rIns="45720" bIns="18288" anchor="ctr">
            <a:spAutoFit/>
          </a:bodyPr>
          <a:lstStyle/>
          <a:p>
            <a:pPr algn="ctr"/>
            <a:r>
              <a:rPr sz="1200" b="1" i="0">
                <a:solidFill>
                  <a:srgbClr val="000000"/>
                </a:solidFill>
                <a:latin typeface="Arial"/>
              </a:rPr>
              <a:t>Retrain three models on real failures confirmed by technicians</a:t>
            </a:r>
          </a:p>
        </p:txBody>
      </p:sp>
      <p:sp>
        <p:nvSpPr>
          <p:cNvPr id="11" name="Hexagon 10"/>
          <p:cNvSpPr/>
          <p:nvPr/>
        </p:nvSpPr>
        <p:spPr>
          <a:xfrm>
            <a:off x="8138160" y="1600200"/>
            <a:ext cx="3611880" cy="1143000"/>
          </a:xfrm>
          <a:prstGeom prst="hexagon">
            <a:avLst/>
          </a:prstGeom>
          <a:noFill/>
          <a:ln w="2857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595360" y="1600200"/>
            <a:ext cx="2743200" cy="1143000"/>
          </a:xfrm>
          <a:prstGeom prst="rect">
            <a:avLst/>
          </a:prstGeom>
          <a:noFill/>
        </p:spPr>
        <p:txBody>
          <a:bodyPr wrap="square" lIns="45720" tIns="18288" rIns="45720" bIns="18288" anchor="ctr">
            <a:spAutoFit/>
          </a:bodyPr>
          <a:lstStyle/>
          <a:p>
            <a:pPr algn="ctr"/>
            <a:r>
              <a:rPr sz="1200" b="1" i="0" dirty="0">
                <a:solidFill>
                  <a:srgbClr val="000000"/>
                </a:solidFill>
                <a:latin typeface="Arial"/>
              </a:rPr>
              <a:t>Open a direct public entrance on Azure (lift the account limit)</a:t>
            </a:r>
          </a:p>
        </p:txBody>
      </p:sp>
      <p:sp>
        <p:nvSpPr>
          <p:cNvPr id="13" name="Hexagon 12"/>
          <p:cNvSpPr/>
          <p:nvPr/>
        </p:nvSpPr>
        <p:spPr>
          <a:xfrm>
            <a:off x="457200" y="5120640"/>
            <a:ext cx="3611880" cy="1143000"/>
          </a:xfrm>
          <a:prstGeom prst="hexagon">
            <a:avLst/>
          </a:prstGeom>
          <a:noFill/>
          <a:ln w="2857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14400" y="5120640"/>
            <a:ext cx="2743200" cy="1143000"/>
          </a:xfrm>
          <a:prstGeom prst="rect">
            <a:avLst/>
          </a:prstGeom>
          <a:noFill/>
        </p:spPr>
        <p:txBody>
          <a:bodyPr wrap="square" lIns="45720" tIns="18288" rIns="45720" bIns="18288" anchor="ctr">
            <a:spAutoFit/>
          </a:bodyPr>
          <a:lstStyle/>
          <a:p>
            <a:pPr algn="ctr"/>
            <a:r>
              <a:rPr sz="1200" b="1" i="0" dirty="0">
                <a:solidFill>
                  <a:srgbClr val="000000"/>
                </a:solidFill>
                <a:latin typeface="Arial"/>
              </a:rPr>
              <a:t>Sturdier production: a standby database, automatic scaling, logs in one place</a:t>
            </a:r>
          </a:p>
        </p:txBody>
      </p:sp>
      <p:sp>
        <p:nvSpPr>
          <p:cNvPr id="15" name="Hexagon 14"/>
          <p:cNvSpPr/>
          <p:nvPr/>
        </p:nvSpPr>
        <p:spPr>
          <a:xfrm>
            <a:off x="8138160" y="5120640"/>
            <a:ext cx="3611880" cy="1143000"/>
          </a:xfrm>
          <a:prstGeom prst="hexagon">
            <a:avLst/>
          </a:prstGeom>
          <a:noFill/>
          <a:ln w="2857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595360" y="5120640"/>
            <a:ext cx="2743200" cy="1143000"/>
          </a:xfrm>
          <a:prstGeom prst="rect">
            <a:avLst/>
          </a:prstGeom>
          <a:noFill/>
        </p:spPr>
        <p:txBody>
          <a:bodyPr wrap="square" lIns="45720" tIns="18288" rIns="45720" bIns="18288" anchor="ctr">
            <a:spAutoFit/>
          </a:bodyPr>
          <a:lstStyle/>
          <a:p>
            <a:pPr algn="ctr"/>
            <a:r>
              <a:rPr sz="1200" b="1" i="0" dirty="0">
                <a:solidFill>
                  <a:srgbClr val="000000"/>
                </a:solidFill>
                <a:latin typeface="Arial"/>
              </a:rPr>
              <a:t>Let Azure store our files, and change passwords automatically</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esprit.jpg"/>
          <p:cNvPicPr>
            <a:picLocks noChangeAspect="1"/>
          </p:cNvPicPr>
          <p:nvPr/>
        </p:nvPicPr>
        <p:blipFill>
          <a:blip r:embed="rId2"/>
          <a:stretch>
            <a:fillRect/>
          </a:stretch>
        </p:blipFill>
        <p:spPr>
          <a:xfrm>
            <a:off x="502920" y="274320"/>
            <a:ext cx="2377440" cy="879815"/>
          </a:xfrm>
          <a:prstGeom prst="rect">
            <a:avLst/>
          </a:prstGeom>
        </p:spPr>
      </p:pic>
      <p:pic>
        <p:nvPicPr>
          <p:cNvPr id="3" name="Picture 2" descr="sagemcom.png"/>
          <p:cNvPicPr>
            <a:picLocks noChangeAspect="1"/>
          </p:cNvPicPr>
          <p:nvPr/>
        </p:nvPicPr>
        <p:blipFill>
          <a:blip r:embed="rId3"/>
          <a:stretch>
            <a:fillRect/>
          </a:stretch>
        </p:blipFill>
        <p:spPr>
          <a:xfrm>
            <a:off x="10058400" y="137160"/>
            <a:ext cx="1554480" cy="1554480"/>
          </a:xfrm>
          <a:prstGeom prst="rect">
            <a:avLst/>
          </a:prstGeom>
        </p:spPr>
      </p:pic>
      <p:cxnSp>
        <p:nvCxnSpPr>
          <p:cNvPr id="4" name="Connector 3"/>
          <p:cNvCxnSpPr/>
          <p:nvPr/>
        </p:nvCxnSpPr>
        <p:spPr>
          <a:xfrm>
            <a:off x="6099048" y="0"/>
            <a:ext cx="0" cy="109728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099048" y="6035040"/>
            <a:ext cx="0" cy="82296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1097280" y="2286000"/>
            <a:ext cx="9966960" cy="1645920"/>
          </a:xfrm>
          <a:prstGeom prst="rect">
            <a:avLst/>
          </a:prstGeom>
          <a:noFill/>
        </p:spPr>
        <p:txBody>
          <a:bodyPr wrap="square" lIns="45720" tIns="18288" rIns="45720" bIns="18288" anchor="ctr">
            <a:spAutoFit/>
          </a:bodyPr>
          <a:lstStyle/>
          <a:p>
            <a:pPr algn="ctr"/>
            <a:r>
              <a:rPr sz="4400" b="0" i="0">
                <a:solidFill>
                  <a:srgbClr val="0A1045"/>
                </a:solidFill>
                <a:latin typeface="Arial Black"/>
              </a:rPr>
              <a:t>Thank You for your</a:t>
            </a:r>
          </a:p>
          <a:p>
            <a:pPr algn="ctr"/>
            <a:r>
              <a:rPr sz="4400" b="0" i="0">
                <a:solidFill>
                  <a:srgbClr val="0A1045"/>
                </a:solidFill>
                <a:latin typeface="Arial Black"/>
              </a:rPr>
              <a:t>Attention</a:t>
            </a:r>
          </a:p>
        </p:txBody>
      </p:sp>
      <p:sp>
        <p:nvSpPr>
          <p:cNvPr id="7" name="TextBox 6"/>
          <p:cNvSpPr txBox="1"/>
          <p:nvPr/>
        </p:nvSpPr>
        <p:spPr>
          <a:xfrm>
            <a:off x="1097280" y="4206240"/>
            <a:ext cx="9966960" cy="731520"/>
          </a:xfrm>
          <a:prstGeom prst="rect">
            <a:avLst/>
          </a:prstGeom>
          <a:noFill/>
        </p:spPr>
        <p:txBody>
          <a:bodyPr wrap="square" lIns="45720" tIns="18288" rIns="45720" bIns="18288" anchor="ctr">
            <a:spAutoFit/>
          </a:bodyPr>
          <a:lstStyle/>
          <a:p>
            <a:pPr algn="ctr"/>
            <a:r>
              <a:rPr sz="3000" b="0" i="0">
                <a:solidFill>
                  <a:srgbClr val="D0101A"/>
                </a:solidFill>
                <a:latin typeface="Arial Black"/>
              </a:rPr>
              <a:t>Any Questions?</a:t>
            </a:r>
          </a:p>
        </p:txBody>
      </p:sp>
      <p:sp>
        <p:nvSpPr>
          <p:cNvPr id="8" name="TextBox 7"/>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40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tion label"/>
          <p:cNvSpPr txBox="1"/>
          <p:nvPr/>
        </p:nvSpPr>
        <p:spPr>
          <a:xfrm>
            <a:off x="457200" y="201168"/>
            <a:ext cx="8229600" cy="365760"/>
          </a:xfrm>
          <a:prstGeom prst="rect">
            <a:avLst/>
          </a:prstGeom>
          <a:noFill/>
        </p:spPr>
        <p:txBody>
          <a:bodyPr wrap="square" lIns="45720" rIns="45720" tIns="18288" bIns="18288" anchor="ctr">
            <a:spAutoFit/>
          </a:bodyPr>
          <a:lstStyle/>
          <a:p>
            <a:pPr algn="l"/>
            <a:r>
              <a:rPr sz="1400" b="1" spc="200">
                <a:solidFill>
                  <a:srgbClr val="D0101A"/>
                </a:solidFill>
                <a:latin typeface="Arial"/>
              </a:rPr>
              <a:t>04. Implementation: RAG Assistant</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itle"/>
          <p:cNvSpPr txBox="1"/>
          <p:nvPr/>
        </p:nvSpPr>
        <p:spPr>
          <a:xfrm>
            <a:off x="457200" y="749808"/>
            <a:ext cx="11274552" cy="685800"/>
          </a:xfrm>
          <a:prstGeom prst="rect">
            <a:avLst/>
          </a:prstGeom>
          <a:noFill/>
        </p:spPr>
        <p:txBody>
          <a:bodyPr wrap="square" lIns="45720" rIns="45720" tIns="18288" bIns="18288" anchor="ctr">
            <a:spAutoFit/>
          </a:bodyPr>
          <a:lstStyle/>
          <a:p>
            <a:pPr algn="ctr"/>
            <a:r>
              <a:rPr sz="2600" b="0">
                <a:solidFill>
                  <a:srgbClr val="0A1045"/>
                </a:solidFill>
                <a:latin typeface="Arial Black"/>
              </a:rPr>
              <a:t>RAG Assistant: Step by Step</a:t>
            </a:r>
          </a:p>
        </p:txBody>
      </p:sp>
      <p:sp>
        <p:nvSpPr>
          <p:cNvPr id="5" name="Page number"/>
          <p:cNvSpPr txBox="1"/>
          <p:nvPr/>
        </p:nvSpPr>
        <p:spPr>
          <a:xfrm>
            <a:off x="11247120" y="6446520"/>
            <a:ext cx="640080" cy="274320"/>
          </a:xfrm>
          <a:prstGeom prst="rect">
            <a:avLst/>
          </a:prstGeom>
          <a:noFill/>
        </p:spPr>
        <p:txBody>
          <a:bodyPr wrap="square" lIns="45720" rIns="45720" tIns="18288" bIns="18288" anchor="ctr">
            <a:spAutoFit/>
          </a:bodyPr>
          <a:lstStyle/>
          <a:p>
            <a:pPr algn="r"/>
            <a:r>
              <a:rPr sz="1200" b="0">
                <a:solidFill>
                  <a:srgbClr val="000000"/>
                </a:solidFill>
                <a:latin typeface="Arial"/>
              </a:rPr>
              <a:t>32</a:t>
            </a:r>
          </a:p>
        </p:txBody>
      </p:sp>
      <p:sp>
        <p:nvSpPr>
          <p:cNvPr id="6" name="Card 1"/>
          <p:cNvSpPr/>
          <p:nvPr/>
        </p:nvSpPr>
        <p:spPr>
          <a:xfrm>
            <a:off x="457200" y="17602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hip 1"/>
          <p:cNvSpPr/>
          <p:nvPr/>
        </p:nvSpPr>
        <p:spPr>
          <a:xfrm>
            <a:off x="918972" y="15544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1 · Upload &amp; keep a copy</a:t>
            </a:r>
          </a:p>
        </p:txBody>
      </p:sp>
      <p:sp>
        <p:nvSpPr>
          <p:cNvPr id="8" name="Card text 1"/>
          <p:cNvSpPr txBox="1"/>
          <p:nvPr/>
        </p:nvSpPr>
        <p:spPr>
          <a:xfrm>
            <a:off x="548640" y="20116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An admin uploads a technical manual. The </a:t>
            </a:r>
            <a:r>
              <a:rPr sz="1400" b="1">
                <a:solidFill>
                  <a:srgbClr val="000000"/>
                </a:solidFill>
                <a:latin typeface="Arial"/>
              </a:rPr>
              <a:t>original file is saved first</a:t>
            </a:r>
            <a:r>
              <a:rPr sz="1400" b="0">
                <a:solidFill>
                  <a:srgbClr val="333333"/>
                </a:solidFill>
                <a:latin typeface="Arial"/>
              </a:rPr>
              <a:t>, so nothing is lost if a later step fails.</a:t>
            </a:r>
          </a:p>
        </p:txBody>
      </p:sp>
      <p:sp>
        <p:nvSpPr>
          <p:cNvPr id="9" name="Card 2"/>
          <p:cNvSpPr/>
          <p:nvPr/>
        </p:nvSpPr>
        <p:spPr>
          <a:xfrm>
            <a:off x="4261104" y="17602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ip 2"/>
          <p:cNvSpPr/>
          <p:nvPr/>
        </p:nvSpPr>
        <p:spPr>
          <a:xfrm>
            <a:off x="4722876" y="15544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2 · Cut &amp; index</a:t>
            </a:r>
          </a:p>
        </p:txBody>
      </p:sp>
      <p:sp>
        <p:nvSpPr>
          <p:cNvPr id="11" name="Card text 2"/>
          <p:cNvSpPr txBox="1"/>
          <p:nvPr/>
        </p:nvSpPr>
        <p:spPr>
          <a:xfrm>
            <a:off x="4352544" y="20116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The document is </a:t>
            </a:r>
            <a:r>
              <a:rPr sz="1400" b="1">
                <a:solidFill>
                  <a:srgbClr val="000000"/>
                </a:solidFill>
                <a:latin typeface="Arial"/>
              </a:rPr>
              <a:t>split into short passages</a:t>
            </a:r>
            <a:r>
              <a:rPr sz="1400" b="0">
                <a:solidFill>
                  <a:srgbClr val="333333"/>
                </a:solidFill>
                <a:latin typeface="Arial"/>
              </a:rPr>
              <a:t>. Each one gets a </a:t>
            </a:r>
            <a:r>
              <a:rPr sz="1400" b="1">
                <a:solidFill>
                  <a:srgbClr val="000000"/>
                </a:solidFill>
                <a:latin typeface="Arial"/>
              </a:rPr>
              <a:t>meaning vector</a:t>
            </a:r>
            <a:r>
              <a:rPr sz="1400" b="0">
                <a:solidFill>
                  <a:srgbClr val="333333"/>
                </a:solidFill>
                <a:latin typeface="Arial"/>
              </a:rPr>
              <a:t>, so it can be found by what it means, not only by exact words.</a:t>
            </a:r>
          </a:p>
        </p:txBody>
      </p:sp>
      <p:sp>
        <p:nvSpPr>
          <p:cNvPr id="12" name="Card 3"/>
          <p:cNvSpPr/>
          <p:nvPr/>
        </p:nvSpPr>
        <p:spPr>
          <a:xfrm>
            <a:off x="8065008" y="17602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Chip 3"/>
          <p:cNvSpPr/>
          <p:nvPr/>
        </p:nvSpPr>
        <p:spPr>
          <a:xfrm>
            <a:off x="8526780" y="15544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3 · Ask on a machine page</a:t>
            </a:r>
          </a:p>
        </p:txBody>
      </p:sp>
      <p:sp>
        <p:nvSpPr>
          <p:cNvPr id="14" name="Card text 3"/>
          <p:cNvSpPr txBox="1"/>
          <p:nvPr/>
        </p:nvSpPr>
        <p:spPr>
          <a:xfrm>
            <a:off x="8156448" y="20116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A technician types a question </a:t>
            </a:r>
            <a:r>
              <a:rPr sz="1400" b="1">
                <a:solidFill>
                  <a:srgbClr val="000000"/>
                </a:solidFill>
                <a:latin typeface="Arial"/>
              </a:rPr>
              <a:t>on a machine's page</a:t>
            </a:r>
            <a:r>
              <a:rPr sz="1400" b="0">
                <a:solidFill>
                  <a:srgbClr val="333333"/>
                </a:solidFill>
                <a:latin typeface="Arial"/>
              </a:rPr>
              <a:t>, so the assistant knows </a:t>
            </a:r>
            <a:r>
              <a:rPr sz="1400" b="1">
                <a:solidFill>
                  <a:srgbClr val="000000"/>
                </a:solidFill>
                <a:latin typeface="Arial"/>
              </a:rPr>
              <a:t>which machine</a:t>
            </a:r>
            <a:r>
              <a:rPr sz="1400" b="0">
                <a:solidFill>
                  <a:srgbClr val="333333"/>
                </a:solidFill>
                <a:latin typeface="Arial"/>
              </a:rPr>
              <a:t> the question is about.</a:t>
            </a:r>
          </a:p>
        </p:txBody>
      </p:sp>
      <p:sp>
        <p:nvSpPr>
          <p:cNvPr id="15" name="Card 4"/>
          <p:cNvSpPr/>
          <p:nvPr/>
        </p:nvSpPr>
        <p:spPr>
          <a:xfrm>
            <a:off x="457200" y="39319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hip 4"/>
          <p:cNvSpPr/>
          <p:nvPr/>
        </p:nvSpPr>
        <p:spPr>
          <a:xfrm>
            <a:off x="918972" y="37261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4 · Two lookups at once</a:t>
            </a:r>
          </a:p>
        </p:txBody>
      </p:sp>
      <p:sp>
        <p:nvSpPr>
          <p:cNvPr id="17" name="Card text 4"/>
          <p:cNvSpPr txBox="1"/>
          <p:nvPr/>
        </p:nvSpPr>
        <p:spPr>
          <a:xfrm>
            <a:off x="548640" y="41833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The system </a:t>
            </a:r>
            <a:r>
              <a:rPr sz="1400" b="1">
                <a:solidFill>
                  <a:srgbClr val="000000"/>
                </a:solidFill>
                <a:latin typeface="Arial"/>
              </a:rPr>
              <a:t>finds the best passages</a:t>
            </a:r>
            <a:r>
              <a:rPr sz="1400" b="0">
                <a:solidFill>
                  <a:srgbClr val="333333"/>
                </a:solidFill>
                <a:latin typeface="Arial"/>
              </a:rPr>
              <a:t> (by words and by meaning, then re-ranks them) and, </a:t>
            </a:r>
            <a:r>
              <a:rPr sz="1400" b="1">
                <a:solidFill>
                  <a:srgbClr val="000000"/>
                </a:solidFill>
                <a:latin typeface="Arial"/>
              </a:rPr>
              <a:t>at the same time</a:t>
            </a:r>
            <a:r>
              <a:rPr sz="1400" b="0">
                <a:solidFill>
                  <a:srgbClr val="333333"/>
                </a:solidFill>
                <a:latin typeface="Arial"/>
              </a:rPr>
              <a:t>, reads the machine's </a:t>
            </a:r>
            <a:r>
              <a:rPr sz="1400" b="1">
                <a:solidFill>
                  <a:srgbClr val="000000"/>
                </a:solidFill>
                <a:latin typeface="Arial"/>
              </a:rPr>
              <a:t>live health</a:t>
            </a:r>
            <a:r>
              <a:rPr sz="1400" b="0">
                <a:solidFill>
                  <a:srgbClr val="333333"/>
                </a:solidFill>
                <a:latin typeface="Arial"/>
              </a:rPr>
              <a:t>.</a:t>
            </a:r>
          </a:p>
        </p:txBody>
      </p:sp>
      <p:sp>
        <p:nvSpPr>
          <p:cNvPr id="18" name="Card 5"/>
          <p:cNvSpPr/>
          <p:nvPr/>
        </p:nvSpPr>
        <p:spPr>
          <a:xfrm>
            <a:off x="4261104" y="39319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hip 5"/>
          <p:cNvSpPr/>
          <p:nvPr/>
        </p:nvSpPr>
        <p:spPr>
          <a:xfrm>
            <a:off x="4722876" y="37261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5 · Write the answer</a:t>
            </a:r>
          </a:p>
        </p:txBody>
      </p:sp>
      <p:sp>
        <p:nvSpPr>
          <p:cNvPr id="20" name="Card text 5"/>
          <p:cNvSpPr txBox="1"/>
          <p:nvPr/>
        </p:nvSpPr>
        <p:spPr>
          <a:xfrm>
            <a:off x="4352544" y="41833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Passages and live status go to the </a:t>
            </a:r>
            <a:r>
              <a:rPr sz="1400" b="1">
                <a:solidFill>
                  <a:srgbClr val="000000"/>
                </a:solidFill>
                <a:latin typeface="Arial"/>
              </a:rPr>
              <a:t>AI language model</a:t>
            </a:r>
            <a:r>
              <a:rPr sz="1400" b="0">
                <a:solidFill>
                  <a:srgbClr val="333333"/>
                </a:solidFill>
                <a:latin typeface="Arial"/>
              </a:rPr>
              <a:t> (Groq), which writes the answer </a:t>
            </a:r>
            <a:r>
              <a:rPr sz="1400" b="1">
                <a:solidFill>
                  <a:srgbClr val="000000"/>
                </a:solidFill>
                <a:latin typeface="Arial"/>
              </a:rPr>
              <a:t>from that material</a:t>
            </a:r>
            <a:r>
              <a:rPr sz="1400" b="0">
                <a:solidFill>
                  <a:srgbClr val="333333"/>
                </a:solidFill>
                <a:latin typeface="Arial"/>
              </a:rPr>
              <a:t>.</a:t>
            </a:r>
          </a:p>
        </p:txBody>
      </p:sp>
      <p:sp>
        <p:nvSpPr>
          <p:cNvPr id="21" name="Card 6"/>
          <p:cNvSpPr/>
          <p:nvPr/>
        </p:nvSpPr>
        <p:spPr>
          <a:xfrm>
            <a:off x="8065008" y="39319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hip 6"/>
          <p:cNvSpPr/>
          <p:nvPr/>
        </p:nvSpPr>
        <p:spPr>
          <a:xfrm>
            <a:off x="8526780" y="37261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6 · Grounded answer</a:t>
            </a:r>
          </a:p>
        </p:txBody>
      </p:sp>
      <p:sp>
        <p:nvSpPr>
          <p:cNvPr id="23" name="Card text 6"/>
          <p:cNvSpPr txBox="1"/>
          <p:nvPr/>
        </p:nvSpPr>
        <p:spPr>
          <a:xfrm>
            <a:off x="8156448" y="41833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The reply combines </a:t>
            </a:r>
            <a:r>
              <a:rPr sz="1400" b="1">
                <a:solidFill>
                  <a:srgbClr val="000000"/>
                </a:solidFill>
                <a:latin typeface="Arial"/>
              </a:rPr>
              <a:t>what the manuals say</a:t>
            </a:r>
            <a:r>
              <a:rPr sz="1400" b="0">
                <a:solidFill>
                  <a:srgbClr val="333333"/>
                </a:solidFill>
                <a:latin typeface="Arial"/>
              </a:rPr>
              <a:t> with </a:t>
            </a:r>
            <a:r>
              <a:rPr sz="1400" b="1">
                <a:solidFill>
                  <a:srgbClr val="000000"/>
                </a:solidFill>
                <a:latin typeface="Arial"/>
              </a:rPr>
              <a:t>what the machine is doing now</a:t>
            </a:r>
            <a:r>
              <a:rPr sz="1400" b="0">
                <a:solidFill>
                  <a:srgbClr val="333333"/>
                </a:solidFill>
                <a:latin typeface="Arial"/>
              </a:rPr>
              <a:t>: a procedure and the machine's current state, together.</a:t>
            </a:r>
          </a:p>
        </p:txBody>
      </p:sp>
      <p:sp>
        <p:nvSpPr>
          <p:cNvPr id="24" name="Key takeaway"/>
          <p:cNvSpPr txBox="1"/>
          <p:nvPr/>
        </p:nvSpPr>
        <p:spPr>
          <a:xfrm>
            <a:off x="457200" y="5760720"/>
            <a:ext cx="11274552" cy="411480"/>
          </a:xfrm>
          <a:prstGeom prst="rect">
            <a:avLst/>
          </a:prstGeom>
          <a:noFill/>
        </p:spPr>
        <p:txBody>
          <a:bodyPr wrap="square" lIns="45720" rIns="45720" tIns="18288" bIns="18288" anchor="ctr">
            <a:spAutoFit/>
          </a:bodyPr>
          <a:lstStyle/>
          <a:p>
            <a:pPr algn="ctr"/>
            <a:r>
              <a:rPr sz="1300" b="1">
                <a:solidFill>
                  <a:srgbClr val="D0101A"/>
                </a:solidFill>
                <a:latin typeface="Arial"/>
              </a:rPr>
              <a:t>Always answers:</a:t>
            </a:r>
            <a:r>
              <a:rPr sz="1300" b="0">
                <a:solidFill>
                  <a:srgbClr val="000000"/>
                </a:solidFill>
                <a:latin typeface="Arial"/>
              </a:rPr>
              <a:t> if the ML service is down, a simpler rule-based health score is used instead.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tion label"/>
          <p:cNvSpPr txBox="1"/>
          <p:nvPr/>
        </p:nvSpPr>
        <p:spPr>
          <a:xfrm>
            <a:off x="457200" y="201168"/>
            <a:ext cx="8229600" cy="365760"/>
          </a:xfrm>
          <a:prstGeom prst="rect">
            <a:avLst/>
          </a:prstGeom>
          <a:noFill/>
        </p:spPr>
        <p:txBody>
          <a:bodyPr wrap="square" lIns="45720" rIns="45720" tIns="18288" bIns="18288" anchor="ctr">
            <a:spAutoFit/>
          </a:bodyPr>
          <a:lstStyle/>
          <a:p>
            <a:pPr algn="l"/>
            <a:r>
              <a:rPr sz="1400" b="1" spc="200">
                <a:solidFill>
                  <a:srgbClr val="D0101A"/>
                </a:solidFill>
                <a:latin typeface="Arial"/>
              </a:rPr>
              <a:t>04. Implementation: Machine Learning</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itle"/>
          <p:cNvSpPr txBox="1"/>
          <p:nvPr/>
        </p:nvSpPr>
        <p:spPr>
          <a:xfrm>
            <a:off x="457200" y="749808"/>
            <a:ext cx="11274552" cy="685800"/>
          </a:xfrm>
          <a:prstGeom prst="rect">
            <a:avLst/>
          </a:prstGeom>
          <a:noFill/>
        </p:spPr>
        <p:txBody>
          <a:bodyPr wrap="square" lIns="45720" rIns="45720" tIns="18288" bIns="18288" anchor="ctr">
            <a:spAutoFit/>
          </a:bodyPr>
          <a:lstStyle/>
          <a:p>
            <a:pPr algn="ctr"/>
            <a:r>
              <a:rPr sz="2600" b="0">
                <a:solidFill>
                  <a:srgbClr val="0A1045"/>
                </a:solidFill>
                <a:latin typeface="Arial Black"/>
              </a:rPr>
              <a:t>Machine Learning Pipeline: Step by Step</a:t>
            </a:r>
          </a:p>
        </p:txBody>
      </p:sp>
      <p:sp>
        <p:nvSpPr>
          <p:cNvPr id="5" name="Page number"/>
          <p:cNvSpPr txBox="1"/>
          <p:nvPr/>
        </p:nvSpPr>
        <p:spPr>
          <a:xfrm>
            <a:off x="11247120" y="6446520"/>
            <a:ext cx="640080" cy="274320"/>
          </a:xfrm>
          <a:prstGeom prst="rect">
            <a:avLst/>
          </a:prstGeom>
          <a:noFill/>
        </p:spPr>
        <p:txBody>
          <a:bodyPr wrap="square" lIns="45720" rIns="45720" tIns="18288" bIns="18288" anchor="ctr">
            <a:spAutoFit/>
          </a:bodyPr>
          <a:lstStyle/>
          <a:p>
            <a:pPr algn="r"/>
            <a:r>
              <a:rPr sz="1200" b="0">
                <a:solidFill>
                  <a:srgbClr val="000000"/>
                </a:solidFill>
                <a:latin typeface="Arial"/>
              </a:rPr>
              <a:t>29</a:t>
            </a:r>
          </a:p>
        </p:txBody>
      </p:sp>
      <p:sp>
        <p:nvSpPr>
          <p:cNvPr id="6" name="Card 1"/>
          <p:cNvSpPr/>
          <p:nvPr/>
        </p:nvSpPr>
        <p:spPr>
          <a:xfrm>
            <a:off x="457200" y="17602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hip 1"/>
          <p:cNvSpPr/>
          <p:nvPr/>
        </p:nvSpPr>
        <p:spPr>
          <a:xfrm>
            <a:off x="918972" y="15544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1 · Sensor telemetry</a:t>
            </a:r>
          </a:p>
        </p:txBody>
      </p:sp>
      <p:sp>
        <p:nvSpPr>
          <p:cNvPr id="8" name="Card text 1"/>
          <p:cNvSpPr txBox="1"/>
          <p:nvPr/>
        </p:nvSpPr>
        <p:spPr>
          <a:xfrm>
            <a:off x="548640" y="20116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Each machine reports </a:t>
            </a:r>
            <a:r>
              <a:rPr sz="1400" b="1">
                <a:solidFill>
                  <a:srgbClr val="000000"/>
                </a:solidFill>
                <a:latin typeface="Arial"/>
              </a:rPr>
              <a:t>five readings</a:t>
            </a:r>
            <a:r>
              <a:rPr sz="1400" b="0">
                <a:solidFill>
                  <a:srgbClr val="333333"/>
                </a:solidFill>
                <a:latin typeface="Arial"/>
              </a:rPr>
              <a:t>: air temperature, process temperature, rotation speed, torque and tool wear. Everything starts from these numbers.</a:t>
            </a:r>
          </a:p>
        </p:txBody>
      </p:sp>
      <p:sp>
        <p:nvSpPr>
          <p:cNvPr id="9" name="Card 2"/>
          <p:cNvSpPr/>
          <p:nvPr/>
        </p:nvSpPr>
        <p:spPr>
          <a:xfrm>
            <a:off x="4261104" y="17602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ip 2"/>
          <p:cNvSpPr/>
          <p:nvPr/>
        </p:nvSpPr>
        <p:spPr>
          <a:xfrm>
            <a:off x="4722876" y="15544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2 · Feature pipeline</a:t>
            </a:r>
          </a:p>
        </p:txBody>
      </p:sp>
      <p:sp>
        <p:nvSpPr>
          <p:cNvPr id="11" name="Card text 2"/>
          <p:cNvSpPr txBox="1"/>
          <p:nvPr/>
        </p:nvSpPr>
        <p:spPr>
          <a:xfrm>
            <a:off x="4352544" y="20116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The raw numbers are turned into </a:t>
            </a:r>
            <a:r>
              <a:rPr sz="1400" b="1">
                <a:solidFill>
                  <a:srgbClr val="000000"/>
                </a:solidFill>
                <a:latin typeface="Arial"/>
              </a:rPr>
              <a:t>useful clues</a:t>
            </a:r>
            <a:r>
              <a:rPr sz="1400" b="0">
                <a:solidFill>
                  <a:srgbClr val="333333"/>
                </a:solidFill>
                <a:latin typeface="Arial"/>
              </a:rPr>
              <a:t>, such as how much </a:t>
            </a:r>
            <a:r>
              <a:rPr sz="1400" b="1">
                <a:solidFill>
                  <a:srgbClr val="000000"/>
                </a:solidFill>
                <a:latin typeface="Arial"/>
              </a:rPr>
              <a:t>heat is building up</a:t>
            </a:r>
            <a:r>
              <a:rPr sz="1400" b="0">
                <a:solidFill>
                  <a:srgbClr val="333333"/>
                </a:solidFill>
                <a:latin typeface="Arial"/>
              </a:rPr>
              <a:t> inside the machine and how </a:t>
            </a:r>
            <a:r>
              <a:rPr sz="1400" b="1">
                <a:solidFill>
                  <a:srgbClr val="000000"/>
                </a:solidFill>
                <a:latin typeface="Arial"/>
              </a:rPr>
              <a:t>hard it is working</a:t>
            </a:r>
            <a:r>
              <a:rPr sz="1400" b="0">
                <a:solidFill>
                  <a:srgbClr val="333333"/>
                </a:solidFill>
                <a:latin typeface="Arial"/>
              </a:rPr>
              <a:t>.</a:t>
            </a:r>
          </a:p>
        </p:txBody>
      </p:sp>
      <p:sp>
        <p:nvSpPr>
          <p:cNvPr id="12" name="Card 3"/>
          <p:cNvSpPr/>
          <p:nvPr/>
        </p:nvSpPr>
        <p:spPr>
          <a:xfrm>
            <a:off x="8065008" y="17602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Chip 3"/>
          <p:cNvSpPr/>
          <p:nvPr/>
        </p:nvSpPr>
        <p:spPr>
          <a:xfrm>
            <a:off x="8526780" y="15544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3 · Seven models (P1-P7)</a:t>
            </a:r>
          </a:p>
        </p:txBody>
      </p:sp>
      <p:sp>
        <p:nvSpPr>
          <p:cNvPr id="14" name="Card text 3"/>
          <p:cNvSpPr txBox="1"/>
          <p:nvPr/>
        </p:nvSpPr>
        <p:spPr>
          <a:xfrm>
            <a:off x="8156448" y="20116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Seven models each answer </a:t>
            </a:r>
            <a:r>
              <a:rPr sz="1400" b="1">
                <a:solidFill>
                  <a:srgbClr val="000000"/>
                </a:solidFill>
                <a:latin typeface="Arial"/>
              </a:rPr>
              <a:t>one question about right now</a:t>
            </a:r>
            <a:r>
              <a:rPr sz="1400" b="0">
                <a:solidFill>
                  <a:srgbClr val="333333"/>
                </a:solidFill>
                <a:latin typeface="Arial"/>
              </a:rPr>
              <a:t>: will it fail, how, how long is left, is it acting oddly, how urgent is it, when to repair, which parts.</a:t>
            </a:r>
          </a:p>
        </p:txBody>
      </p:sp>
      <p:sp>
        <p:nvSpPr>
          <p:cNvPr id="15" name="Card 4"/>
          <p:cNvSpPr/>
          <p:nvPr/>
        </p:nvSpPr>
        <p:spPr>
          <a:xfrm>
            <a:off x="457200" y="39319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hip 4"/>
          <p:cNvSpPr/>
          <p:nvPr/>
        </p:nvSpPr>
        <p:spPr>
          <a:xfrm>
            <a:off x="918972" y="37261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4 · Wave 2 signals</a:t>
            </a:r>
          </a:p>
        </p:txBody>
      </p:sp>
      <p:sp>
        <p:nvSpPr>
          <p:cNvPr id="17" name="Card text 4"/>
          <p:cNvSpPr txBox="1"/>
          <p:nvPr/>
        </p:nvSpPr>
        <p:spPr>
          <a:xfrm>
            <a:off x="548640" y="41833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Four more models look at the </a:t>
            </a:r>
            <a:r>
              <a:rPr sz="1400" b="1">
                <a:solidFill>
                  <a:srgbClr val="000000"/>
                </a:solidFill>
                <a:latin typeface="Arial"/>
              </a:rPr>
              <a:t>machine's history</a:t>
            </a:r>
            <a:r>
              <a:rPr sz="1400" b="0">
                <a:solidFill>
                  <a:srgbClr val="333333"/>
                </a:solidFill>
                <a:latin typeface="Arial"/>
              </a:rPr>
              <a:t>: is the estimate realistic, how long can it keep running, is it far from its usual self, is it slowly getting worse?</a:t>
            </a:r>
          </a:p>
        </p:txBody>
      </p:sp>
      <p:sp>
        <p:nvSpPr>
          <p:cNvPr id="18" name="Card 5"/>
          <p:cNvSpPr/>
          <p:nvPr/>
        </p:nvSpPr>
        <p:spPr>
          <a:xfrm>
            <a:off x="4261104" y="39319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hip 5"/>
          <p:cNvSpPr/>
          <p:nvPr/>
        </p:nvSpPr>
        <p:spPr>
          <a:xfrm>
            <a:off x="4722876" y="37261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5 · DST fusion</a:t>
            </a:r>
          </a:p>
        </p:txBody>
      </p:sp>
      <p:sp>
        <p:nvSpPr>
          <p:cNvPr id="20" name="Card text 5"/>
          <p:cNvSpPr txBox="1"/>
          <p:nvPr/>
        </p:nvSpPr>
        <p:spPr>
          <a:xfrm>
            <a:off x="4352544" y="41833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All the answers are </a:t>
            </a:r>
            <a:r>
              <a:rPr sz="1400" b="1">
                <a:solidFill>
                  <a:srgbClr val="000000"/>
                </a:solidFill>
                <a:latin typeface="Arial"/>
              </a:rPr>
              <a:t>weighed together</a:t>
            </a:r>
            <a:r>
              <a:rPr sz="1400" b="0">
                <a:solidFill>
                  <a:srgbClr val="333333"/>
                </a:solidFill>
                <a:latin typeface="Arial"/>
              </a:rPr>
              <a:t>. When they agree, the result is confident; when they </a:t>
            </a:r>
            <a:r>
              <a:rPr sz="1400" b="1">
                <a:solidFill>
                  <a:srgbClr val="000000"/>
                </a:solidFill>
                <a:latin typeface="Arial"/>
              </a:rPr>
              <a:t>disagree</a:t>
            </a:r>
            <a:r>
              <a:rPr sz="1400" b="0">
                <a:solidFill>
                  <a:srgbClr val="333333"/>
                </a:solidFill>
                <a:latin typeface="Arial"/>
              </a:rPr>
              <a:t>, it says </a:t>
            </a:r>
            <a:r>
              <a:rPr sz="1400" b="1">
                <a:solidFill>
                  <a:srgbClr val="000000"/>
                </a:solidFill>
                <a:latin typeface="Arial"/>
              </a:rPr>
              <a:t>"not sure"</a:t>
            </a:r>
            <a:r>
              <a:rPr sz="1400" b="0">
                <a:solidFill>
                  <a:srgbClr val="333333"/>
                </a:solidFill>
                <a:latin typeface="Arial"/>
              </a:rPr>
              <a:t> instead of picking a side.</a:t>
            </a:r>
          </a:p>
        </p:txBody>
      </p:sp>
      <p:sp>
        <p:nvSpPr>
          <p:cNvPr id="21" name="Card 6"/>
          <p:cNvSpPr/>
          <p:nvPr/>
        </p:nvSpPr>
        <p:spPr>
          <a:xfrm>
            <a:off x="8065008" y="39319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hip 6"/>
          <p:cNvSpPr/>
          <p:nvPr/>
        </p:nvSpPr>
        <p:spPr>
          <a:xfrm>
            <a:off x="8526780" y="37261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6 · Health score</a:t>
            </a:r>
          </a:p>
        </p:txBody>
      </p:sp>
      <p:sp>
        <p:nvSpPr>
          <p:cNvPr id="23" name="Card text 6"/>
          <p:cNvSpPr txBox="1"/>
          <p:nvPr/>
        </p:nvSpPr>
        <p:spPr>
          <a:xfrm>
            <a:off x="8156448" y="41833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The user sees </a:t>
            </a:r>
            <a:r>
              <a:rPr sz="1400" b="1">
                <a:solidFill>
                  <a:srgbClr val="000000"/>
                </a:solidFill>
                <a:latin typeface="Arial"/>
              </a:rPr>
              <a:t>one score from 0 to 100</a:t>
            </a:r>
            <a:r>
              <a:rPr sz="1400" b="0">
                <a:solidFill>
                  <a:srgbClr val="333333"/>
                </a:solidFill>
                <a:latin typeface="Arial"/>
              </a:rPr>
              <a:t> with a </a:t>
            </a:r>
            <a:r>
              <a:rPr sz="1400" b="1">
                <a:solidFill>
                  <a:srgbClr val="000000"/>
                </a:solidFill>
                <a:latin typeface="Arial"/>
              </a:rPr>
              <a:t>plain-language verdict</a:t>
            </a:r>
            <a:r>
              <a:rPr sz="1400" b="0">
                <a:solidFill>
                  <a:srgbClr val="333333"/>
                </a:solidFill>
                <a:latin typeface="Arial"/>
              </a:rPr>
              <a:t>: Healthy, Degrading, Critical or Unknown.</a:t>
            </a:r>
          </a:p>
        </p:txBody>
      </p:sp>
      <p:sp>
        <p:nvSpPr>
          <p:cNvPr id="24" name="Key takeaway"/>
          <p:cNvSpPr txBox="1"/>
          <p:nvPr/>
        </p:nvSpPr>
        <p:spPr>
          <a:xfrm>
            <a:off x="457200" y="5760720"/>
            <a:ext cx="11274552" cy="411480"/>
          </a:xfrm>
          <a:prstGeom prst="rect">
            <a:avLst/>
          </a:prstGeom>
          <a:noFill/>
        </p:spPr>
        <p:txBody>
          <a:bodyPr wrap="square" lIns="45720" rIns="45720" tIns="18288" bIns="18288" anchor="ctr">
            <a:spAutoFit/>
          </a:bodyPr>
          <a:lstStyle/>
          <a:p>
            <a:pPr algn="ctr"/>
            <a:r>
              <a:rPr sz="1300" b="1">
                <a:solidFill>
                  <a:srgbClr val="D0101A"/>
                </a:solidFill>
                <a:latin typeface="Arial"/>
              </a:rPr>
              <a:t>Honest by design:</a:t>
            </a:r>
            <a:r>
              <a:rPr sz="1300" b="0">
                <a:solidFill>
                  <a:srgbClr val="000000"/>
                </a:solidFill>
                <a:latin typeface="Arial"/>
              </a:rPr>
              <a:t> a score is shown only when the evidence is confident, and every result is saved to check and retrain the models.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tion label"/>
          <p:cNvSpPr txBox="1"/>
          <p:nvPr/>
        </p:nvSpPr>
        <p:spPr>
          <a:xfrm>
            <a:off x="457200" y="201168"/>
            <a:ext cx="8229600" cy="365760"/>
          </a:xfrm>
          <a:prstGeom prst="rect">
            <a:avLst/>
          </a:prstGeom>
          <a:noFill/>
        </p:spPr>
        <p:txBody>
          <a:bodyPr wrap="square" lIns="45720" rIns="45720" tIns="18288" bIns="18288" anchor="ctr">
            <a:spAutoFit/>
          </a:bodyPr>
          <a:lstStyle/>
          <a:p>
            <a:pPr algn="l"/>
            <a:r>
              <a:rPr sz="1400" b="1" spc="200">
                <a:solidFill>
                  <a:srgbClr val="D0101A"/>
                </a:solidFill>
                <a:latin typeface="Arial"/>
              </a:rPr>
              <a:t>04. Design: Physical Architecture</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itle"/>
          <p:cNvSpPr txBox="1"/>
          <p:nvPr/>
        </p:nvSpPr>
        <p:spPr>
          <a:xfrm>
            <a:off x="457200" y="749808"/>
            <a:ext cx="11274552" cy="685800"/>
          </a:xfrm>
          <a:prstGeom prst="rect">
            <a:avLst/>
          </a:prstGeom>
          <a:noFill/>
        </p:spPr>
        <p:txBody>
          <a:bodyPr wrap="square" lIns="45720" rIns="45720" tIns="18288" bIns="18288" anchor="ctr">
            <a:spAutoFit/>
          </a:bodyPr>
          <a:lstStyle/>
          <a:p>
            <a:pPr algn="ctr"/>
            <a:r>
              <a:rPr sz="2600" b="0">
                <a:solidFill>
                  <a:srgbClr val="0A1045"/>
                </a:solidFill>
                <a:latin typeface="Arial Black"/>
              </a:rPr>
              <a:t>Azure AKS: Key Concepts</a:t>
            </a:r>
          </a:p>
        </p:txBody>
      </p:sp>
      <p:sp>
        <p:nvSpPr>
          <p:cNvPr id="5" name="Page number"/>
          <p:cNvSpPr txBox="1"/>
          <p:nvPr/>
        </p:nvSpPr>
        <p:spPr>
          <a:xfrm>
            <a:off x="11247120" y="6446520"/>
            <a:ext cx="640080" cy="274320"/>
          </a:xfrm>
          <a:prstGeom prst="rect">
            <a:avLst/>
          </a:prstGeom>
          <a:noFill/>
        </p:spPr>
        <p:txBody>
          <a:bodyPr wrap="square" lIns="45720" rIns="45720" tIns="18288" bIns="18288" anchor="ctr">
            <a:spAutoFit/>
          </a:bodyPr>
          <a:lstStyle/>
          <a:p>
            <a:pPr algn="r"/>
            <a:r>
              <a:rPr sz="1200" b="0">
                <a:solidFill>
                  <a:srgbClr val="000000"/>
                </a:solidFill>
                <a:latin typeface="Arial"/>
              </a:rPr>
              <a:t>25</a:t>
            </a:r>
          </a:p>
        </p:txBody>
      </p:sp>
      <p:sp>
        <p:nvSpPr>
          <p:cNvPr id="6" name="Card 1"/>
          <p:cNvSpPr/>
          <p:nvPr/>
        </p:nvSpPr>
        <p:spPr>
          <a:xfrm>
            <a:off x="457200" y="1760220"/>
            <a:ext cx="2715768"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hip 1"/>
          <p:cNvSpPr/>
          <p:nvPr/>
        </p:nvSpPr>
        <p:spPr>
          <a:xfrm>
            <a:off x="672084" y="1554480"/>
            <a:ext cx="22860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Kubernetes (AKS)</a:t>
            </a:r>
          </a:p>
        </p:txBody>
      </p:sp>
      <p:sp>
        <p:nvSpPr>
          <p:cNvPr id="8" name="Card text 1"/>
          <p:cNvSpPr txBox="1"/>
          <p:nvPr/>
        </p:nvSpPr>
        <p:spPr>
          <a:xfrm>
            <a:off x="548640" y="2011680"/>
            <a:ext cx="2532888" cy="1348740"/>
          </a:xfrm>
          <a:prstGeom prst="rect">
            <a:avLst/>
          </a:prstGeom>
          <a:noFill/>
        </p:spPr>
        <p:txBody>
          <a:bodyPr wrap="square" lIns="45720" rIns="45720" tIns="18288" bIns="18288" anchor="ctr">
            <a:spAutoFit/>
          </a:bodyPr>
          <a:lstStyle/>
          <a:p>
            <a:pPr algn="l"/>
            <a:r>
              <a:rPr sz="1300" b="0">
                <a:solidFill>
                  <a:srgbClr val="333333"/>
                </a:solidFill>
                <a:latin typeface="Arial"/>
              </a:rPr>
              <a:t>Runs our containers across </a:t>
            </a:r>
            <a:r>
              <a:rPr sz="1300" b="1">
                <a:solidFill>
                  <a:srgbClr val="000000"/>
                </a:solidFill>
                <a:latin typeface="Arial"/>
              </a:rPr>
              <a:t>several machines</a:t>
            </a:r>
            <a:r>
              <a:rPr sz="1300" b="0">
                <a:solidFill>
                  <a:srgbClr val="333333"/>
                </a:solidFill>
                <a:latin typeface="Arial"/>
              </a:rPr>
              <a:t>. A crashed service is </a:t>
            </a:r>
            <a:r>
              <a:rPr sz="1300" b="1">
                <a:solidFill>
                  <a:srgbClr val="000000"/>
                </a:solidFill>
                <a:latin typeface="Arial"/>
              </a:rPr>
              <a:t>restarted automatically</a:t>
            </a:r>
            <a:r>
              <a:rPr sz="1300" b="0">
                <a:solidFill>
                  <a:srgbClr val="333333"/>
                </a:solidFill>
                <a:latin typeface="Arial"/>
              </a:rPr>
              <a:t>, and capacity </a:t>
            </a:r>
            <a:r>
              <a:rPr sz="1300" b="1">
                <a:solidFill>
                  <a:srgbClr val="000000"/>
                </a:solidFill>
                <a:latin typeface="Arial"/>
              </a:rPr>
              <a:t>grows with traffic</a:t>
            </a:r>
            <a:r>
              <a:rPr sz="1300" b="0">
                <a:solidFill>
                  <a:srgbClr val="333333"/>
                </a:solidFill>
                <a:latin typeface="Arial"/>
              </a:rPr>
              <a:t>.</a:t>
            </a:r>
          </a:p>
        </p:txBody>
      </p:sp>
      <p:sp>
        <p:nvSpPr>
          <p:cNvPr id="9" name="Card 2"/>
          <p:cNvSpPr/>
          <p:nvPr/>
        </p:nvSpPr>
        <p:spPr>
          <a:xfrm>
            <a:off x="3310128" y="1760220"/>
            <a:ext cx="2715768"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ip 2"/>
          <p:cNvSpPr/>
          <p:nvPr/>
        </p:nvSpPr>
        <p:spPr>
          <a:xfrm>
            <a:off x="3525012" y="1554480"/>
            <a:ext cx="22860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Node pools</a:t>
            </a:r>
          </a:p>
        </p:txBody>
      </p:sp>
      <p:sp>
        <p:nvSpPr>
          <p:cNvPr id="11" name="Card text 2"/>
          <p:cNvSpPr txBox="1"/>
          <p:nvPr/>
        </p:nvSpPr>
        <p:spPr>
          <a:xfrm>
            <a:off x="3401568" y="2011680"/>
            <a:ext cx="2532888" cy="1348740"/>
          </a:xfrm>
          <a:prstGeom prst="rect">
            <a:avLst/>
          </a:prstGeom>
          <a:noFill/>
        </p:spPr>
        <p:txBody>
          <a:bodyPr wrap="square" lIns="45720" rIns="45720" tIns="18288" bIns="18288" anchor="ctr">
            <a:spAutoFit/>
          </a:bodyPr>
          <a:lstStyle/>
          <a:p>
            <a:pPr algn="l"/>
            <a:r>
              <a:rPr sz="1300" b="0">
                <a:solidFill>
                  <a:srgbClr val="333333"/>
                </a:solidFill>
                <a:latin typeface="Arial"/>
              </a:rPr>
              <a:t>Two groups of machines: one for </a:t>
            </a:r>
            <a:r>
              <a:rPr sz="1300" b="1">
                <a:solidFill>
                  <a:srgbClr val="000000"/>
                </a:solidFill>
                <a:latin typeface="Arial"/>
              </a:rPr>
              <a:t>Kubernetes itself</a:t>
            </a:r>
            <a:r>
              <a:rPr sz="1300" b="0">
                <a:solidFill>
                  <a:srgbClr val="333333"/>
                </a:solidFill>
                <a:latin typeface="Arial"/>
              </a:rPr>
              <a:t>, one for </a:t>
            </a:r>
            <a:r>
              <a:rPr sz="1300" b="1">
                <a:solidFill>
                  <a:srgbClr val="000000"/>
                </a:solidFill>
                <a:latin typeface="Arial"/>
              </a:rPr>
              <a:t>our app</a:t>
            </a:r>
            <a:r>
              <a:rPr sz="1300" b="0">
                <a:solidFill>
                  <a:srgbClr val="333333"/>
                </a:solidFill>
                <a:latin typeface="Arial"/>
              </a:rPr>
              <a:t>, which grows from </a:t>
            </a:r>
            <a:r>
              <a:rPr sz="1300" b="1">
                <a:solidFill>
                  <a:srgbClr val="000000"/>
                </a:solidFill>
                <a:latin typeface="Arial"/>
              </a:rPr>
              <a:t>2 to 4 machines</a:t>
            </a:r>
            <a:r>
              <a:rPr sz="1300" b="0">
                <a:solidFill>
                  <a:srgbClr val="333333"/>
                </a:solidFill>
                <a:latin typeface="Arial"/>
              </a:rPr>
              <a:t> with demand.</a:t>
            </a:r>
          </a:p>
        </p:txBody>
      </p:sp>
      <p:sp>
        <p:nvSpPr>
          <p:cNvPr id="12" name="Card 3"/>
          <p:cNvSpPr/>
          <p:nvPr/>
        </p:nvSpPr>
        <p:spPr>
          <a:xfrm>
            <a:off x="6163056" y="1760220"/>
            <a:ext cx="2715768"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Chip 3"/>
          <p:cNvSpPr/>
          <p:nvPr/>
        </p:nvSpPr>
        <p:spPr>
          <a:xfrm>
            <a:off x="6377940" y="1554480"/>
            <a:ext cx="22860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Staging &amp; production</a:t>
            </a:r>
          </a:p>
        </p:txBody>
      </p:sp>
      <p:sp>
        <p:nvSpPr>
          <p:cNvPr id="14" name="Card text 3"/>
          <p:cNvSpPr txBox="1"/>
          <p:nvPr/>
        </p:nvSpPr>
        <p:spPr>
          <a:xfrm>
            <a:off x="6254496" y="2011680"/>
            <a:ext cx="2532888" cy="1348740"/>
          </a:xfrm>
          <a:prstGeom prst="rect">
            <a:avLst/>
          </a:prstGeom>
          <a:noFill/>
        </p:spPr>
        <p:txBody>
          <a:bodyPr wrap="square" lIns="45720" rIns="45720" tIns="18288" bIns="18288" anchor="ctr">
            <a:spAutoFit/>
          </a:bodyPr>
          <a:lstStyle/>
          <a:p>
            <a:pPr algn="l"/>
            <a:r>
              <a:rPr sz="1300" b="0">
                <a:solidFill>
                  <a:srgbClr val="333333"/>
                </a:solidFill>
                <a:latin typeface="Arial"/>
              </a:rPr>
              <a:t>Two identical copies of the app: </a:t>
            </a:r>
            <a:r>
              <a:rPr sz="1300" b="1">
                <a:solidFill>
                  <a:srgbClr val="000000"/>
                </a:solidFill>
                <a:latin typeface="Arial"/>
              </a:rPr>
              <a:t>staging</a:t>
            </a:r>
            <a:r>
              <a:rPr sz="1300" b="0">
                <a:solidFill>
                  <a:srgbClr val="333333"/>
                </a:solidFill>
                <a:latin typeface="Arial"/>
              </a:rPr>
              <a:t> to test new versions, </a:t>
            </a:r>
            <a:r>
              <a:rPr sz="1300" b="1">
                <a:solidFill>
                  <a:srgbClr val="000000"/>
                </a:solidFill>
                <a:latin typeface="Arial"/>
              </a:rPr>
              <a:t>production</a:t>
            </a:r>
            <a:r>
              <a:rPr sz="1300" b="0">
                <a:solidFill>
                  <a:srgbClr val="333333"/>
                </a:solidFill>
                <a:latin typeface="Arial"/>
              </a:rPr>
              <a:t> for real users.</a:t>
            </a:r>
          </a:p>
        </p:txBody>
      </p:sp>
      <p:sp>
        <p:nvSpPr>
          <p:cNvPr id="15" name="Card 4"/>
          <p:cNvSpPr/>
          <p:nvPr/>
        </p:nvSpPr>
        <p:spPr>
          <a:xfrm>
            <a:off x="9015984" y="1760220"/>
            <a:ext cx="2715768"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hip 4"/>
          <p:cNvSpPr/>
          <p:nvPr/>
        </p:nvSpPr>
        <p:spPr>
          <a:xfrm>
            <a:off x="9230868" y="1554480"/>
            <a:ext cx="22860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Network security</a:t>
            </a:r>
          </a:p>
        </p:txBody>
      </p:sp>
      <p:sp>
        <p:nvSpPr>
          <p:cNvPr id="17" name="Card text 4"/>
          <p:cNvSpPr txBox="1"/>
          <p:nvPr/>
        </p:nvSpPr>
        <p:spPr>
          <a:xfrm>
            <a:off x="9107424" y="2011680"/>
            <a:ext cx="2532888" cy="1348740"/>
          </a:xfrm>
          <a:prstGeom prst="rect">
            <a:avLst/>
          </a:prstGeom>
          <a:noFill/>
        </p:spPr>
        <p:txBody>
          <a:bodyPr wrap="square" lIns="45720" rIns="45720" tIns="18288" bIns="18288" anchor="ctr">
            <a:spAutoFit/>
          </a:bodyPr>
          <a:lstStyle/>
          <a:p>
            <a:pPr algn="l"/>
            <a:r>
              <a:rPr sz="1300" b="0">
                <a:solidFill>
                  <a:srgbClr val="333333"/>
                </a:solidFill>
                <a:latin typeface="Arial"/>
              </a:rPr>
              <a:t>Everything sits on a </a:t>
            </a:r>
            <a:r>
              <a:rPr sz="1300" b="1">
                <a:solidFill>
                  <a:srgbClr val="000000"/>
                </a:solidFill>
                <a:latin typeface="Arial"/>
              </a:rPr>
              <a:t>private network</a:t>
            </a:r>
            <a:r>
              <a:rPr sz="1300" b="0">
                <a:solidFill>
                  <a:srgbClr val="333333"/>
                </a:solidFill>
                <a:latin typeface="Arial"/>
              </a:rPr>
              <a:t>. </a:t>
            </a:r>
            <a:r>
              <a:rPr sz="1300" b="1">
                <a:solidFill>
                  <a:srgbClr val="000000"/>
                </a:solidFill>
                <a:latin typeface="Arial"/>
              </a:rPr>
              <a:t>Firewall rules</a:t>
            </a:r>
            <a:r>
              <a:rPr sz="1300" b="0">
                <a:solidFill>
                  <a:srgbClr val="333333"/>
                </a:solidFill>
                <a:latin typeface="Arial"/>
              </a:rPr>
              <a:t> limit who talks to whom, and </a:t>
            </a:r>
            <a:r>
              <a:rPr sz="1300" b="1">
                <a:solidFill>
                  <a:srgbClr val="000000"/>
                </a:solidFill>
                <a:latin typeface="Arial"/>
              </a:rPr>
              <a:t>no passwords</a:t>
            </a:r>
            <a:r>
              <a:rPr sz="1300" b="0">
                <a:solidFill>
                  <a:srgbClr val="333333"/>
                </a:solidFill>
                <a:latin typeface="Arial"/>
              </a:rPr>
              <a:t> are stored to reach Azure.</a:t>
            </a:r>
          </a:p>
        </p:txBody>
      </p:sp>
      <p:sp>
        <p:nvSpPr>
          <p:cNvPr id="18" name="Card 5"/>
          <p:cNvSpPr/>
          <p:nvPr/>
        </p:nvSpPr>
        <p:spPr>
          <a:xfrm>
            <a:off x="457200" y="3931920"/>
            <a:ext cx="2715768"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hip 5"/>
          <p:cNvSpPr/>
          <p:nvPr/>
        </p:nvSpPr>
        <p:spPr>
          <a:xfrm>
            <a:off x="672084" y="3726180"/>
            <a:ext cx="22860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Managed by Azure</a:t>
            </a:r>
          </a:p>
        </p:txBody>
      </p:sp>
      <p:sp>
        <p:nvSpPr>
          <p:cNvPr id="20" name="Card text 5"/>
          <p:cNvSpPr txBox="1"/>
          <p:nvPr/>
        </p:nvSpPr>
        <p:spPr>
          <a:xfrm>
            <a:off x="548640" y="4183380"/>
            <a:ext cx="2532888" cy="1348740"/>
          </a:xfrm>
          <a:prstGeom prst="rect">
            <a:avLst/>
          </a:prstGeom>
          <a:noFill/>
        </p:spPr>
        <p:txBody>
          <a:bodyPr wrap="square" lIns="45720" rIns="45720" tIns="18288" bIns="18288" anchor="ctr">
            <a:spAutoFit/>
          </a:bodyPr>
          <a:lstStyle/>
          <a:p>
            <a:pPr algn="l"/>
            <a:r>
              <a:rPr sz="1300" b="0">
                <a:solidFill>
                  <a:srgbClr val="333333"/>
                </a:solidFill>
                <a:latin typeface="Arial"/>
              </a:rPr>
              <a:t>Azure runs the </a:t>
            </a:r>
            <a:r>
              <a:rPr sz="1300" b="1">
                <a:solidFill>
                  <a:srgbClr val="000000"/>
                </a:solidFill>
                <a:latin typeface="Arial"/>
              </a:rPr>
              <a:t>database</a:t>
            </a:r>
            <a:r>
              <a:rPr sz="1300" b="0">
                <a:solidFill>
                  <a:srgbClr val="333333"/>
                </a:solidFill>
                <a:latin typeface="Arial"/>
              </a:rPr>
              <a:t> for us (backups, updates) and stores our </a:t>
            </a:r>
            <a:r>
              <a:rPr sz="1300" b="1">
                <a:solidFill>
                  <a:srgbClr val="000000"/>
                </a:solidFill>
                <a:latin typeface="Arial"/>
              </a:rPr>
              <a:t>container images</a:t>
            </a:r>
            <a:r>
              <a:rPr sz="1300" b="0">
                <a:solidFill>
                  <a:srgbClr val="333333"/>
                </a:solidFill>
                <a:latin typeface="Arial"/>
              </a:rPr>
              <a:t>. Files are kept on a </a:t>
            </a:r>
            <a:r>
              <a:rPr sz="1300" b="1">
                <a:solidFill>
                  <a:srgbClr val="000000"/>
                </a:solidFill>
                <a:latin typeface="Arial"/>
              </a:rPr>
              <a:t>permanent disk</a:t>
            </a:r>
            <a:r>
              <a:rPr sz="1300" b="0">
                <a:solidFill>
                  <a:srgbClr val="333333"/>
                </a:solidFill>
                <a:latin typeface="Arial"/>
              </a:rPr>
              <a:t>.</a:t>
            </a:r>
          </a:p>
        </p:txBody>
      </p:sp>
      <p:sp>
        <p:nvSpPr>
          <p:cNvPr id="21" name="Card 6"/>
          <p:cNvSpPr/>
          <p:nvPr/>
        </p:nvSpPr>
        <p:spPr>
          <a:xfrm>
            <a:off x="3310128" y="3931920"/>
            <a:ext cx="2715768"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hip 6"/>
          <p:cNvSpPr/>
          <p:nvPr/>
        </p:nvSpPr>
        <p:spPr>
          <a:xfrm>
            <a:off x="3525012" y="3726180"/>
            <a:ext cx="22860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Key Vault</a:t>
            </a:r>
          </a:p>
        </p:txBody>
      </p:sp>
      <p:sp>
        <p:nvSpPr>
          <p:cNvPr id="23" name="Card text 6"/>
          <p:cNvSpPr txBox="1"/>
          <p:nvPr/>
        </p:nvSpPr>
        <p:spPr>
          <a:xfrm>
            <a:off x="3401568" y="4183380"/>
            <a:ext cx="2532888" cy="1348740"/>
          </a:xfrm>
          <a:prstGeom prst="rect">
            <a:avLst/>
          </a:prstGeom>
          <a:noFill/>
        </p:spPr>
        <p:txBody>
          <a:bodyPr wrap="square" lIns="45720" rIns="45720" tIns="18288" bIns="18288" anchor="ctr">
            <a:spAutoFit/>
          </a:bodyPr>
          <a:lstStyle/>
          <a:p>
            <a:pPr algn="l"/>
            <a:r>
              <a:rPr sz="1300" b="0">
                <a:solidFill>
                  <a:srgbClr val="333333"/>
                </a:solidFill>
                <a:latin typeface="Arial"/>
              </a:rPr>
              <a:t>A </a:t>
            </a:r>
            <a:r>
              <a:rPr sz="1300" b="1">
                <a:solidFill>
                  <a:srgbClr val="000000"/>
                </a:solidFill>
                <a:latin typeface="Arial"/>
              </a:rPr>
              <a:t>safe for secrets</a:t>
            </a:r>
            <a:r>
              <a:rPr sz="1300" b="0">
                <a:solidFill>
                  <a:srgbClr val="333333"/>
                </a:solidFill>
                <a:latin typeface="Arial"/>
              </a:rPr>
              <a:t> (passwords, API keys). They are handed to the app </a:t>
            </a:r>
            <a:r>
              <a:rPr sz="1300" b="1">
                <a:solidFill>
                  <a:srgbClr val="000000"/>
                </a:solidFill>
                <a:latin typeface="Arial"/>
              </a:rPr>
              <a:t>when it starts</a:t>
            </a:r>
            <a:r>
              <a:rPr sz="1300" b="0">
                <a:solidFill>
                  <a:srgbClr val="333333"/>
                </a:solidFill>
                <a:latin typeface="Arial"/>
              </a:rPr>
              <a:t>, never written in the code.</a:t>
            </a:r>
          </a:p>
        </p:txBody>
      </p:sp>
      <p:sp>
        <p:nvSpPr>
          <p:cNvPr id="24" name="Card 7"/>
          <p:cNvSpPr/>
          <p:nvPr/>
        </p:nvSpPr>
        <p:spPr>
          <a:xfrm>
            <a:off x="6163056" y="3931920"/>
            <a:ext cx="2715768"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Chip 7"/>
          <p:cNvSpPr/>
          <p:nvPr/>
        </p:nvSpPr>
        <p:spPr>
          <a:xfrm>
            <a:off x="6377940" y="3726180"/>
            <a:ext cx="22860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ngrok tunnel</a:t>
            </a:r>
          </a:p>
        </p:txBody>
      </p:sp>
      <p:sp>
        <p:nvSpPr>
          <p:cNvPr id="26" name="Card text 7"/>
          <p:cNvSpPr txBox="1"/>
          <p:nvPr/>
        </p:nvSpPr>
        <p:spPr>
          <a:xfrm>
            <a:off x="6254496" y="4183380"/>
            <a:ext cx="2532888" cy="1348740"/>
          </a:xfrm>
          <a:prstGeom prst="rect">
            <a:avLst/>
          </a:prstGeom>
          <a:noFill/>
        </p:spPr>
        <p:txBody>
          <a:bodyPr wrap="square" lIns="45720" rIns="45720" tIns="18288" bIns="18288" anchor="ctr">
            <a:spAutoFit/>
          </a:bodyPr>
          <a:lstStyle/>
          <a:p>
            <a:pPr algn="l"/>
            <a:r>
              <a:rPr sz="1300" b="0">
                <a:solidFill>
                  <a:srgbClr val="333333"/>
                </a:solidFill>
                <a:latin typeface="Arial"/>
              </a:rPr>
              <a:t>Azure's usual public entrance is </a:t>
            </a:r>
            <a:r>
              <a:rPr sz="1300" b="1">
                <a:solidFill>
                  <a:srgbClr val="000000"/>
                </a:solidFill>
                <a:latin typeface="Arial"/>
              </a:rPr>
              <a:t>blocked on our account</a:t>
            </a:r>
            <a:r>
              <a:rPr sz="1300" b="0">
                <a:solidFill>
                  <a:srgbClr val="333333"/>
                </a:solidFill>
                <a:latin typeface="Arial"/>
              </a:rPr>
              <a:t>, so a small service </a:t>
            </a:r>
            <a:r>
              <a:rPr sz="1300" b="1">
                <a:solidFill>
                  <a:srgbClr val="000000"/>
                </a:solidFill>
                <a:latin typeface="Arial"/>
              </a:rPr>
              <a:t>connects out</a:t>
            </a:r>
            <a:r>
              <a:rPr sz="1300" b="0">
                <a:solidFill>
                  <a:srgbClr val="333333"/>
                </a:solidFill>
                <a:latin typeface="Arial"/>
              </a:rPr>
              <a:t> to ngrok, which forwards visitors in.</a:t>
            </a:r>
          </a:p>
        </p:txBody>
      </p:sp>
      <p:sp>
        <p:nvSpPr>
          <p:cNvPr id="27" name="Card 8"/>
          <p:cNvSpPr/>
          <p:nvPr/>
        </p:nvSpPr>
        <p:spPr>
          <a:xfrm>
            <a:off x="9015984" y="3931920"/>
            <a:ext cx="2715768"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Chip 8"/>
          <p:cNvSpPr/>
          <p:nvPr/>
        </p:nvSpPr>
        <p:spPr>
          <a:xfrm>
            <a:off x="9230868" y="3726180"/>
            <a:ext cx="22860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Automated delivery</a:t>
            </a:r>
          </a:p>
        </p:txBody>
      </p:sp>
      <p:sp>
        <p:nvSpPr>
          <p:cNvPr id="29" name="Card text 8"/>
          <p:cNvSpPr txBox="1"/>
          <p:nvPr/>
        </p:nvSpPr>
        <p:spPr>
          <a:xfrm>
            <a:off x="9107424" y="4183380"/>
            <a:ext cx="2532888" cy="1348740"/>
          </a:xfrm>
          <a:prstGeom prst="rect">
            <a:avLst/>
          </a:prstGeom>
          <a:noFill/>
        </p:spPr>
        <p:txBody>
          <a:bodyPr wrap="square" lIns="45720" rIns="45720" tIns="18288" bIns="18288" anchor="ctr">
            <a:spAutoFit/>
          </a:bodyPr>
          <a:lstStyle/>
          <a:p>
            <a:pPr algn="l"/>
            <a:r>
              <a:rPr sz="1300" b="0">
                <a:solidFill>
                  <a:srgbClr val="333333"/>
                </a:solidFill>
                <a:latin typeface="Arial"/>
              </a:rPr>
              <a:t>Every change is </a:t>
            </a:r>
            <a:r>
              <a:rPr sz="1300" b="1">
                <a:solidFill>
                  <a:srgbClr val="000000"/>
                </a:solidFill>
                <a:latin typeface="Arial"/>
              </a:rPr>
              <a:t>checked for security</a:t>
            </a:r>
            <a:r>
              <a:rPr sz="1300" b="0">
                <a:solidFill>
                  <a:srgbClr val="333333"/>
                </a:solidFill>
                <a:latin typeface="Arial"/>
              </a:rPr>
              <a:t>, then </a:t>
            </a:r>
            <a:r>
              <a:rPr sz="1300" b="1">
                <a:solidFill>
                  <a:srgbClr val="000000"/>
                </a:solidFill>
                <a:latin typeface="Arial"/>
              </a:rPr>
              <a:t>built and deployed</a:t>
            </a:r>
            <a:r>
              <a:rPr sz="1300" b="0">
                <a:solidFill>
                  <a:srgbClr val="333333"/>
                </a:solidFill>
                <a:latin typeface="Arial"/>
              </a:rPr>
              <a:t> automatically. The cloud setup is </a:t>
            </a:r>
            <a:r>
              <a:rPr sz="1300" b="1">
                <a:solidFill>
                  <a:srgbClr val="000000"/>
                </a:solidFill>
                <a:latin typeface="Arial"/>
              </a:rPr>
              <a:t>written as code</a:t>
            </a:r>
            <a:r>
              <a:rPr sz="1300" b="0">
                <a:solidFill>
                  <a:srgbClr val="333333"/>
                </a:solidFill>
                <a:latin typeface="Arial"/>
              </a:rPr>
              <a:t>, so it can be rebuilt anytime.</a:t>
            </a:r>
          </a:p>
        </p:txBody>
      </p:sp>
      <p:sp>
        <p:nvSpPr>
          <p:cNvPr id="30" name="Key takeaway"/>
          <p:cNvSpPr txBox="1"/>
          <p:nvPr/>
        </p:nvSpPr>
        <p:spPr>
          <a:xfrm>
            <a:off x="457200" y="5760720"/>
            <a:ext cx="11274552" cy="411480"/>
          </a:xfrm>
          <a:prstGeom prst="rect">
            <a:avLst/>
          </a:prstGeom>
          <a:noFill/>
        </p:spPr>
        <p:txBody>
          <a:bodyPr wrap="square" lIns="45720" rIns="45720" tIns="18288" bIns="18288" anchor="ctr">
            <a:spAutoFit/>
          </a:bodyPr>
          <a:lstStyle/>
          <a:p>
            <a:pPr algn="ctr"/>
            <a:r>
              <a:rPr sz="1300" b="1">
                <a:solidFill>
                  <a:srgbClr val="D0101A"/>
                </a:solidFill>
                <a:latin typeface="Arial"/>
              </a:rPr>
              <a:t>Versus Docker Compose:</a:t>
            </a:r>
            <a:r>
              <a:rPr sz="1300" b="0">
                <a:solidFill>
                  <a:srgbClr val="000000"/>
                </a:solidFill>
                <a:latin typeface="Arial"/>
              </a:rPr>
              <a:t> it repairs itself, grows with demand, keeps secrets in a vault, and can be rebuilt at any time.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tion label"/>
          <p:cNvSpPr txBox="1"/>
          <p:nvPr/>
        </p:nvSpPr>
        <p:spPr>
          <a:xfrm>
            <a:off x="457200" y="201168"/>
            <a:ext cx="8229600" cy="365760"/>
          </a:xfrm>
          <a:prstGeom prst="rect">
            <a:avLst/>
          </a:prstGeom>
          <a:noFill/>
        </p:spPr>
        <p:txBody>
          <a:bodyPr wrap="square" lIns="45720" rIns="45720" tIns="18288" bIns="18288" anchor="ctr">
            <a:spAutoFit/>
          </a:bodyPr>
          <a:lstStyle/>
          <a:p>
            <a:pPr algn="l"/>
            <a:r>
              <a:rPr sz="1400" b="1" spc="200">
                <a:solidFill>
                  <a:srgbClr val="D0101A"/>
                </a:solidFill>
                <a:latin typeface="Arial"/>
              </a:rPr>
              <a:t>04. Design: Physical Architecture</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itle"/>
          <p:cNvSpPr txBox="1"/>
          <p:nvPr/>
        </p:nvSpPr>
        <p:spPr>
          <a:xfrm>
            <a:off x="457200" y="749808"/>
            <a:ext cx="11274552" cy="685800"/>
          </a:xfrm>
          <a:prstGeom prst="rect">
            <a:avLst/>
          </a:prstGeom>
          <a:noFill/>
        </p:spPr>
        <p:txBody>
          <a:bodyPr wrap="square" lIns="45720" rIns="45720" tIns="18288" bIns="18288" anchor="ctr">
            <a:spAutoFit/>
          </a:bodyPr>
          <a:lstStyle/>
          <a:p>
            <a:pPr algn="ctr"/>
            <a:r>
              <a:rPr sz="2600" b="0">
                <a:solidFill>
                  <a:srgbClr val="0A1045"/>
                </a:solidFill>
                <a:latin typeface="Arial Black"/>
              </a:rPr>
              <a:t>Docker Compose Host: Key Concepts</a:t>
            </a:r>
          </a:p>
        </p:txBody>
      </p:sp>
      <p:sp>
        <p:nvSpPr>
          <p:cNvPr id="5" name="Page number"/>
          <p:cNvSpPr txBox="1"/>
          <p:nvPr/>
        </p:nvSpPr>
        <p:spPr>
          <a:xfrm>
            <a:off x="11247120" y="6446520"/>
            <a:ext cx="640080" cy="274320"/>
          </a:xfrm>
          <a:prstGeom prst="rect">
            <a:avLst/>
          </a:prstGeom>
          <a:noFill/>
        </p:spPr>
        <p:txBody>
          <a:bodyPr wrap="square" lIns="45720" rIns="45720" tIns="18288" bIns="18288" anchor="ctr">
            <a:spAutoFit/>
          </a:bodyPr>
          <a:lstStyle/>
          <a:p>
            <a:pPr algn="r"/>
            <a:r>
              <a:rPr sz="1200" b="0">
                <a:solidFill>
                  <a:srgbClr val="000000"/>
                </a:solidFill>
                <a:latin typeface="Arial"/>
              </a:rPr>
              <a:t>23</a:t>
            </a:r>
          </a:p>
        </p:txBody>
      </p:sp>
      <p:sp>
        <p:nvSpPr>
          <p:cNvPr id="6" name="Card 1"/>
          <p:cNvSpPr/>
          <p:nvPr/>
        </p:nvSpPr>
        <p:spPr>
          <a:xfrm>
            <a:off x="457200" y="17602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hip 1"/>
          <p:cNvSpPr/>
          <p:nvPr/>
        </p:nvSpPr>
        <p:spPr>
          <a:xfrm>
            <a:off x="918972" y="15544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Containers</a:t>
            </a:r>
          </a:p>
        </p:txBody>
      </p:sp>
      <p:sp>
        <p:nvSpPr>
          <p:cNvPr id="8" name="Card text 1"/>
          <p:cNvSpPr txBox="1"/>
          <p:nvPr/>
        </p:nvSpPr>
        <p:spPr>
          <a:xfrm>
            <a:off x="548640" y="20116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Each part of the app runs in its own </a:t>
            </a:r>
            <a:r>
              <a:rPr sz="1400" b="1">
                <a:solidFill>
                  <a:srgbClr val="000000"/>
                </a:solidFill>
                <a:latin typeface="Arial"/>
              </a:rPr>
              <a:t>container</a:t>
            </a:r>
            <a:r>
              <a:rPr sz="1400" b="0">
                <a:solidFill>
                  <a:srgbClr val="333333"/>
                </a:solidFill>
                <a:latin typeface="Arial"/>
              </a:rPr>
              <a:t>: a sealed box holding the code and everything it needs. </a:t>
            </a:r>
            <a:r>
              <a:rPr sz="1400" b="1">
                <a:solidFill>
                  <a:srgbClr val="000000"/>
                </a:solidFill>
                <a:latin typeface="Arial"/>
              </a:rPr>
              <a:t>Docker Compose</a:t>
            </a:r>
            <a:r>
              <a:rPr sz="1400" b="0">
                <a:solidFill>
                  <a:srgbClr val="333333"/>
                </a:solidFill>
                <a:latin typeface="Arial"/>
              </a:rPr>
              <a:t> starts all the boxes with one command.</a:t>
            </a:r>
          </a:p>
        </p:txBody>
      </p:sp>
      <p:sp>
        <p:nvSpPr>
          <p:cNvPr id="9" name="Card 2"/>
          <p:cNvSpPr/>
          <p:nvPr/>
        </p:nvSpPr>
        <p:spPr>
          <a:xfrm>
            <a:off x="4261104" y="17602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ip 2"/>
          <p:cNvSpPr/>
          <p:nvPr/>
        </p:nvSpPr>
        <p:spPr>
          <a:xfrm>
            <a:off x="4722876" y="15544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Caddy: the front door</a:t>
            </a:r>
          </a:p>
        </p:txBody>
      </p:sp>
      <p:sp>
        <p:nvSpPr>
          <p:cNvPr id="11" name="Card text 2"/>
          <p:cNvSpPr txBox="1"/>
          <p:nvPr/>
        </p:nvSpPr>
        <p:spPr>
          <a:xfrm>
            <a:off x="4352544" y="20116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The </a:t>
            </a:r>
            <a:r>
              <a:rPr sz="1400" b="1">
                <a:solidFill>
                  <a:srgbClr val="000000"/>
                </a:solidFill>
                <a:latin typeface="Arial"/>
              </a:rPr>
              <a:t>only door</a:t>
            </a:r>
            <a:r>
              <a:rPr sz="1400" b="0">
                <a:solidFill>
                  <a:srgbClr val="333333"/>
                </a:solidFill>
                <a:latin typeface="Arial"/>
              </a:rPr>
              <a:t> from the internet. It adds the </a:t>
            </a:r>
            <a:r>
              <a:rPr sz="1400" b="1">
                <a:solidFill>
                  <a:srgbClr val="000000"/>
                </a:solidFill>
                <a:latin typeface="Arial"/>
              </a:rPr>
              <a:t>HTTPS padlock</a:t>
            </a:r>
            <a:r>
              <a:rPr sz="1400" b="0">
                <a:solidFill>
                  <a:srgbClr val="333333"/>
                </a:solidFill>
                <a:latin typeface="Arial"/>
              </a:rPr>
              <a:t> and sends each request to the right place: pages, data or dashboards.</a:t>
            </a:r>
          </a:p>
        </p:txBody>
      </p:sp>
      <p:sp>
        <p:nvSpPr>
          <p:cNvPr id="12" name="Card 3"/>
          <p:cNvSpPr/>
          <p:nvPr/>
        </p:nvSpPr>
        <p:spPr>
          <a:xfrm>
            <a:off x="8065008" y="17602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Chip 3"/>
          <p:cNvSpPr/>
          <p:nvPr/>
        </p:nvSpPr>
        <p:spPr>
          <a:xfrm>
            <a:off x="8526780" y="15544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Private network</a:t>
            </a:r>
          </a:p>
        </p:txBody>
      </p:sp>
      <p:sp>
        <p:nvSpPr>
          <p:cNvPr id="14" name="Card text 3"/>
          <p:cNvSpPr txBox="1"/>
          <p:nvPr/>
        </p:nvSpPr>
        <p:spPr>
          <a:xfrm>
            <a:off x="8156448" y="20116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The containers share a </a:t>
            </a:r>
            <a:r>
              <a:rPr sz="1400" b="1">
                <a:solidFill>
                  <a:srgbClr val="000000"/>
                </a:solidFill>
                <a:latin typeface="Arial"/>
              </a:rPr>
              <a:t>private network</a:t>
            </a:r>
            <a:r>
              <a:rPr sz="1400" b="0">
                <a:solidFill>
                  <a:srgbClr val="333333"/>
                </a:solidFill>
                <a:latin typeface="Arial"/>
              </a:rPr>
              <a:t> and find each other </a:t>
            </a:r>
            <a:r>
              <a:rPr sz="1400" b="1">
                <a:solidFill>
                  <a:srgbClr val="000000"/>
                </a:solidFill>
                <a:latin typeface="Arial"/>
              </a:rPr>
              <a:t>by name</a:t>
            </a:r>
            <a:r>
              <a:rPr sz="1400" b="0">
                <a:solidFill>
                  <a:srgbClr val="333333"/>
                </a:solidFill>
                <a:latin typeface="Arial"/>
              </a:rPr>
              <a:t> (the backend simply calls "ml-service"), so nothing depends on fixed addresses.</a:t>
            </a:r>
          </a:p>
        </p:txBody>
      </p:sp>
      <p:sp>
        <p:nvSpPr>
          <p:cNvPr id="15" name="Card 4"/>
          <p:cNvSpPr/>
          <p:nvPr/>
        </p:nvSpPr>
        <p:spPr>
          <a:xfrm>
            <a:off x="457200" y="39319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hip 4"/>
          <p:cNvSpPr/>
          <p:nvPr/>
        </p:nvSpPr>
        <p:spPr>
          <a:xfrm>
            <a:off x="918972" y="37261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Ports &amp; storage</a:t>
            </a:r>
          </a:p>
        </p:txBody>
      </p:sp>
      <p:sp>
        <p:nvSpPr>
          <p:cNvPr id="17" name="Card text 4"/>
          <p:cNvSpPr txBox="1"/>
          <p:nvPr/>
        </p:nvSpPr>
        <p:spPr>
          <a:xfrm>
            <a:off x="548640" y="41833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In development, each service is reachable on its own </a:t>
            </a:r>
            <a:r>
              <a:rPr sz="1400" b="1">
                <a:solidFill>
                  <a:srgbClr val="000000"/>
                </a:solidFill>
                <a:latin typeface="Arial"/>
              </a:rPr>
              <a:t>port</a:t>
            </a:r>
            <a:r>
              <a:rPr sz="1400" b="0">
                <a:solidFill>
                  <a:srgbClr val="333333"/>
                </a:solidFill>
                <a:latin typeface="Arial"/>
              </a:rPr>
              <a:t> for easy debugging. Database data is </a:t>
            </a:r>
            <a:r>
              <a:rPr sz="1400" b="1">
                <a:solidFill>
                  <a:srgbClr val="000000"/>
                </a:solidFill>
                <a:latin typeface="Arial"/>
              </a:rPr>
              <a:t>saved on disk</a:t>
            </a:r>
            <a:r>
              <a:rPr sz="1400" b="0">
                <a:solidFill>
                  <a:srgbClr val="333333"/>
                </a:solidFill>
                <a:latin typeface="Arial"/>
              </a:rPr>
              <a:t> and survives restarts; the AI models are </a:t>
            </a:r>
            <a:r>
              <a:rPr sz="1400" b="1">
                <a:solidFill>
                  <a:srgbClr val="000000"/>
                </a:solidFill>
                <a:latin typeface="Arial"/>
              </a:rPr>
              <a:t>locked against changes</a:t>
            </a:r>
            <a:r>
              <a:rPr sz="1400" b="0">
                <a:solidFill>
                  <a:srgbClr val="333333"/>
                </a:solidFill>
                <a:latin typeface="Arial"/>
              </a:rPr>
              <a:t>.</a:t>
            </a:r>
          </a:p>
        </p:txBody>
      </p:sp>
      <p:sp>
        <p:nvSpPr>
          <p:cNvPr id="18" name="Card 5"/>
          <p:cNvSpPr/>
          <p:nvPr/>
        </p:nvSpPr>
        <p:spPr>
          <a:xfrm>
            <a:off x="4261104" y="39319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hip 5"/>
          <p:cNvSpPr/>
          <p:nvPr/>
        </p:nvSpPr>
        <p:spPr>
          <a:xfrm>
            <a:off x="4722876" y="37261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Monitoring</a:t>
            </a:r>
          </a:p>
        </p:txBody>
      </p:sp>
      <p:sp>
        <p:nvSpPr>
          <p:cNvPr id="20" name="Card text 5"/>
          <p:cNvSpPr txBox="1"/>
          <p:nvPr/>
        </p:nvSpPr>
        <p:spPr>
          <a:xfrm>
            <a:off x="4352544" y="41833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A separate set of tools </a:t>
            </a:r>
            <a:r>
              <a:rPr sz="1400" b="1">
                <a:solidFill>
                  <a:srgbClr val="000000"/>
                </a:solidFill>
                <a:latin typeface="Arial"/>
              </a:rPr>
              <a:t>watches the app</a:t>
            </a:r>
            <a:r>
              <a:rPr sz="1400" b="0">
                <a:solidFill>
                  <a:srgbClr val="333333"/>
                </a:solidFill>
                <a:latin typeface="Arial"/>
              </a:rPr>
              <a:t>: it collects performance numbers, shows them on </a:t>
            </a:r>
            <a:r>
              <a:rPr sz="1400" b="1">
                <a:solidFill>
                  <a:srgbClr val="000000"/>
                </a:solidFill>
                <a:latin typeface="Arial"/>
              </a:rPr>
              <a:t>dashboards</a:t>
            </a:r>
            <a:r>
              <a:rPr sz="1400" b="0">
                <a:solidFill>
                  <a:srgbClr val="333333"/>
                </a:solidFill>
                <a:latin typeface="Arial"/>
              </a:rPr>
              <a:t>, and </a:t>
            </a:r>
            <a:r>
              <a:rPr sz="1400" b="1">
                <a:solidFill>
                  <a:srgbClr val="000000"/>
                </a:solidFill>
                <a:latin typeface="Arial"/>
              </a:rPr>
              <a:t>scans the containers</a:t>
            </a:r>
            <a:r>
              <a:rPr sz="1400" b="0">
                <a:solidFill>
                  <a:srgbClr val="333333"/>
                </a:solidFill>
                <a:latin typeface="Arial"/>
              </a:rPr>
              <a:t> for known security flaws.</a:t>
            </a:r>
          </a:p>
        </p:txBody>
      </p:sp>
      <p:sp>
        <p:nvSpPr>
          <p:cNvPr id="21" name="Card 6"/>
          <p:cNvSpPr/>
          <p:nvPr/>
        </p:nvSpPr>
        <p:spPr>
          <a:xfrm>
            <a:off x="8065008" y="39319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hip 6"/>
          <p:cNvSpPr/>
          <p:nvPr/>
        </p:nvSpPr>
        <p:spPr>
          <a:xfrm>
            <a:off x="8526780" y="37261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Tools on demand</a:t>
            </a:r>
          </a:p>
        </p:txBody>
      </p:sp>
      <p:sp>
        <p:nvSpPr>
          <p:cNvPr id="23" name="Card text 6"/>
          <p:cNvSpPr txBox="1"/>
          <p:nvPr/>
        </p:nvSpPr>
        <p:spPr>
          <a:xfrm>
            <a:off x="8156448" y="41833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Some tools run </a:t>
            </a:r>
            <a:r>
              <a:rPr sz="1400" b="1">
                <a:solidFill>
                  <a:srgbClr val="000000"/>
                </a:solidFill>
                <a:latin typeface="Arial"/>
              </a:rPr>
              <a:t>only when needed</a:t>
            </a:r>
            <a:r>
              <a:rPr sz="1400" b="0">
                <a:solidFill>
                  <a:srgbClr val="333333"/>
                </a:solidFill>
                <a:latin typeface="Arial"/>
              </a:rPr>
              <a:t>: a </a:t>
            </a:r>
            <a:r>
              <a:rPr sz="1400" b="1">
                <a:solidFill>
                  <a:srgbClr val="000000"/>
                </a:solidFill>
                <a:latin typeface="Arial"/>
              </a:rPr>
              <a:t>code-quality checker</a:t>
            </a:r>
            <a:r>
              <a:rPr sz="1400" b="0">
                <a:solidFill>
                  <a:srgbClr val="333333"/>
                </a:solidFill>
                <a:latin typeface="Arial"/>
              </a:rPr>
              <a:t> (SonarQube) and the </a:t>
            </a:r>
            <a:r>
              <a:rPr sz="1400" b="1">
                <a:solidFill>
                  <a:srgbClr val="000000"/>
                </a:solidFill>
                <a:latin typeface="Arial"/>
              </a:rPr>
              <a:t>notebooks</a:t>
            </a:r>
            <a:r>
              <a:rPr sz="1400" b="0">
                <a:solidFill>
                  <a:srgbClr val="333333"/>
                </a:solidFill>
                <a:latin typeface="Arial"/>
              </a:rPr>
              <a:t> where the AI models were researched (Jupyter).</a:t>
            </a:r>
          </a:p>
        </p:txBody>
      </p:sp>
      <p:sp>
        <p:nvSpPr>
          <p:cNvPr id="24" name="Key takeaway"/>
          <p:cNvSpPr txBox="1"/>
          <p:nvPr/>
        </p:nvSpPr>
        <p:spPr>
          <a:xfrm>
            <a:off x="457200" y="5760720"/>
            <a:ext cx="11274552" cy="411480"/>
          </a:xfrm>
          <a:prstGeom prst="rect">
            <a:avLst/>
          </a:prstGeom>
          <a:noFill/>
        </p:spPr>
        <p:txBody>
          <a:bodyPr wrap="square" lIns="45720" rIns="45720" tIns="18288" bIns="18288" anchor="ctr">
            <a:spAutoFit/>
          </a:bodyPr>
          <a:lstStyle/>
          <a:p>
            <a:pPr algn="ctr"/>
            <a:r>
              <a:rPr sz="1300" b="1">
                <a:solidFill>
                  <a:srgbClr val="D0101A"/>
                </a:solidFill>
                <a:latin typeface="Arial"/>
              </a:rPr>
              <a:t>Dev vs demo:</a:t>
            </a:r>
            <a:r>
              <a:rPr sz="1300" b="0">
                <a:solidFill>
                  <a:srgbClr val="000000"/>
                </a:solidFill>
                <a:latin typeface="Arial"/>
              </a:rPr>
              <a:t> in development every service is reachable; in the demo only Caddy is, so there is one secure way in.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tion label"/>
          <p:cNvSpPr txBox="1"/>
          <p:nvPr/>
        </p:nvSpPr>
        <p:spPr>
          <a:xfrm>
            <a:off x="457200" y="201168"/>
            <a:ext cx="8229600" cy="365760"/>
          </a:xfrm>
          <a:prstGeom prst="rect">
            <a:avLst/>
          </a:prstGeom>
          <a:noFill/>
        </p:spPr>
        <p:txBody>
          <a:bodyPr wrap="square" lIns="45720" rIns="45720" tIns="18288" bIns="18288" anchor="ctr">
            <a:spAutoFit/>
          </a:bodyPr>
          <a:lstStyle/>
          <a:p>
            <a:pPr algn="l"/>
            <a:r>
              <a:rPr sz="1400" b="1" spc="200">
                <a:solidFill>
                  <a:srgbClr val="D0101A"/>
                </a:solidFill>
                <a:latin typeface="Arial"/>
              </a:rPr>
              <a:t>04. Design: Logical Architecture</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itle"/>
          <p:cNvSpPr txBox="1"/>
          <p:nvPr/>
        </p:nvSpPr>
        <p:spPr>
          <a:xfrm>
            <a:off x="457200" y="749808"/>
            <a:ext cx="11274552" cy="685800"/>
          </a:xfrm>
          <a:prstGeom prst="rect">
            <a:avLst/>
          </a:prstGeom>
          <a:noFill/>
        </p:spPr>
        <p:txBody>
          <a:bodyPr wrap="square" lIns="45720" rIns="45720" tIns="18288" bIns="18288" anchor="ctr">
            <a:spAutoFit/>
          </a:bodyPr>
          <a:lstStyle/>
          <a:p>
            <a:pPr algn="ctr"/>
            <a:r>
              <a:rPr sz="2600" b="0">
                <a:solidFill>
                  <a:srgbClr val="0A1045"/>
                </a:solidFill>
                <a:latin typeface="Arial Black"/>
              </a:rPr>
              <a:t>Request Flow: Step by Step</a:t>
            </a:r>
          </a:p>
        </p:txBody>
      </p:sp>
      <p:sp>
        <p:nvSpPr>
          <p:cNvPr id="5" name="Page number"/>
          <p:cNvSpPr txBox="1"/>
          <p:nvPr/>
        </p:nvSpPr>
        <p:spPr>
          <a:xfrm>
            <a:off x="11247120" y="6446520"/>
            <a:ext cx="640080" cy="274320"/>
          </a:xfrm>
          <a:prstGeom prst="rect">
            <a:avLst/>
          </a:prstGeom>
          <a:noFill/>
        </p:spPr>
        <p:txBody>
          <a:bodyPr wrap="square" lIns="45720" rIns="45720" tIns="18288" bIns="18288" anchor="ctr">
            <a:spAutoFit/>
          </a:bodyPr>
          <a:lstStyle/>
          <a:p>
            <a:pPr algn="r"/>
            <a:r>
              <a:rPr sz="1200" b="0">
                <a:solidFill>
                  <a:srgbClr val="000000"/>
                </a:solidFill>
                <a:latin typeface="Arial"/>
              </a:rPr>
              <a:t>21</a:t>
            </a:r>
          </a:p>
        </p:txBody>
      </p:sp>
      <p:sp>
        <p:nvSpPr>
          <p:cNvPr id="6" name="Card 1"/>
          <p:cNvSpPr/>
          <p:nvPr/>
        </p:nvSpPr>
        <p:spPr>
          <a:xfrm>
            <a:off x="457200" y="17602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hip 1"/>
          <p:cNvSpPr/>
          <p:nvPr/>
        </p:nvSpPr>
        <p:spPr>
          <a:xfrm>
            <a:off x="918972" y="15544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1 · Frontend asks</a:t>
            </a:r>
          </a:p>
        </p:txBody>
      </p:sp>
      <p:sp>
        <p:nvSpPr>
          <p:cNvPr id="8" name="Card text 1"/>
          <p:cNvSpPr txBox="1"/>
          <p:nvPr/>
        </p:nvSpPr>
        <p:spPr>
          <a:xfrm>
            <a:off x="548640" y="20116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When someone opens a machine's health panel, the browser </a:t>
            </a:r>
            <a:r>
              <a:rPr sz="1400" b="1">
                <a:solidFill>
                  <a:srgbClr val="000000"/>
                </a:solidFill>
                <a:latin typeface="Arial"/>
              </a:rPr>
              <a:t>asks the backend</a:t>
            </a:r>
            <a:r>
              <a:rPr sz="1400" b="0">
                <a:solidFill>
                  <a:srgbClr val="333333"/>
                </a:solidFill>
                <a:latin typeface="Arial"/>
              </a:rPr>
              <a:t> for that machine's health, sending the user's </a:t>
            </a:r>
            <a:r>
              <a:rPr sz="1400" b="1">
                <a:solidFill>
                  <a:srgbClr val="000000"/>
                </a:solidFill>
                <a:latin typeface="Arial"/>
              </a:rPr>
              <a:t>login token</a:t>
            </a:r>
            <a:r>
              <a:rPr sz="1400" b="0">
                <a:solidFill>
                  <a:srgbClr val="333333"/>
                </a:solidFill>
                <a:latin typeface="Arial"/>
              </a:rPr>
              <a:t> with the request.</a:t>
            </a:r>
          </a:p>
        </p:txBody>
      </p:sp>
      <p:sp>
        <p:nvSpPr>
          <p:cNvPr id="9" name="Card 2"/>
          <p:cNvSpPr/>
          <p:nvPr/>
        </p:nvSpPr>
        <p:spPr>
          <a:xfrm>
            <a:off x="4261104" y="17602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ip 2"/>
          <p:cNvSpPr/>
          <p:nvPr/>
        </p:nvSpPr>
        <p:spPr>
          <a:xfrm>
            <a:off x="4722876" y="15544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2 · Backend reads telemetry</a:t>
            </a:r>
          </a:p>
        </p:txBody>
      </p:sp>
      <p:sp>
        <p:nvSpPr>
          <p:cNvPr id="11" name="Card text 2"/>
          <p:cNvSpPr txBox="1"/>
          <p:nvPr/>
        </p:nvSpPr>
        <p:spPr>
          <a:xfrm>
            <a:off x="4352544" y="20116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The backend fetches the machine's </a:t>
            </a:r>
            <a:r>
              <a:rPr sz="1400" b="1">
                <a:solidFill>
                  <a:srgbClr val="000000"/>
                </a:solidFill>
                <a:latin typeface="Arial"/>
              </a:rPr>
              <a:t>latest sensor readings</a:t>
            </a:r>
            <a:r>
              <a:rPr sz="1400" b="0">
                <a:solidFill>
                  <a:srgbClr val="333333"/>
                </a:solidFill>
                <a:latin typeface="Arial"/>
              </a:rPr>
              <a:t> (temperatures, speed, torque, tool wear). If there are none, it </a:t>
            </a:r>
            <a:r>
              <a:rPr sz="1400" b="1">
                <a:solidFill>
                  <a:srgbClr val="000000"/>
                </a:solidFill>
                <a:latin typeface="Arial"/>
              </a:rPr>
              <a:t>stops here</a:t>
            </a:r>
            <a:r>
              <a:rPr sz="1400" b="0">
                <a:solidFill>
                  <a:srgbClr val="333333"/>
                </a:solidFill>
                <a:latin typeface="Arial"/>
              </a:rPr>
              <a:t> and calls no model.</a:t>
            </a:r>
          </a:p>
        </p:txBody>
      </p:sp>
      <p:sp>
        <p:nvSpPr>
          <p:cNvPr id="12" name="Card 3"/>
          <p:cNvSpPr/>
          <p:nvPr/>
        </p:nvSpPr>
        <p:spPr>
          <a:xfrm>
            <a:off x="8065008" y="17602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Chip 3"/>
          <p:cNvSpPr/>
          <p:nvPr/>
        </p:nvSpPr>
        <p:spPr>
          <a:xfrm>
            <a:off x="8526780" y="15544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3 · ML microservice</a:t>
            </a:r>
          </a:p>
        </p:txBody>
      </p:sp>
      <p:sp>
        <p:nvSpPr>
          <p:cNvPr id="14" name="Card text 3"/>
          <p:cNvSpPr txBox="1"/>
          <p:nvPr/>
        </p:nvSpPr>
        <p:spPr>
          <a:xfrm>
            <a:off x="8156448" y="20116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The ML service runs </a:t>
            </a:r>
            <a:r>
              <a:rPr sz="1400" b="1">
                <a:solidFill>
                  <a:srgbClr val="000000"/>
                </a:solidFill>
                <a:latin typeface="Arial"/>
              </a:rPr>
              <a:t>seven models at once</a:t>
            </a:r>
            <a:r>
              <a:rPr sz="1400" b="0">
                <a:solidFill>
                  <a:srgbClr val="333333"/>
                </a:solidFill>
                <a:latin typeface="Arial"/>
              </a:rPr>
              <a:t> on those readings: failure chance, failure type, remaining life, odd behavior, urgency, best timing, parts needed.</a:t>
            </a:r>
          </a:p>
        </p:txBody>
      </p:sp>
      <p:sp>
        <p:nvSpPr>
          <p:cNvPr id="15" name="Card 4"/>
          <p:cNvSpPr/>
          <p:nvPr/>
        </p:nvSpPr>
        <p:spPr>
          <a:xfrm>
            <a:off x="457200" y="39319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hip 4"/>
          <p:cNvSpPr/>
          <p:nvPr/>
        </p:nvSpPr>
        <p:spPr>
          <a:xfrm>
            <a:off x="918972" y="37261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4 · Wave 2 signals</a:t>
            </a:r>
          </a:p>
        </p:txBody>
      </p:sp>
      <p:sp>
        <p:nvSpPr>
          <p:cNvPr id="17" name="Card text 4"/>
          <p:cNvSpPr txBox="1"/>
          <p:nvPr/>
        </p:nvSpPr>
        <p:spPr>
          <a:xfrm>
            <a:off x="548640" y="41833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A second group of models studies the machine's </a:t>
            </a:r>
            <a:r>
              <a:rPr sz="1400" b="1">
                <a:solidFill>
                  <a:srgbClr val="000000"/>
                </a:solidFill>
                <a:latin typeface="Arial"/>
              </a:rPr>
              <a:t>past readings</a:t>
            </a:r>
            <a:r>
              <a:rPr sz="1400" b="0">
                <a:solidFill>
                  <a:srgbClr val="333333"/>
                </a:solidFill>
                <a:latin typeface="Arial"/>
              </a:rPr>
              <a:t>. They catch a </a:t>
            </a:r>
            <a:r>
              <a:rPr sz="1400" b="1">
                <a:solidFill>
                  <a:srgbClr val="000000"/>
                </a:solidFill>
                <a:latin typeface="Arial"/>
              </a:rPr>
              <a:t>slow decline over time</a:t>
            </a:r>
            <a:r>
              <a:rPr sz="1400" b="0">
                <a:solidFill>
                  <a:srgbClr val="333333"/>
                </a:solidFill>
                <a:latin typeface="Arial"/>
              </a:rPr>
              <a:t>, estimate how long it can </a:t>
            </a:r>
            <a:r>
              <a:rPr sz="1400" b="1">
                <a:solidFill>
                  <a:srgbClr val="000000"/>
                </a:solidFill>
                <a:latin typeface="Arial"/>
              </a:rPr>
              <a:t>keep running</a:t>
            </a:r>
            <a:r>
              <a:rPr sz="1400" b="0">
                <a:solidFill>
                  <a:srgbClr val="333333"/>
                </a:solidFill>
                <a:latin typeface="Arial"/>
              </a:rPr>
              <a:t>, and spot when it </a:t>
            </a:r>
            <a:r>
              <a:rPr sz="1400" b="1">
                <a:solidFill>
                  <a:srgbClr val="000000"/>
                </a:solidFill>
                <a:latin typeface="Arial"/>
              </a:rPr>
              <a:t>drifts from its usual behavior</a:t>
            </a:r>
            <a:r>
              <a:rPr sz="1400" b="0">
                <a:solidFill>
                  <a:srgbClr val="333333"/>
                </a:solidFill>
                <a:latin typeface="Arial"/>
              </a:rPr>
              <a:t>.</a:t>
            </a:r>
          </a:p>
        </p:txBody>
      </p:sp>
      <p:sp>
        <p:nvSpPr>
          <p:cNvPr id="18" name="Card 5"/>
          <p:cNvSpPr/>
          <p:nvPr/>
        </p:nvSpPr>
        <p:spPr>
          <a:xfrm>
            <a:off x="4261104" y="39319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hip 5"/>
          <p:cNvSpPr/>
          <p:nvPr/>
        </p:nvSpPr>
        <p:spPr>
          <a:xfrm>
            <a:off x="4722876" y="37261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5 · DST fusion</a:t>
            </a:r>
          </a:p>
        </p:txBody>
      </p:sp>
      <p:sp>
        <p:nvSpPr>
          <p:cNvPr id="20" name="Card text 5"/>
          <p:cNvSpPr txBox="1"/>
          <p:nvPr/>
        </p:nvSpPr>
        <p:spPr>
          <a:xfrm>
            <a:off x="4352544" y="41833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All the opinions are </a:t>
            </a:r>
            <a:r>
              <a:rPr sz="1400" b="1">
                <a:solidFill>
                  <a:srgbClr val="000000"/>
                </a:solidFill>
                <a:latin typeface="Arial"/>
              </a:rPr>
              <a:t>combined into one health score</a:t>
            </a:r>
            <a:r>
              <a:rPr sz="1400" b="0">
                <a:solidFill>
                  <a:srgbClr val="333333"/>
                </a:solidFill>
                <a:latin typeface="Arial"/>
              </a:rPr>
              <a:t> (0 to 100) and a verdict: Healthy, Degrading, Critical or </a:t>
            </a:r>
            <a:r>
              <a:rPr sz="1400" b="1">
                <a:solidFill>
                  <a:srgbClr val="000000"/>
                </a:solidFill>
                <a:latin typeface="Arial"/>
              </a:rPr>
              <a:t>Unknown</a:t>
            </a:r>
            <a:r>
              <a:rPr sz="1400" b="0">
                <a:solidFill>
                  <a:srgbClr val="333333"/>
                </a:solidFill>
                <a:latin typeface="Arial"/>
              </a:rPr>
              <a:t>. If the models strongly disagree, it says Unknown instead of guessing.</a:t>
            </a:r>
          </a:p>
        </p:txBody>
      </p:sp>
      <p:sp>
        <p:nvSpPr>
          <p:cNvPr id="21" name="Card 6"/>
          <p:cNvSpPr/>
          <p:nvPr/>
        </p:nvSpPr>
        <p:spPr>
          <a:xfrm>
            <a:off x="8065008" y="39319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hip 6"/>
          <p:cNvSpPr/>
          <p:nvPr/>
        </p:nvSpPr>
        <p:spPr>
          <a:xfrm>
            <a:off x="8526780" y="37261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6 · Log &amp; render</a:t>
            </a:r>
          </a:p>
        </p:txBody>
      </p:sp>
      <p:sp>
        <p:nvSpPr>
          <p:cNvPr id="23" name="Card text 6"/>
          <p:cNvSpPr txBox="1"/>
          <p:nvPr/>
        </p:nvSpPr>
        <p:spPr>
          <a:xfrm>
            <a:off x="8156448" y="41833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The result is </a:t>
            </a:r>
            <a:r>
              <a:rPr sz="1400" b="1">
                <a:solidFill>
                  <a:srgbClr val="000000"/>
                </a:solidFill>
                <a:latin typeface="Arial"/>
              </a:rPr>
              <a:t>saved</a:t>
            </a:r>
            <a:r>
              <a:rPr sz="1400" b="0">
                <a:solidFill>
                  <a:srgbClr val="333333"/>
                </a:solidFill>
                <a:latin typeface="Arial"/>
              </a:rPr>
              <a:t>, so every prediction can be checked later against what really happened. Then the </a:t>
            </a:r>
            <a:r>
              <a:rPr sz="1400" b="1">
                <a:solidFill>
                  <a:srgbClr val="000000"/>
                </a:solidFill>
                <a:latin typeface="Arial"/>
              </a:rPr>
              <a:t>panel updates</a:t>
            </a:r>
            <a:r>
              <a:rPr sz="1400" b="0">
                <a:solidFill>
                  <a:srgbClr val="333333"/>
                </a:solidFill>
                <a:latin typeface="Arial"/>
              </a:rPr>
              <a:t> on screen.</a:t>
            </a:r>
          </a:p>
        </p:txBody>
      </p:sp>
      <p:sp>
        <p:nvSpPr>
          <p:cNvPr id="24" name="Key takeaway"/>
          <p:cNvSpPr txBox="1"/>
          <p:nvPr/>
        </p:nvSpPr>
        <p:spPr>
          <a:xfrm>
            <a:off x="457200" y="5760720"/>
            <a:ext cx="11274552" cy="411480"/>
          </a:xfrm>
          <a:prstGeom prst="rect">
            <a:avLst/>
          </a:prstGeom>
          <a:noFill/>
        </p:spPr>
        <p:txBody>
          <a:bodyPr wrap="square" lIns="45720" rIns="45720" tIns="18288" bIns="18288" anchor="ctr">
            <a:spAutoFit/>
          </a:bodyPr>
          <a:lstStyle/>
          <a:p>
            <a:pPr algn="ctr"/>
            <a:r>
              <a:rPr sz="1300" b="1">
                <a:solidFill>
                  <a:srgbClr val="D0101A"/>
                </a:solidFill>
                <a:latin typeface="Arial"/>
              </a:rPr>
              <a:t>No data, no guessing:</a:t>
            </a:r>
            <a:r>
              <a:rPr sz="1300" b="0">
                <a:solidFill>
                  <a:srgbClr val="000000"/>
                </a:solidFill>
                <a:latin typeface="Arial"/>
              </a:rPr>
              <a:t> without sensor readings, the score comes from maintenance history only, never from invented values.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tion label"/>
          <p:cNvSpPr txBox="1"/>
          <p:nvPr/>
        </p:nvSpPr>
        <p:spPr>
          <a:xfrm>
            <a:off x="457200" y="201168"/>
            <a:ext cx="8229600" cy="365760"/>
          </a:xfrm>
          <a:prstGeom prst="rect">
            <a:avLst/>
          </a:prstGeom>
          <a:noFill/>
        </p:spPr>
        <p:txBody>
          <a:bodyPr wrap="square" lIns="45720" rIns="45720" tIns="18288" bIns="18288" anchor="ctr">
            <a:spAutoFit/>
          </a:bodyPr>
          <a:lstStyle/>
          <a:p>
            <a:pPr algn="l"/>
            <a:r>
              <a:rPr sz="1400" b="1" spc="200">
                <a:solidFill>
                  <a:srgbClr val="D0101A"/>
                </a:solidFill>
                <a:latin typeface="Arial"/>
              </a:rPr>
              <a:t>04. Design: Logical Architecture</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itle"/>
          <p:cNvSpPr txBox="1"/>
          <p:nvPr/>
        </p:nvSpPr>
        <p:spPr>
          <a:xfrm>
            <a:off x="457200" y="749808"/>
            <a:ext cx="11274552" cy="685800"/>
          </a:xfrm>
          <a:prstGeom prst="rect">
            <a:avLst/>
          </a:prstGeom>
          <a:noFill/>
        </p:spPr>
        <p:txBody>
          <a:bodyPr wrap="square" lIns="45720" rIns="45720" tIns="18288" bIns="18288" anchor="ctr">
            <a:spAutoFit/>
          </a:bodyPr>
          <a:lstStyle/>
          <a:p>
            <a:pPr algn="ctr"/>
            <a:r>
              <a:rPr sz="2600" b="0">
                <a:solidFill>
                  <a:srgbClr val="0A1045"/>
                </a:solidFill>
                <a:latin typeface="Arial Black"/>
              </a:rPr>
              <a:t>Logical Architecture: Layer by Layer</a:t>
            </a:r>
          </a:p>
        </p:txBody>
      </p:sp>
      <p:sp>
        <p:nvSpPr>
          <p:cNvPr id="5" name="Page number"/>
          <p:cNvSpPr txBox="1"/>
          <p:nvPr/>
        </p:nvSpPr>
        <p:spPr>
          <a:xfrm>
            <a:off x="11247120" y="6446520"/>
            <a:ext cx="640080" cy="274320"/>
          </a:xfrm>
          <a:prstGeom prst="rect">
            <a:avLst/>
          </a:prstGeom>
          <a:noFill/>
        </p:spPr>
        <p:txBody>
          <a:bodyPr wrap="square" lIns="45720" rIns="45720" tIns="18288" bIns="18288" anchor="ctr">
            <a:spAutoFit/>
          </a:bodyPr>
          <a:lstStyle/>
          <a:p>
            <a:pPr algn="r"/>
            <a:r>
              <a:rPr sz="1200" b="0">
                <a:solidFill>
                  <a:srgbClr val="000000"/>
                </a:solidFill>
                <a:latin typeface="Arial"/>
              </a:rPr>
              <a:t>19</a:t>
            </a:r>
          </a:p>
        </p:txBody>
      </p:sp>
      <p:sp>
        <p:nvSpPr>
          <p:cNvPr id="6" name="Layer 1"/>
          <p:cNvSpPr/>
          <p:nvPr/>
        </p:nvSpPr>
        <p:spPr>
          <a:xfrm>
            <a:off x="457200" y="1554480"/>
            <a:ext cx="11274552" cy="777240"/>
          </a:xfrm>
          <a:prstGeom prst="roundRect">
            <a:avLst>
              <a:gd name="adj" fmla="val 14000"/>
            </a:avLst>
          </a:prstGeom>
          <a:noFill/>
          <a:ln w="19050">
            <a:solidFill>
              <a:srgbClr val="2FA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ayer label 1"/>
          <p:cNvSpPr txBox="1"/>
          <p:nvPr/>
        </p:nvSpPr>
        <p:spPr>
          <a:xfrm>
            <a:off x="548640" y="1554480"/>
            <a:ext cx="2651760" cy="777240"/>
          </a:xfrm>
          <a:prstGeom prst="rect">
            <a:avLst/>
          </a:prstGeom>
          <a:noFill/>
        </p:spPr>
        <p:txBody>
          <a:bodyPr wrap="square" lIns="45720" rIns="45720" tIns="18288" bIns="18288" anchor="ctr">
            <a:spAutoFit/>
          </a:bodyPr>
          <a:lstStyle/>
          <a:p>
            <a:pPr algn="l"/>
            <a:r>
              <a:rPr sz="1200" b="1" spc="100">
                <a:solidFill>
                  <a:srgbClr val="2FA4E7"/>
                </a:solidFill>
                <a:latin typeface="Arial"/>
              </a:rPr>
              <a:t>USERS &amp; PRESENTATION</a:t>
            </a:r>
          </a:p>
        </p:txBody>
      </p:sp>
      <p:sp>
        <p:nvSpPr>
          <p:cNvPr id="8" name="Layer text 1"/>
          <p:cNvSpPr txBox="1"/>
          <p:nvPr/>
        </p:nvSpPr>
        <p:spPr>
          <a:xfrm>
            <a:off x="3291840" y="1554480"/>
            <a:ext cx="8348472" cy="777240"/>
          </a:xfrm>
          <a:prstGeom prst="rect">
            <a:avLst/>
          </a:prstGeom>
          <a:noFill/>
        </p:spPr>
        <p:txBody>
          <a:bodyPr wrap="square" lIns="45720" rIns="45720" tIns="18288" bIns="18288" anchor="ctr">
            <a:spAutoFit/>
          </a:bodyPr>
          <a:lstStyle/>
          <a:p>
            <a:pPr algn="l"/>
            <a:r>
              <a:rPr sz="1300" b="0">
                <a:solidFill>
                  <a:srgbClr val="333333"/>
                </a:solidFill>
                <a:latin typeface="Arial"/>
              </a:rPr>
              <a:t>Four kinds of users open the app in their </a:t>
            </a:r>
            <a:r>
              <a:rPr sz="1300" b="1">
                <a:solidFill>
                  <a:srgbClr val="000000"/>
                </a:solidFill>
                <a:latin typeface="Arial"/>
              </a:rPr>
              <a:t>web browser</a:t>
            </a:r>
            <a:r>
              <a:rPr sz="1300" b="0">
                <a:solidFill>
                  <a:srgbClr val="333333"/>
                </a:solidFill>
                <a:latin typeface="Arial"/>
              </a:rPr>
              <a:t>. The app loads </a:t>
            </a:r>
            <a:r>
              <a:rPr sz="1300" b="1">
                <a:solidFill>
                  <a:srgbClr val="000000"/>
                </a:solidFill>
                <a:latin typeface="Arial"/>
              </a:rPr>
              <a:t>once</a:t>
            </a:r>
            <a:r>
              <a:rPr sz="1300" b="0">
                <a:solidFill>
                  <a:srgbClr val="333333"/>
                </a:solidFill>
                <a:latin typeface="Arial"/>
              </a:rPr>
              <a:t>, then only fetches data, so screens switch instantly. Each role sees </a:t>
            </a:r>
            <a:r>
              <a:rPr sz="1300" b="1">
                <a:solidFill>
                  <a:srgbClr val="000000"/>
                </a:solidFill>
                <a:latin typeface="Arial"/>
              </a:rPr>
              <a:t>its own space</a:t>
            </a:r>
            <a:r>
              <a:rPr sz="1300" b="0">
                <a:solidFill>
                  <a:srgbClr val="333333"/>
                </a:solidFill>
                <a:latin typeface="Arial"/>
              </a:rPr>
              <a:t>, plus the machine-health panel and the AI assistant.</a:t>
            </a:r>
          </a:p>
        </p:txBody>
      </p:sp>
      <p:sp>
        <p:nvSpPr>
          <p:cNvPr id="9" name="Layer 2"/>
          <p:cNvSpPr/>
          <p:nvPr/>
        </p:nvSpPr>
        <p:spPr>
          <a:xfrm>
            <a:off x="457200" y="2432304"/>
            <a:ext cx="11274552" cy="777240"/>
          </a:xfrm>
          <a:prstGeom prst="roundRect">
            <a:avLst>
              <a:gd name="adj" fmla="val 14000"/>
            </a:avLst>
          </a:prstGeom>
          <a:noFill/>
          <a:ln w="19050">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yer label 2"/>
          <p:cNvSpPr txBox="1"/>
          <p:nvPr/>
        </p:nvSpPr>
        <p:spPr>
          <a:xfrm>
            <a:off x="548640" y="2432304"/>
            <a:ext cx="2651760" cy="777240"/>
          </a:xfrm>
          <a:prstGeom prst="rect">
            <a:avLst/>
          </a:prstGeom>
          <a:noFill/>
        </p:spPr>
        <p:txBody>
          <a:bodyPr wrap="square" lIns="45720" rIns="45720" tIns="18288" bIns="18288" anchor="ctr">
            <a:spAutoFit/>
          </a:bodyPr>
          <a:lstStyle/>
          <a:p>
            <a:pPr algn="l"/>
            <a:r>
              <a:rPr sz="1200" b="1" spc="100">
                <a:solidFill>
                  <a:srgbClr val="4FBF5F"/>
                </a:solidFill>
                <a:latin typeface="Arial"/>
              </a:rPr>
              <a:t>APPLICATION: BACKEND API</a:t>
            </a:r>
          </a:p>
        </p:txBody>
      </p:sp>
      <p:sp>
        <p:nvSpPr>
          <p:cNvPr id="11" name="Layer text 2"/>
          <p:cNvSpPr txBox="1"/>
          <p:nvPr/>
        </p:nvSpPr>
        <p:spPr>
          <a:xfrm>
            <a:off x="3291840" y="2432304"/>
            <a:ext cx="8348472" cy="777240"/>
          </a:xfrm>
          <a:prstGeom prst="rect">
            <a:avLst/>
          </a:prstGeom>
          <a:noFill/>
        </p:spPr>
        <p:txBody>
          <a:bodyPr wrap="square" lIns="45720" rIns="45720" tIns="18288" bIns="18288" anchor="ctr">
            <a:spAutoFit/>
          </a:bodyPr>
          <a:lstStyle/>
          <a:p>
            <a:pPr algn="l"/>
            <a:r>
              <a:rPr sz="1300" b="0">
                <a:solidFill>
                  <a:srgbClr val="333333"/>
                </a:solidFill>
                <a:latin typeface="Arial"/>
              </a:rPr>
              <a:t>The </a:t>
            </a:r>
            <a:r>
              <a:rPr sz="1300" b="1">
                <a:solidFill>
                  <a:srgbClr val="000000"/>
                </a:solidFill>
                <a:latin typeface="Arial"/>
              </a:rPr>
              <a:t>backend</a:t>
            </a:r>
            <a:r>
              <a:rPr sz="1300" b="0">
                <a:solidFill>
                  <a:srgbClr val="333333"/>
                </a:solidFill>
                <a:latin typeface="Arial"/>
              </a:rPr>
              <a:t> is the brain of the app: it holds all the business rules. Every request carries a </a:t>
            </a:r>
            <a:r>
              <a:rPr sz="1300" b="1">
                <a:solidFill>
                  <a:srgbClr val="000000"/>
                </a:solidFill>
                <a:latin typeface="Arial"/>
              </a:rPr>
              <a:t>login token</a:t>
            </a:r>
            <a:r>
              <a:rPr sz="1300" b="0">
                <a:solidFill>
                  <a:srgbClr val="333333"/>
                </a:solidFill>
                <a:latin typeface="Arial"/>
              </a:rPr>
              <a:t> that proves who you are, and the backend checks </a:t>
            </a:r>
            <a:r>
              <a:rPr sz="1300" b="1">
                <a:solidFill>
                  <a:srgbClr val="000000"/>
                </a:solidFill>
                <a:latin typeface="Arial"/>
              </a:rPr>
              <a:t>what your role is allowed to do</a:t>
            </a:r>
            <a:r>
              <a:rPr sz="1300" b="0">
                <a:solidFill>
                  <a:srgbClr val="333333"/>
                </a:solidFill>
                <a:latin typeface="Arial"/>
              </a:rPr>
              <a:t>.</a:t>
            </a:r>
          </a:p>
        </p:txBody>
      </p:sp>
      <p:sp>
        <p:nvSpPr>
          <p:cNvPr id="12" name="Layer 3"/>
          <p:cNvSpPr/>
          <p:nvPr/>
        </p:nvSpPr>
        <p:spPr>
          <a:xfrm>
            <a:off x="457200" y="3310128"/>
            <a:ext cx="11274552" cy="777240"/>
          </a:xfrm>
          <a:prstGeom prst="roundRect">
            <a:avLst>
              <a:gd name="adj" fmla="val 14000"/>
            </a:avLst>
          </a:prstGeom>
          <a:noFill/>
          <a:ln w="19050">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yer label 3"/>
          <p:cNvSpPr txBox="1"/>
          <p:nvPr/>
        </p:nvSpPr>
        <p:spPr>
          <a:xfrm>
            <a:off x="548640" y="3310128"/>
            <a:ext cx="2651760" cy="777240"/>
          </a:xfrm>
          <a:prstGeom prst="rect">
            <a:avLst/>
          </a:prstGeom>
          <a:noFill/>
        </p:spPr>
        <p:txBody>
          <a:bodyPr wrap="square" lIns="45720" rIns="45720" tIns="18288" bIns="18288" anchor="ctr">
            <a:spAutoFit/>
          </a:bodyPr>
          <a:lstStyle/>
          <a:p>
            <a:pPr algn="l"/>
            <a:r>
              <a:rPr sz="1200" b="1" spc="100">
                <a:solidFill>
                  <a:srgbClr val="F39C2C"/>
                </a:solidFill>
                <a:latin typeface="Arial"/>
              </a:rPr>
              <a:t>SPECIALIST SERVICES</a:t>
            </a:r>
          </a:p>
        </p:txBody>
      </p:sp>
      <p:sp>
        <p:nvSpPr>
          <p:cNvPr id="14" name="Layer text 3"/>
          <p:cNvSpPr txBox="1"/>
          <p:nvPr/>
        </p:nvSpPr>
        <p:spPr>
          <a:xfrm>
            <a:off x="3291840" y="3310128"/>
            <a:ext cx="8348472" cy="777240"/>
          </a:xfrm>
          <a:prstGeom prst="rect">
            <a:avLst/>
          </a:prstGeom>
          <a:noFill/>
        </p:spPr>
        <p:txBody>
          <a:bodyPr wrap="square" lIns="45720" rIns="45720" tIns="18288" bIns="18288" anchor="ctr">
            <a:spAutoFit/>
          </a:bodyPr>
          <a:lstStyle/>
          <a:p>
            <a:pPr algn="l"/>
            <a:r>
              <a:rPr sz="1300" b="0">
                <a:solidFill>
                  <a:srgbClr val="333333"/>
                </a:solidFill>
                <a:latin typeface="Arial"/>
              </a:rPr>
              <a:t>Three helpers, called only by the backend: the </a:t>
            </a:r>
            <a:r>
              <a:rPr sz="1300" b="1">
                <a:solidFill>
                  <a:srgbClr val="000000"/>
                </a:solidFill>
                <a:latin typeface="Arial"/>
              </a:rPr>
              <a:t>ML service</a:t>
            </a:r>
            <a:r>
              <a:rPr sz="1300" b="0">
                <a:solidFill>
                  <a:srgbClr val="333333"/>
                </a:solidFill>
                <a:latin typeface="Arial"/>
              </a:rPr>
              <a:t> predicts machine health, the </a:t>
            </a:r>
            <a:r>
              <a:rPr sz="1300" b="1">
                <a:solidFill>
                  <a:srgbClr val="000000"/>
                </a:solidFill>
                <a:latin typeface="Arial"/>
              </a:rPr>
              <a:t>document search service</a:t>
            </a:r>
            <a:r>
              <a:rPr sz="1300" b="0">
                <a:solidFill>
                  <a:srgbClr val="333333"/>
                </a:solidFill>
                <a:latin typeface="Arial"/>
              </a:rPr>
              <a:t> finds the right passages in technical manuals for the AI assistant, and </a:t>
            </a:r>
            <a:r>
              <a:rPr sz="1300" b="1">
                <a:solidFill>
                  <a:srgbClr val="000000"/>
                </a:solidFill>
                <a:latin typeface="Arial"/>
              </a:rPr>
              <a:t>background workers</a:t>
            </a:r>
            <a:r>
              <a:rPr sz="1300" b="0">
                <a:solidFill>
                  <a:srgbClr val="333333"/>
                </a:solidFill>
                <a:latin typeface="Arial"/>
              </a:rPr>
              <a:t> handle slow or scheduled jobs like e-mails.</a:t>
            </a:r>
          </a:p>
        </p:txBody>
      </p:sp>
      <p:sp>
        <p:nvSpPr>
          <p:cNvPr id="15" name="Layer 4"/>
          <p:cNvSpPr/>
          <p:nvPr/>
        </p:nvSpPr>
        <p:spPr>
          <a:xfrm>
            <a:off x="457200" y="4187952"/>
            <a:ext cx="11274552" cy="777240"/>
          </a:xfrm>
          <a:prstGeom prst="roundRect">
            <a:avLst>
              <a:gd name="adj" fmla="val 14000"/>
            </a:avLst>
          </a:prstGeom>
          <a:noFill/>
          <a:ln w="19050">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yer label 4"/>
          <p:cNvSpPr txBox="1"/>
          <p:nvPr/>
        </p:nvSpPr>
        <p:spPr>
          <a:xfrm>
            <a:off x="548640" y="4187952"/>
            <a:ext cx="2651760" cy="777240"/>
          </a:xfrm>
          <a:prstGeom prst="rect">
            <a:avLst/>
          </a:prstGeom>
          <a:noFill/>
        </p:spPr>
        <p:txBody>
          <a:bodyPr wrap="square" lIns="45720" rIns="45720" tIns="18288" bIns="18288" anchor="ctr">
            <a:spAutoFit/>
          </a:bodyPr>
          <a:lstStyle/>
          <a:p>
            <a:pPr algn="l"/>
            <a:r>
              <a:rPr sz="1200" b="1" spc="100">
                <a:solidFill>
                  <a:srgbClr val="7C4DDB"/>
                </a:solidFill>
                <a:latin typeface="Arial"/>
              </a:rPr>
              <a:t>DATA</a:t>
            </a:r>
          </a:p>
        </p:txBody>
      </p:sp>
      <p:sp>
        <p:nvSpPr>
          <p:cNvPr id="17" name="Layer text 4"/>
          <p:cNvSpPr txBox="1"/>
          <p:nvPr/>
        </p:nvSpPr>
        <p:spPr>
          <a:xfrm>
            <a:off x="3291840" y="4187952"/>
            <a:ext cx="8348472" cy="777240"/>
          </a:xfrm>
          <a:prstGeom prst="rect">
            <a:avLst/>
          </a:prstGeom>
          <a:noFill/>
        </p:spPr>
        <p:txBody>
          <a:bodyPr wrap="square" lIns="45720" rIns="45720" tIns="18288" bIns="18288" anchor="ctr">
            <a:spAutoFit/>
          </a:bodyPr>
          <a:lstStyle/>
          <a:p>
            <a:pPr algn="l"/>
            <a:r>
              <a:rPr sz="1300" b="0">
                <a:solidFill>
                  <a:srgbClr val="333333"/>
                </a:solidFill>
                <a:latin typeface="Arial"/>
              </a:rPr>
              <a:t>One </a:t>
            </a:r>
            <a:r>
              <a:rPr sz="1300" b="1">
                <a:solidFill>
                  <a:srgbClr val="000000"/>
                </a:solidFill>
                <a:latin typeface="Arial"/>
              </a:rPr>
              <a:t>database</a:t>
            </a:r>
            <a:r>
              <a:rPr sz="1300" b="0">
                <a:solidFill>
                  <a:srgbClr val="333333"/>
                </a:solidFill>
                <a:latin typeface="Arial"/>
              </a:rPr>
              <a:t> holds the business data, the prediction history and the searchable manuals. Files go to a separate </a:t>
            </a:r>
            <a:r>
              <a:rPr sz="1300" b="1">
                <a:solidFill>
                  <a:srgbClr val="000000"/>
                </a:solidFill>
                <a:latin typeface="Arial"/>
              </a:rPr>
              <a:t>file store</a:t>
            </a:r>
            <a:r>
              <a:rPr sz="1300" b="0">
                <a:solidFill>
                  <a:srgbClr val="333333"/>
                </a:solidFill>
                <a:latin typeface="Arial"/>
              </a:rPr>
              <a:t>. A </a:t>
            </a:r>
            <a:r>
              <a:rPr sz="1300" b="1">
                <a:solidFill>
                  <a:srgbClr val="000000"/>
                </a:solidFill>
                <a:latin typeface="Arial"/>
              </a:rPr>
              <a:t>task queue</a:t>
            </a:r>
            <a:r>
              <a:rPr sz="1300" b="0">
                <a:solidFill>
                  <a:srgbClr val="333333"/>
                </a:solidFill>
                <a:latin typeface="Arial"/>
              </a:rPr>
              <a:t> hands jobs to the background workers, and the trained </a:t>
            </a:r>
            <a:r>
              <a:rPr sz="1300" b="1">
                <a:solidFill>
                  <a:srgbClr val="000000"/>
                </a:solidFill>
                <a:latin typeface="Arial"/>
              </a:rPr>
              <a:t>AI models</a:t>
            </a:r>
            <a:r>
              <a:rPr sz="1300" b="0">
                <a:solidFill>
                  <a:srgbClr val="333333"/>
                </a:solidFill>
                <a:latin typeface="Arial"/>
              </a:rPr>
              <a:t> are files the app can read but never change.</a:t>
            </a:r>
          </a:p>
        </p:txBody>
      </p:sp>
      <p:sp>
        <p:nvSpPr>
          <p:cNvPr id="18" name="Layer 5"/>
          <p:cNvSpPr/>
          <p:nvPr/>
        </p:nvSpPr>
        <p:spPr>
          <a:xfrm>
            <a:off x="457200" y="5065776"/>
            <a:ext cx="11274552" cy="777240"/>
          </a:xfrm>
          <a:prstGeom prst="roundRect">
            <a:avLst>
              <a:gd name="adj" fmla="val 14000"/>
            </a:avLst>
          </a:prstGeom>
          <a:noFill/>
          <a:ln w="19050">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yer label 5"/>
          <p:cNvSpPr txBox="1"/>
          <p:nvPr/>
        </p:nvSpPr>
        <p:spPr>
          <a:xfrm>
            <a:off x="548640" y="5065776"/>
            <a:ext cx="2651760" cy="777240"/>
          </a:xfrm>
          <a:prstGeom prst="rect">
            <a:avLst/>
          </a:prstGeom>
          <a:noFill/>
        </p:spPr>
        <p:txBody>
          <a:bodyPr wrap="square" lIns="45720" rIns="45720" tIns="18288" bIns="18288" anchor="ctr">
            <a:spAutoFit/>
          </a:bodyPr>
          <a:lstStyle/>
          <a:p>
            <a:pPr algn="l"/>
            <a:r>
              <a:rPr sz="1200" b="1" spc="100">
                <a:solidFill>
                  <a:srgbClr val="7C4DDB"/>
                </a:solidFill>
                <a:latin typeface="Arial"/>
              </a:rPr>
              <a:t>EXTERNAL SERVICES</a:t>
            </a:r>
          </a:p>
        </p:txBody>
      </p:sp>
      <p:sp>
        <p:nvSpPr>
          <p:cNvPr id="20" name="Layer text 5"/>
          <p:cNvSpPr txBox="1"/>
          <p:nvPr/>
        </p:nvSpPr>
        <p:spPr>
          <a:xfrm>
            <a:off x="3291840" y="5065776"/>
            <a:ext cx="8348472" cy="777240"/>
          </a:xfrm>
          <a:prstGeom prst="rect">
            <a:avLst/>
          </a:prstGeom>
          <a:noFill/>
        </p:spPr>
        <p:txBody>
          <a:bodyPr wrap="square" lIns="45720" rIns="45720" tIns="18288" bIns="18288" anchor="ctr">
            <a:spAutoFit/>
          </a:bodyPr>
          <a:lstStyle/>
          <a:p>
            <a:pPr algn="l"/>
            <a:r>
              <a:rPr sz="1300" b="0">
                <a:solidFill>
                  <a:srgbClr val="333333"/>
                </a:solidFill>
                <a:latin typeface="Arial"/>
              </a:rPr>
              <a:t>An outside </a:t>
            </a:r>
            <a:r>
              <a:rPr sz="1300" b="1">
                <a:solidFill>
                  <a:srgbClr val="000000"/>
                </a:solidFill>
                <a:latin typeface="Arial"/>
              </a:rPr>
              <a:t>AI language model</a:t>
            </a:r>
            <a:r>
              <a:rPr sz="1300" b="0">
                <a:solidFill>
                  <a:srgbClr val="333333"/>
                </a:solidFill>
                <a:latin typeface="Arial"/>
              </a:rPr>
              <a:t> (Groq) writes the assistant's answers, and an </a:t>
            </a:r>
            <a:r>
              <a:rPr sz="1300" b="1">
                <a:solidFill>
                  <a:srgbClr val="000000"/>
                </a:solidFill>
                <a:latin typeface="Arial"/>
              </a:rPr>
              <a:t>e-mail server</a:t>
            </a:r>
            <a:r>
              <a:rPr sz="1300" b="0">
                <a:solidFill>
                  <a:srgbClr val="333333"/>
                </a:solidFill>
                <a:latin typeface="Arial"/>
              </a:rPr>
              <a:t> sends the notifications.</a:t>
            </a:r>
          </a:p>
        </p:txBody>
      </p:sp>
      <p:sp>
        <p:nvSpPr>
          <p:cNvPr id="21" name="Key takeaway"/>
          <p:cNvSpPr txBox="1"/>
          <p:nvPr/>
        </p:nvSpPr>
        <p:spPr>
          <a:xfrm>
            <a:off x="457200" y="5989320"/>
            <a:ext cx="11274552" cy="411480"/>
          </a:xfrm>
          <a:prstGeom prst="rect">
            <a:avLst/>
          </a:prstGeom>
          <a:noFill/>
        </p:spPr>
        <p:txBody>
          <a:bodyPr wrap="square" lIns="45720" rIns="45720" tIns="18288" bIns="18288" anchor="ctr">
            <a:spAutoFit/>
          </a:bodyPr>
          <a:lstStyle/>
          <a:p>
            <a:pPr algn="ctr"/>
            <a:r>
              <a:rPr sz="1300" b="1">
                <a:solidFill>
                  <a:srgbClr val="D0101A"/>
                </a:solidFill>
                <a:latin typeface="Arial"/>
              </a:rPr>
              <a:t>Design rule:</a:t>
            </a:r>
            <a:r>
              <a:rPr sz="1300" b="0">
                <a:solidFill>
                  <a:srgbClr val="000000"/>
                </a:solidFill>
                <a:latin typeface="Arial"/>
              </a:rPr>
              <a:t> only the backend talks to the helpers, so there is one door to secure and each part can change on its own.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TotalTime>
  <Words>3072</Words>
  <Application>Microsoft Office PowerPoint</Application>
  <PresentationFormat>Grand écran</PresentationFormat>
  <Paragraphs>653</Paragraphs>
  <Slides>34</Slides>
  <Notes>3</Notes>
  <HiddenSlides>0</HiddenSlides>
  <MMClips>0</MMClips>
  <ScaleCrop>false</ScaleCrop>
  <HeadingPairs>
    <vt:vector size="6" baseType="variant">
      <vt:variant>
        <vt:lpstr>Polices utilisées</vt:lpstr>
      </vt:variant>
      <vt:variant>
        <vt:i4>6</vt:i4>
      </vt:variant>
      <vt:variant>
        <vt:lpstr>Thème</vt:lpstr>
      </vt:variant>
      <vt:variant>
        <vt:i4>1</vt:i4>
      </vt:variant>
      <vt:variant>
        <vt:lpstr>Titres des diapositives</vt:lpstr>
      </vt:variant>
      <vt:variant>
        <vt:i4>34</vt:i4>
      </vt:variant>
    </vt:vector>
  </HeadingPairs>
  <TitlesOfParts>
    <vt:vector size="41" baseType="lpstr">
      <vt:lpstr>Aptos</vt:lpstr>
      <vt:lpstr>Arial</vt:lpstr>
      <vt:lpstr>Arial Black</vt:lpstr>
      <vt:lpstr>Calibri</vt:lpstr>
      <vt:lpstr>DejaVu Sans</vt:lpstr>
      <vt:lpstr>Georgia</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hamza mbarki</cp:lastModifiedBy>
  <cp:revision>7</cp:revision>
  <dcterms:created xsi:type="dcterms:W3CDTF">2013-01-27T09:14:16Z</dcterms:created>
  <dcterms:modified xsi:type="dcterms:W3CDTF">2026-10-05T07:47:33Z</dcterms:modified>
  <cp:category/>
</cp:coreProperties>
</file>